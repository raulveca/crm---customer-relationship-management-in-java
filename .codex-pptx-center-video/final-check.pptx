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Bebas Neue Bold" panose="020B0604020202020204" charset="0"/>
      <p:regular r:id="rId11"/>
    </p:embeddedFont>
    <p:embeddedFont>
      <p:font typeface="Helvetica Now Display Bold"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990" y="-22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9559C-4042-48DC-A004-655DD72E33B9}"/>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7C0A3284-B567-4E8F-8126-D61A9878D00E}"/>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06FD0665-44F2-417C-BC81-5CF67C29FCC7}"/>
              </a:ext>
            </a:extLst>
          </p:cNvPr>
          <p:cNvSpPr>
            <a:spLocks noGrp="1"/>
          </p:cNvSpPr>
          <p:nvPr>
            <p:ph type="dt" idx="10"/>
          </p:nvPr>
        </p:nvSpPr>
        <p:spPr/>
        <p:txBody>
          <a:bodyPr/>
          <a:lstStyle/>
          <a:p>
            <a:fld id="{1D8BD707-D9CF-40AE-B4C6-C98DA3205C09}" type="datetimeFigureOut">
              <a:t>9/1/2026</a:t>
            </a:fld>
            <a:endParaRPr/>
          </a:p>
        </p:txBody>
      </p:sp>
      <p:sp>
        <p:nvSpPr>
          <p:cNvPr id="5" name="Footer Placeholder 4">
            <a:extLst>
              <a:ext uri="{FF2B5EF4-FFF2-40B4-BE49-F238E27FC236}">
                <a16:creationId xmlns:a16="http://schemas.microsoft.com/office/drawing/2014/main" id="{776B5248-882E-4A3E-BED8-AB3EDBC13B3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5D02650-03D7-46D4-AD3D-0BFDA9F75DA6}"/>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BB12D-3D5B-4074-B4DD-ED0A495E3FA5}"/>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886F42FE-3695-4A14-9044-26F6BB2122FF}"/>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114C14DE-8FF2-4903-9FA2-A3FAFCD3F239}"/>
              </a:ext>
            </a:extLst>
          </p:cNvPr>
          <p:cNvSpPr>
            <a:spLocks noGrp="1"/>
          </p:cNvSpPr>
          <p:nvPr>
            <p:ph type="dt" idx="10"/>
          </p:nvPr>
        </p:nvSpPr>
        <p:spPr/>
        <p:txBody>
          <a:bodyPr/>
          <a:lstStyle/>
          <a:p>
            <a:fld id="{1D8BD707-D9CF-40AE-B4C6-C98DA3205C09}" type="datetimeFigureOut">
              <a:t>9/1/2026</a:t>
            </a:fld>
            <a:endParaRPr/>
          </a:p>
        </p:txBody>
      </p:sp>
      <p:sp>
        <p:nvSpPr>
          <p:cNvPr id="5" name="Footer Placeholder 4">
            <a:extLst>
              <a:ext uri="{FF2B5EF4-FFF2-40B4-BE49-F238E27FC236}">
                <a16:creationId xmlns:a16="http://schemas.microsoft.com/office/drawing/2014/main" id="{C103F591-3684-4987-8E04-E791B383270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2180B9-3D9B-4615-AD1B-ADA2AA713A98}"/>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24F82-C98E-4A10-B96E-6530C7FC5B61}"/>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1877B4D7-6F81-4676-9B7E-1A77C9A6A3B5}"/>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E22D6B12-7EFC-4C93-8B83-88B88A86032D}"/>
              </a:ext>
            </a:extLst>
          </p:cNvPr>
          <p:cNvSpPr>
            <a:spLocks noGrp="1"/>
          </p:cNvSpPr>
          <p:nvPr>
            <p:ph type="dt" idx="10"/>
          </p:nvPr>
        </p:nvSpPr>
        <p:spPr/>
        <p:txBody>
          <a:bodyPr/>
          <a:lstStyle/>
          <a:p>
            <a:fld id="{1D8BD707-D9CF-40AE-B4C6-C98DA3205C09}" type="datetimeFigureOut">
              <a:t>9/1/2026</a:t>
            </a:fld>
            <a:endParaRPr/>
          </a:p>
        </p:txBody>
      </p:sp>
      <p:sp>
        <p:nvSpPr>
          <p:cNvPr id="5" name="Footer Placeholder 4">
            <a:extLst>
              <a:ext uri="{FF2B5EF4-FFF2-40B4-BE49-F238E27FC236}">
                <a16:creationId xmlns:a16="http://schemas.microsoft.com/office/drawing/2014/main" id="{076D07F5-8A47-49F3-A174-125FC0138807}"/>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9FDB23B-5273-46ED-B1BD-D079A91348F5}"/>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C6357-AB88-4F5C-A07F-A866038568E2}"/>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B2495FD8-843F-43F6-9617-4224CCB8C535}"/>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9879CC2F-AB25-45DA-9426-6EA64B7932C1}"/>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C5811886-87BD-4C4F-BB54-51A0C3485870}"/>
              </a:ext>
            </a:extLst>
          </p:cNvPr>
          <p:cNvSpPr>
            <a:spLocks noGrp="1"/>
          </p:cNvSpPr>
          <p:nvPr>
            <p:ph type="dt" idx="10"/>
          </p:nvPr>
        </p:nvSpPr>
        <p:spPr/>
        <p:txBody>
          <a:bodyPr/>
          <a:lstStyle/>
          <a:p>
            <a:fld id="{1D8BD707-D9CF-40AE-B4C6-C98DA3205C09}" type="datetimeFigureOut">
              <a:t>9/1/2026</a:t>
            </a:fld>
            <a:endParaRPr/>
          </a:p>
        </p:txBody>
      </p:sp>
      <p:sp>
        <p:nvSpPr>
          <p:cNvPr id="6" name="Footer Placeholder 5">
            <a:extLst>
              <a:ext uri="{FF2B5EF4-FFF2-40B4-BE49-F238E27FC236}">
                <a16:creationId xmlns:a16="http://schemas.microsoft.com/office/drawing/2014/main" id="{E36C0E56-CDF0-45FC-B13F-BEC599BE3E4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E0FD7391-A316-419B-B141-4D04578BADE9}"/>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FFC35-8AD1-4962-9A07-FAFF5071F14E}"/>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520C6AA2-F695-42A1-86AA-454892C7CADF}"/>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223722CB-2196-487B-A8F2-A1E35AAE808E}"/>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C9D283E6-EDE2-4237-B4DE-A8EEC41FCF03}"/>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4EB87F11-2EAC-4CD5-868D-E1E94B3EAAC5}"/>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ACADD1FE-92AF-4D13-B5DB-0D06066FC452}"/>
              </a:ext>
            </a:extLst>
          </p:cNvPr>
          <p:cNvSpPr>
            <a:spLocks noGrp="1"/>
          </p:cNvSpPr>
          <p:nvPr>
            <p:ph type="dt" idx="10"/>
          </p:nvPr>
        </p:nvSpPr>
        <p:spPr/>
        <p:txBody>
          <a:bodyPr/>
          <a:lstStyle/>
          <a:p>
            <a:fld id="{1D8BD707-D9CF-40AE-B4C6-C98DA3205C09}" type="datetimeFigureOut">
              <a:t>9/1/2026</a:t>
            </a:fld>
            <a:endParaRPr/>
          </a:p>
        </p:txBody>
      </p:sp>
      <p:sp>
        <p:nvSpPr>
          <p:cNvPr id="8" name="Footer Placeholder 7">
            <a:extLst>
              <a:ext uri="{FF2B5EF4-FFF2-40B4-BE49-F238E27FC236}">
                <a16:creationId xmlns:a16="http://schemas.microsoft.com/office/drawing/2014/main" id="{84982CE0-F87A-426C-BC40-B81CD24BE0FB}"/>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A2B84A80-F15D-4E49-A980-371578F61E4B}"/>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AC261-B2DA-4820-ABC8-5E09262DA071}"/>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4DA7F48B-BE9E-4C34-B667-A14C236E73D4}"/>
              </a:ext>
            </a:extLst>
          </p:cNvPr>
          <p:cNvSpPr>
            <a:spLocks noGrp="1"/>
          </p:cNvSpPr>
          <p:nvPr>
            <p:ph type="dt" idx="10"/>
          </p:nvPr>
        </p:nvSpPr>
        <p:spPr/>
        <p:txBody>
          <a:bodyPr/>
          <a:lstStyle/>
          <a:p>
            <a:fld id="{1D8BD707-D9CF-40AE-B4C6-C98DA3205C09}" type="datetimeFigureOut">
              <a:t>9/1/2026</a:t>
            </a:fld>
            <a:endParaRPr/>
          </a:p>
        </p:txBody>
      </p:sp>
      <p:sp>
        <p:nvSpPr>
          <p:cNvPr id="4" name="Footer Placeholder 3">
            <a:extLst>
              <a:ext uri="{FF2B5EF4-FFF2-40B4-BE49-F238E27FC236}">
                <a16:creationId xmlns:a16="http://schemas.microsoft.com/office/drawing/2014/main" id="{E810DFFD-993A-4C71-AB3E-7BC3085B1222}"/>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41F7E4C9-0B40-4D44-BF33-4B2450DFB2A0}"/>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ACA79D-072F-4AB7-9506-A6F94533A3E1}"/>
              </a:ext>
            </a:extLst>
          </p:cNvPr>
          <p:cNvSpPr>
            <a:spLocks noGrp="1"/>
          </p:cNvSpPr>
          <p:nvPr>
            <p:ph type="dt" idx="10"/>
          </p:nvPr>
        </p:nvSpPr>
        <p:spPr/>
        <p:txBody>
          <a:bodyPr/>
          <a:lstStyle/>
          <a:p>
            <a:fld id="{1D8BD707-D9CF-40AE-B4C6-C98DA3205C09}" type="datetimeFigureOut">
              <a:t>9/1/2026</a:t>
            </a:fld>
            <a:endParaRPr/>
          </a:p>
        </p:txBody>
      </p:sp>
      <p:sp>
        <p:nvSpPr>
          <p:cNvPr id="3" name="Footer Placeholder 2">
            <a:extLst>
              <a:ext uri="{FF2B5EF4-FFF2-40B4-BE49-F238E27FC236}">
                <a16:creationId xmlns:a16="http://schemas.microsoft.com/office/drawing/2014/main" id="{85742E93-B2C1-4E74-AFC8-E16A66A280EF}"/>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E0FC2492-95DD-475F-8860-1CBF75AA1E20}"/>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FE8D9-C324-44A3-B208-D891E88CA1F8}"/>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032FF1BA-6E83-40C5-98E9-83880BB44B85}"/>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8BCFC6E2-CFBD-432A-8DAD-096435CADE60}"/>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778B56CA-6D78-4D87-AD78-8CAE11BEF401}"/>
              </a:ext>
            </a:extLst>
          </p:cNvPr>
          <p:cNvSpPr>
            <a:spLocks noGrp="1"/>
          </p:cNvSpPr>
          <p:nvPr>
            <p:ph type="dt" idx="10"/>
          </p:nvPr>
        </p:nvSpPr>
        <p:spPr/>
        <p:txBody>
          <a:bodyPr/>
          <a:lstStyle/>
          <a:p>
            <a:fld id="{1D8BD707-D9CF-40AE-B4C6-C98DA3205C09}" type="datetimeFigureOut">
              <a:t>9/1/2026</a:t>
            </a:fld>
            <a:endParaRPr/>
          </a:p>
        </p:txBody>
      </p:sp>
      <p:sp>
        <p:nvSpPr>
          <p:cNvPr id="6" name="Footer Placeholder 5">
            <a:extLst>
              <a:ext uri="{FF2B5EF4-FFF2-40B4-BE49-F238E27FC236}">
                <a16:creationId xmlns:a16="http://schemas.microsoft.com/office/drawing/2014/main" id="{C56C69ED-5090-4DB9-9B5D-96A9E1358C88}"/>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19A35BDA-2ED3-45D9-BCD4-75753CE52C9A}"/>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9662B-BFBE-47FA-A63C-F889A460BA5D}"/>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39FCCD1A-FE18-4E6D-B900-8FBA88108295}"/>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A12023C4-86D0-4CEF-933E-9AE5BF54835F}"/>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4D3741F9-C4B9-44E1-8B79-DAC381E939CD}"/>
              </a:ext>
            </a:extLst>
          </p:cNvPr>
          <p:cNvSpPr>
            <a:spLocks noGrp="1"/>
          </p:cNvSpPr>
          <p:nvPr>
            <p:ph type="dt" idx="10"/>
          </p:nvPr>
        </p:nvSpPr>
        <p:spPr/>
        <p:txBody>
          <a:bodyPr/>
          <a:lstStyle/>
          <a:p>
            <a:fld id="{1D8BD707-D9CF-40AE-B4C6-C98DA3205C09}" type="datetimeFigureOut">
              <a:t>9/1/2026</a:t>
            </a:fld>
            <a:endParaRPr/>
          </a:p>
        </p:txBody>
      </p:sp>
      <p:sp>
        <p:nvSpPr>
          <p:cNvPr id="6" name="Footer Placeholder 5">
            <a:extLst>
              <a:ext uri="{FF2B5EF4-FFF2-40B4-BE49-F238E27FC236}">
                <a16:creationId xmlns:a16="http://schemas.microsoft.com/office/drawing/2014/main" id="{011B6D03-A3C5-4871-8FBD-9D7AB61BB925}"/>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8837B65A-9423-41BB-8FA6-CEA67ACA204F}"/>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48441-9204-427B-A094-CF952BD984E0}"/>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0272F14A-1A1D-4C7B-8661-70FA4F4B0F81}"/>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5A829D5-CF80-4882-A3D2-438900F6C97B}"/>
              </a:ext>
            </a:extLst>
          </p:cNvPr>
          <p:cNvSpPr>
            <a:spLocks noGrp="1"/>
          </p:cNvSpPr>
          <p:nvPr>
            <p:ph type="dt" idx="10"/>
          </p:nvPr>
        </p:nvSpPr>
        <p:spPr/>
        <p:txBody>
          <a:bodyPr/>
          <a:lstStyle/>
          <a:p>
            <a:fld id="{1D8BD707-D9CF-40AE-B4C6-C98DA3205C09}" type="datetimeFigureOut">
              <a:t>9/1/2026</a:t>
            </a:fld>
            <a:endParaRPr/>
          </a:p>
        </p:txBody>
      </p:sp>
      <p:sp>
        <p:nvSpPr>
          <p:cNvPr id="5" name="Footer Placeholder 4">
            <a:extLst>
              <a:ext uri="{FF2B5EF4-FFF2-40B4-BE49-F238E27FC236}">
                <a16:creationId xmlns:a16="http://schemas.microsoft.com/office/drawing/2014/main" id="{2344B437-F3F3-4CB2-966F-E0B869C9088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AEB30E9E-70E3-4804-A6BD-F2DE8CAE47B4}"/>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3F1ED1-7FD3-4DA5-9434-F181FDE41EB3}"/>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6F1D5B0E-D0D9-4FA5-923D-4753DCE4D157}"/>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0AF80F4B-854B-4081-9781-E3CF8E56FBFC}"/>
              </a:ext>
            </a:extLst>
          </p:cNvPr>
          <p:cNvSpPr>
            <a:spLocks noGrp="1"/>
          </p:cNvSpPr>
          <p:nvPr>
            <p:ph type="dt" idx="10"/>
          </p:nvPr>
        </p:nvSpPr>
        <p:spPr/>
        <p:txBody>
          <a:bodyPr/>
          <a:lstStyle/>
          <a:p>
            <a:fld id="{1D8BD707-D9CF-40AE-B4C6-C98DA3205C09}" type="datetimeFigureOut">
              <a:t>9/1/2026</a:t>
            </a:fld>
            <a:endParaRPr/>
          </a:p>
        </p:txBody>
      </p:sp>
      <p:sp>
        <p:nvSpPr>
          <p:cNvPr id="5" name="Footer Placeholder 4">
            <a:extLst>
              <a:ext uri="{FF2B5EF4-FFF2-40B4-BE49-F238E27FC236}">
                <a16:creationId xmlns:a16="http://schemas.microsoft.com/office/drawing/2014/main" id="{4B4A4A9F-72F6-43AB-82A5-316B53B45B9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4B0C253-1269-41AE-A283-24DAD523A756}"/>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71C335-A343-435F-BDC8-6FD2B6D5E03E}"/>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FFCC4FD9-9918-46FF-8564-6B589175ED66}"/>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9B4F6367-7273-4B94-BBB2-FD3FA7E35A28}"/>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1D8BD707-D9CF-40AE-B4C6-C98DA3205C09}" type="datetimeFigureOut">
              <a:t>9/1/2026</a:t>
            </a:fld>
            <a:endParaRPr/>
          </a:p>
        </p:txBody>
      </p:sp>
      <p:sp>
        <p:nvSpPr>
          <p:cNvPr id="5" name="Footer Placeholder 4">
            <a:extLst>
              <a:ext uri="{FF2B5EF4-FFF2-40B4-BE49-F238E27FC236}">
                <a16:creationId xmlns:a16="http://schemas.microsoft.com/office/drawing/2014/main" id="{FE4A1A30-94CA-405C-948A-65C5569F0208}"/>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89AD4A4-872E-41A1-BB0D-1B287248AED5}"/>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5.png"/><Relationship Id="rId5" Type="http://schemas.openxmlformats.org/officeDocument/2006/relationships/image" Target="../media/image2.jpe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9C8ACD54-A72F-4DC2-BCE6-FB22E5ECEA98}"/>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TextBox 3">
            <a:extLst>
              <a:ext uri="{FF2B5EF4-FFF2-40B4-BE49-F238E27FC236}">
                <a16:creationId xmlns:a16="http://schemas.microsoft.com/office/drawing/2014/main" id="{D4FE4967-0A38-4181-919A-9107EDCFCF46}"/>
              </a:ext>
            </a:extLst>
          </p:cNvPr>
          <p:cNvSpPr>
            <a:spLocks noGrp="1"/>
          </p:cNvSpPr>
          <p:nvPr/>
        </p:nvSpPr>
        <p:spPr>
          <a:xfrm>
            <a:off x="2571750" y="3238500"/>
            <a:ext cx="13144500" cy="1714500"/>
          </a:xfrm>
          <a:prstGeom prst="rect">
            <a:avLst/>
          </a:prstGeom>
        </p:spPr>
        <p:txBody>
          <a:bodyPr wrap="square" lIns="0" tIns="0" rIns="0" bIns="0" anchor="ctr">
            <a:noAutofit/>
          </a:bodyPr>
          <a:lstStyle/>
          <a:p>
            <a:pPr algn="ctr">
              <a:spcAft>
                <a:spcPts val="10"/>
              </a:spcAft>
            </a:pPr>
            <a:r>
              <a:rPr sz="4800" b="1">
                <a:solidFill>
                  <a:srgbClr val="FFFFFF"/>
                </a:solidFill>
                <a:latin typeface="Helvetica Now Display Bold"/>
                <a:ea typeface="Helvetica Now Display Bold"/>
                <a:cs typeface="Helvetica Now Display Bold"/>
              </a:rPr>
              <a:t>TRAININGIT</a:t>
            </a:r>
          </a:p>
          <a:p>
            <a:pPr algn="ctr"/>
            <a:r>
              <a:rPr sz="2100" b="1">
                <a:solidFill>
                  <a:srgbClr val="FFFFFF"/>
                </a:solidFill>
                <a:latin typeface="Helvetica Now Display Bold"/>
                <a:ea typeface="Helvetica Now Display Bold"/>
                <a:cs typeface="Helvetica Now Display Bold"/>
              </a:rPr>
              <a:t>A WEB-BASED APPLICATION FOR SELLING PROGRAMMING COURSES</a:t>
            </a:r>
          </a:p>
        </p:txBody>
      </p:sp>
      <p:sp>
        <p:nvSpPr>
          <p:cNvPr id="4" name="TextBox 4">
            <a:extLst>
              <a:ext uri="{FF2B5EF4-FFF2-40B4-BE49-F238E27FC236}">
                <a16:creationId xmlns:a16="http://schemas.microsoft.com/office/drawing/2014/main" id="{5B4768FA-141E-4393-A18D-64C8EA9AB743}"/>
              </a:ext>
            </a:extLst>
          </p:cNvPr>
          <p:cNvSpPr>
            <a:spLocks noGrp="1"/>
          </p:cNvSpPr>
          <p:nvPr/>
        </p:nvSpPr>
        <p:spPr>
          <a:xfrm>
            <a:off x="0" y="1009650"/>
            <a:ext cx="18288000" cy="952500"/>
          </a:xfrm>
          <a:prstGeom prst="rect">
            <a:avLst/>
          </a:prstGeom>
        </p:spPr>
        <p:txBody>
          <a:bodyPr lIns="0" tIns="0" rIns="0" bIns="0" anchor="t">
            <a:spAutoFit/>
          </a:bodyPr>
          <a:lstStyle/>
          <a:p>
            <a:pPr algn="ctr">
              <a:lnSpc>
                <a:spcPts val="3750"/>
              </a:lnSpc>
              <a:buNone/>
            </a:pPr>
            <a:r>
              <a:rPr sz="3000" b="1" spc="225">
                <a:solidFill>
                  <a:srgbClr val="FFFFFF"/>
                </a:solidFill>
                <a:latin typeface="Bebas Neue Bold"/>
                <a:ea typeface="Bebas Neue Bold"/>
                <a:cs typeface="Bebas Neue Bold"/>
              </a:rPr>
              <a:t>FACULTY OF COMPUTER SCIENCE</a:t>
            </a:r>
          </a:p>
          <a:p>
            <a:pPr algn="ctr">
              <a:lnSpc>
                <a:spcPts val="3750"/>
              </a:lnSpc>
              <a:spcBef>
                <a:spcPct val="0"/>
              </a:spcBef>
              <a:buNone/>
            </a:pPr>
            <a:r>
              <a:rPr sz="3000" b="1" spc="225">
                <a:solidFill>
                  <a:srgbClr val="FFFFFF"/>
                </a:solidFill>
                <a:latin typeface="Bebas Neue Bold"/>
                <a:ea typeface="Bebas Neue Bold"/>
                <a:cs typeface="Bebas Neue Bold"/>
              </a:rPr>
              <a:t>BACHELOR'S DEGREE PROGRAMME: COMPUTER SCIENCE</a:t>
            </a:r>
          </a:p>
        </p:txBody>
      </p:sp>
      <p:sp>
        <p:nvSpPr>
          <p:cNvPr id="5" name="TextBox 5">
            <a:extLst>
              <a:ext uri="{FF2B5EF4-FFF2-40B4-BE49-F238E27FC236}">
                <a16:creationId xmlns:a16="http://schemas.microsoft.com/office/drawing/2014/main" id="{012B270A-B0BC-4366-A949-322E91D84612}"/>
              </a:ext>
            </a:extLst>
          </p:cNvPr>
          <p:cNvSpPr>
            <a:spLocks noGrp="1"/>
          </p:cNvSpPr>
          <p:nvPr/>
        </p:nvSpPr>
        <p:spPr>
          <a:xfrm>
            <a:off x="1028700" y="7696200"/>
            <a:ext cx="7239000" cy="1066800"/>
          </a:xfrm>
          <a:prstGeom prst="rect">
            <a:avLst/>
          </a:prstGeom>
        </p:spPr>
        <p:txBody>
          <a:bodyPr lIns="0" tIns="0" rIns="0" bIns="0" anchor="t">
            <a:spAutoFit/>
          </a:bodyPr>
          <a:lstStyle/>
          <a:p>
            <a:pPr algn="l">
              <a:lnSpc>
                <a:spcPts val="4050"/>
              </a:lnSpc>
              <a:buNone/>
            </a:pPr>
            <a:r>
              <a:rPr sz="2700" b="1">
                <a:solidFill>
                  <a:srgbClr val="FFFFFF"/>
                </a:solidFill>
                <a:latin typeface="Helvetica Now Display Bold"/>
                <a:ea typeface="Helvetica Now Display Bold"/>
                <a:cs typeface="Helvetica Now Display Bold"/>
              </a:rPr>
              <a:t>SUPERVISOR:       </a:t>
            </a:r>
          </a:p>
          <a:p>
            <a:pPr algn="ctr">
              <a:lnSpc>
                <a:spcPts val="4050"/>
              </a:lnSpc>
              <a:buNone/>
            </a:pPr>
            <a:r>
              <a:rPr sz="2700" b="1">
                <a:solidFill>
                  <a:srgbClr val="FFFFFF"/>
                </a:solidFill>
                <a:latin typeface="Helvetica Now Display Bold"/>
                <a:ea typeface="Helvetica Now Display Bold"/>
                <a:cs typeface="Helvetica Now Display Bold"/>
              </a:rPr>
              <a:t>Lect. Dr. Sebastian Ștefănigă</a:t>
            </a:r>
          </a:p>
        </p:txBody>
      </p:sp>
      <p:sp>
        <p:nvSpPr>
          <p:cNvPr id="6" name="TextBox 6">
            <a:extLst>
              <a:ext uri="{FF2B5EF4-FFF2-40B4-BE49-F238E27FC236}">
                <a16:creationId xmlns:a16="http://schemas.microsoft.com/office/drawing/2014/main" id="{7BD49515-55AF-4414-85AD-5EB02986FDDB}"/>
              </a:ext>
            </a:extLst>
          </p:cNvPr>
          <p:cNvSpPr>
            <a:spLocks noGrp="1"/>
          </p:cNvSpPr>
          <p:nvPr/>
        </p:nvSpPr>
        <p:spPr>
          <a:xfrm>
            <a:off x="14001750" y="7696200"/>
            <a:ext cx="3257550" cy="1066800"/>
          </a:xfrm>
          <a:prstGeom prst="rect">
            <a:avLst/>
          </a:prstGeom>
        </p:spPr>
        <p:txBody>
          <a:bodyPr lIns="0" tIns="0" rIns="0" bIns="0" anchor="t">
            <a:spAutoFit/>
          </a:bodyPr>
          <a:lstStyle/>
          <a:p>
            <a:pPr algn="r">
              <a:lnSpc>
                <a:spcPts val="4050"/>
              </a:lnSpc>
              <a:buNone/>
            </a:pPr>
            <a:r>
              <a:rPr sz="2700" b="1">
                <a:solidFill>
                  <a:srgbClr val="FFFFFF"/>
                </a:solidFill>
                <a:latin typeface="Helvetica Now Display Bold"/>
                <a:ea typeface="Helvetica Now Display Bold"/>
                <a:cs typeface="Helvetica Now Display Bold"/>
              </a:rPr>
              <a:t>CANDIDATE:</a:t>
            </a:r>
          </a:p>
          <a:p>
            <a:pPr algn="r">
              <a:lnSpc>
                <a:spcPts val="4050"/>
              </a:lnSpc>
              <a:buNone/>
            </a:pPr>
            <a:r>
              <a:rPr sz="2700" b="1">
                <a:solidFill>
                  <a:srgbClr val="FFFFFF"/>
                </a:solidFill>
                <a:latin typeface="Helvetica Now Display Bold"/>
                <a:ea typeface="Helvetica Now Display Bold"/>
                <a:cs typeface="Helvetica Now Display Bold"/>
              </a:rPr>
              <a:t>Raul Veca</a:t>
            </a:r>
          </a:p>
        </p:txBody>
      </p:sp>
    </p:spTree>
    <p:extLst>
      <p:ext uri="{BB962C8B-B14F-4D97-AF65-F5344CB8AC3E}">
        <p14:creationId xmlns:p14="http://schemas.microsoft.com/office/powerpoint/2010/main" val="3611451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slide-1-title">
            <a:extLst>
              <a:ext uri="{FF2B5EF4-FFF2-40B4-BE49-F238E27FC236}">
                <a16:creationId xmlns:a16="http://schemas.microsoft.com/office/drawing/2014/main" id="{AE1D0131-F00E-4FC8-AE13-4AB7AA97F211}"/>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Problem and Motivation</a:t>
            </a:r>
          </a:p>
        </p:txBody>
      </p:sp>
      <p:sp>
        <p:nvSpPr>
          <p:cNvPr id="4" name="slide-1-subtitle">
            <a:extLst>
              <a:ext uri="{FF2B5EF4-FFF2-40B4-BE49-F238E27FC236}">
                <a16:creationId xmlns:a16="http://schemas.microsoft.com/office/drawing/2014/main" id="{2E953A88-BBB8-431C-8267-BCC6D7FB8013}"/>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One system removes fragile synchronization between the storefront and CRM</a:t>
            </a:r>
          </a:p>
        </p:txBody>
      </p:sp>
      <p:sp>
        <p:nvSpPr>
          <p:cNvPr id="5" name="slide-1-page-number">
            <a:extLst>
              <a:ext uri="{FF2B5EF4-FFF2-40B4-BE49-F238E27FC236}">
                <a16:creationId xmlns:a16="http://schemas.microsoft.com/office/drawing/2014/main" id="{937951F8-695E-4F6E-816A-7C94465D58D4}"/>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1 / 7</a:t>
            </a:r>
          </a:p>
        </p:txBody>
      </p:sp>
      <p:sp>
        <p:nvSpPr>
          <p:cNvPr id="6" name="customer-side-heading">
            <a:extLst>
              <a:ext uri="{FF2B5EF4-FFF2-40B4-BE49-F238E27FC236}">
                <a16:creationId xmlns:a16="http://schemas.microsoft.com/office/drawing/2014/main" id="{96ACCC26-D056-4176-82CE-5C4E5B05CE6B}"/>
              </a:ext>
            </a:extLst>
          </p:cNvPr>
          <p:cNvSpPr>
            <a:spLocks noGrp="1"/>
          </p:cNvSpPr>
          <p:nvPr/>
        </p:nvSpPr>
        <p:spPr>
          <a:xfrm>
            <a:off x="2667000" y="2095500"/>
            <a:ext cx="7239000" cy="361950"/>
          </a:xfrm>
          <a:prstGeom prst="rect">
            <a:avLst/>
          </a:prstGeom>
          <a:noFill/>
          <a:ln w="0">
            <a:noFill/>
            <a:prstDash val="solid"/>
          </a:ln>
        </p:spPr>
        <p:txBody>
          <a:bodyPr wrap="square" lIns="0" tIns="0" rIns="0" bIns="0" anchor="ctr">
            <a:noAutofit/>
          </a:bodyPr>
          <a:lstStyle/>
          <a:p>
            <a:pPr algn="l">
              <a:defRPr sz="2175" b="1">
                <a:solidFill>
                  <a:srgbClr val="022461"/>
                </a:solidFill>
                <a:latin typeface="Helvetica Now Display Bold"/>
                <a:ea typeface="Helvetica Now Display Bold"/>
                <a:cs typeface="Helvetica Now Display Bold"/>
              </a:defRPr>
            </a:pPr>
            <a:r>
              <a:rPr sz="2175" b="1">
                <a:solidFill>
                  <a:srgbClr val="022461"/>
                </a:solidFill>
                <a:latin typeface="Helvetica Now Display Bold"/>
                <a:ea typeface="Helvetica Now Display Bold"/>
                <a:cs typeface="Helvetica Now Display Bold"/>
              </a:rPr>
              <a:t>The customer side</a:t>
            </a:r>
          </a:p>
        </p:txBody>
      </p:sp>
      <p:sp>
        <p:nvSpPr>
          <p:cNvPr id="7" name="customer-side-body">
            <a:extLst>
              <a:ext uri="{FF2B5EF4-FFF2-40B4-BE49-F238E27FC236}">
                <a16:creationId xmlns:a16="http://schemas.microsoft.com/office/drawing/2014/main" id="{0D0EE576-B18B-4162-BE83-4E863453CEDF}"/>
              </a:ext>
            </a:extLst>
          </p:cNvPr>
          <p:cNvSpPr>
            <a:spLocks noGrp="1"/>
          </p:cNvSpPr>
          <p:nvPr/>
        </p:nvSpPr>
        <p:spPr>
          <a:xfrm>
            <a:off x="2667000" y="2524125"/>
            <a:ext cx="7239000" cy="895350"/>
          </a:xfrm>
          <a:prstGeom prst="rect">
            <a:avLst/>
          </a:prstGeom>
          <a:noFill/>
          <a:ln w="0">
            <a:noFill/>
            <a:prstDash val="solid"/>
          </a:ln>
        </p:spPr>
        <p:txBody>
          <a:bodyPr wrap="square" lIns="0" tIns="0" rIns="0" bIns="0" anchor="t">
            <a:noAutofit/>
          </a:bodyPr>
          <a:lstStyle/>
          <a:p>
            <a:pPr algn="l">
              <a:defRPr sz="1800" b="0">
                <a:solidFill>
                  <a:srgbClr val="172033"/>
                </a:solidFill>
                <a:latin typeface="Calibri"/>
                <a:ea typeface="Calibri"/>
                <a:cs typeface="Calibri"/>
              </a:defRPr>
            </a:pPr>
            <a:r>
              <a:rPr sz="1800" b="0">
                <a:solidFill>
                  <a:srgbClr val="172033"/>
                </a:solidFill>
                <a:latin typeface="Calibri"/>
                <a:ea typeface="Calibri"/>
                <a:cs typeface="Calibri"/>
              </a:rPr>
              <a:t>Learners need a clear catalogue, trusted reviews, quick purchase and simple tutoring reservations.</a:t>
            </a:r>
          </a:p>
        </p:txBody>
      </p:sp>
      <p:sp>
        <p:nvSpPr>
          <p:cNvPr id="8" name="Straight Connector 7">
            <a:extLst>
              <a:ext uri="{FF2B5EF4-FFF2-40B4-BE49-F238E27FC236}">
                <a16:creationId xmlns:a16="http://schemas.microsoft.com/office/drawing/2014/main" id="{018F8D60-8003-4D96-991F-425DA72191C9}"/>
              </a:ext>
            </a:extLst>
          </p:cNvPr>
          <p:cNvSpPr>
            <a:spLocks noGrp="1"/>
          </p:cNvSpPr>
          <p:nvPr/>
        </p:nvSpPr>
        <p:spPr>
          <a:xfrm>
            <a:off x="2667000" y="3619500"/>
            <a:ext cx="7239000" cy="0"/>
          </a:xfrm>
          <a:prstGeom prst="line">
            <a:avLst/>
          </a:prstGeom>
          <a:noFill/>
          <a:ln w="19050">
            <a:solidFill>
              <a:srgbClr val="B8C9DC"/>
            </a:solidFill>
            <a:prstDash val="solid"/>
          </a:ln>
        </p:spPr>
        <p:txBody>
          <a:bodyPr/>
          <a:lstStyle/>
          <a:p>
            <a:endParaRPr lang="en-US"/>
          </a:p>
        </p:txBody>
      </p:sp>
      <p:sp>
        <p:nvSpPr>
          <p:cNvPr id="9" name="business-side-heading">
            <a:extLst>
              <a:ext uri="{FF2B5EF4-FFF2-40B4-BE49-F238E27FC236}">
                <a16:creationId xmlns:a16="http://schemas.microsoft.com/office/drawing/2014/main" id="{1EFB425B-ED9C-4E16-B101-9C07CAEAF3B1}"/>
              </a:ext>
            </a:extLst>
          </p:cNvPr>
          <p:cNvSpPr>
            <a:spLocks noGrp="1"/>
          </p:cNvSpPr>
          <p:nvPr/>
        </p:nvSpPr>
        <p:spPr>
          <a:xfrm>
            <a:off x="2667000" y="4095750"/>
            <a:ext cx="7239000" cy="361950"/>
          </a:xfrm>
          <a:prstGeom prst="rect">
            <a:avLst/>
          </a:prstGeom>
          <a:noFill/>
          <a:ln w="0">
            <a:noFill/>
            <a:prstDash val="solid"/>
          </a:ln>
        </p:spPr>
        <p:txBody>
          <a:bodyPr wrap="square" lIns="0" tIns="0" rIns="0" bIns="0" anchor="ctr">
            <a:noAutofit/>
          </a:bodyPr>
          <a:lstStyle/>
          <a:p>
            <a:pPr algn="l">
              <a:defRPr sz="2175" b="1">
                <a:solidFill>
                  <a:srgbClr val="022461"/>
                </a:solidFill>
                <a:latin typeface="Helvetica Now Display Bold"/>
                <a:ea typeface="Helvetica Now Display Bold"/>
                <a:cs typeface="Helvetica Now Display Bold"/>
              </a:defRPr>
            </a:pPr>
            <a:r>
              <a:rPr sz="2175" b="1">
                <a:solidFill>
                  <a:srgbClr val="022461"/>
                </a:solidFill>
                <a:latin typeface="Helvetica Now Display Bold"/>
                <a:ea typeface="Helvetica Now Display Bold"/>
                <a:cs typeface="Helvetica Now Display Bold"/>
              </a:rPr>
              <a:t>The business side</a:t>
            </a:r>
          </a:p>
        </p:txBody>
      </p:sp>
      <p:sp>
        <p:nvSpPr>
          <p:cNvPr id="10" name="business-side-body">
            <a:extLst>
              <a:ext uri="{FF2B5EF4-FFF2-40B4-BE49-F238E27FC236}">
                <a16:creationId xmlns:a16="http://schemas.microsoft.com/office/drawing/2014/main" id="{A227959B-AF4E-44FD-B4C6-0F241BAF18C4}"/>
              </a:ext>
            </a:extLst>
          </p:cNvPr>
          <p:cNvSpPr>
            <a:spLocks noGrp="1"/>
          </p:cNvSpPr>
          <p:nvPr/>
        </p:nvSpPr>
        <p:spPr>
          <a:xfrm>
            <a:off x="2667000" y="4524375"/>
            <a:ext cx="7239000" cy="895350"/>
          </a:xfrm>
          <a:prstGeom prst="rect">
            <a:avLst/>
          </a:prstGeom>
          <a:noFill/>
          <a:ln w="0">
            <a:noFill/>
            <a:prstDash val="solid"/>
          </a:ln>
        </p:spPr>
        <p:txBody>
          <a:bodyPr wrap="square" lIns="0" tIns="0" rIns="0" bIns="0" anchor="t">
            <a:noAutofit/>
          </a:bodyPr>
          <a:lstStyle/>
          <a:p>
            <a:pPr algn="l">
              <a:defRPr sz="1800" b="0">
                <a:solidFill>
                  <a:srgbClr val="172033"/>
                </a:solidFill>
                <a:latin typeface="Calibri"/>
                <a:ea typeface="Calibri"/>
                <a:cs typeface="Calibri"/>
              </a:defRPr>
            </a:pPr>
            <a:r>
              <a:rPr sz="1800" b="0">
                <a:solidFill>
                  <a:srgbClr val="172033"/>
                </a:solidFill>
                <a:latin typeface="Calibri"/>
                <a:ea typeface="Calibri"/>
                <a:cs typeface="Calibri"/>
              </a:rPr>
              <a:t>The company needs leads, purchases, invoices, analytics and corporate clients in one operational view.</a:t>
            </a:r>
          </a:p>
        </p:txBody>
      </p:sp>
      <p:sp>
        <p:nvSpPr>
          <p:cNvPr id="11" name="Straight Connector 10">
            <a:extLst>
              <a:ext uri="{FF2B5EF4-FFF2-40B4-BE49-F238E27FC236}">
                <a16:creationId xmlns:a16="http://schemas.microsoft.com/office/drawing/2014/main" id="{C771CB6D-A784-4C94-BF63-102269B19621}"/>
              </a:ext>
            </a:extLst>
          </p:cNvPr>
          <p:cNvSpPr>
            <a:spLocks noGrp="1"/>
          </p:cNvSpPr>
          <p:nvPr/>
        </p:nvSpPr>
        <p:spPr>
          <a:xfrm>
            <a:off x="2667000" y="5619750"/>
            <a:ext cx="7239000" cy="0"/>
          </a:xfrm>
          <a:prstGeom prst="line">
            <a:avLst/>
          </a:prstGeom>
          <a:noFill/>
          <a:ln w="19050">
            <a:solidFill>
              <a:srgbClr val="B8C9DC"/>
            </a:solidFill>
            <a:prstDash val="solid"/>
          </a:ln>
        </p:spPr>
        <p:txBody>
          <a:bodyPr/>
          <a:lstStyle/>
          <a:p>
            <a:endParaRPr lang="en-US"/>
          </a:p>
        </p:txBody>
      </p:sp>
      <p:sp>
        <p:nvSpPr>
          <p:cNvPr id="12" name="integration-gap-heading">
            <a:extLst>
              <a:ext uri="{FF2B5EF4-FFF2-40B4-BE49-F238E27FC236}">
                <a16:creationId xmlns:a16="http://schemas.microsoft.com/office/drawing/2014/main" id="{8010DEFE-3821-45AB-942B-2440B93BA09A}"/>
              </a:ext>
            </a:extLst>
          </p:cNvPr>
          <p:cNvSpPr>
            <a:spLocks noGrp="1"/>
          </p:cNvSpPr>
          <p:nvPr/>
        </p:nvSpPr>
        <p:spPr>
          <a:xfrm>
            <a:off x="2667000" y="6096000"/>
            <a:ext cx="7239000" cy="361950"/>
          </a:xfrm>
          <a:prstGeom prst="rect">
            <a:avLst/>
          </a:prstGeom>
          <a:noFill/>
          <a:ln w="0">
            <a:noFill/>
            <a:prstDash val="solid"/>
          </a:ln>
        </p:spPr>
        <p:txBody>
          <a:bodyPr wrap="square" lIns="0" tIns="0" rIns="0" bIns="0" anchor="ctr">
            <a:noAutofit/>
          </a:bodyPr>
          <a:lstStyle/>
          <a:p>
            <a:pPr algn="l">
              <a:defRPr sz="2175" b="1">
                <a:solidFill>
                  <a:srgbClr val="022461"/>
                </a:solidFill>
                <a:latin typeface="Helvetica Now Display Bold"/>
                <a:ea typeface="Helvetica Now Display Bold"/>
                <a:cs typeface="Helvetica Now Display Bold"/>
              </a:defRPr>
            </a:pPr>
            <a:r>
              <a:rPr sz="2175" b="1">
                <a:solidFill>
                  <a:srgbClr val="022461"/>
                </a:solidFill>
                <a:latin typeface="Helvetica Now Display Bold"/>
                <a:ea typeface="Helvetica Now Display Bold"/>
                <a:cs typeface="Helvetica Now Display Bold"/>
              </a:rPr>
              <a:t>The integration gap</a:t>
            </a:r>
          </a:p>
        </p:txBody>
      </p:sp>
      <p:sp>
        <p:nvSpPr>
          <p:cNvPr id="13" name="integration-gap-body">
            <a:extLst>
              <a:ext uri="{FF2B5EF4-FFF2-40B4-BE49-F238E27FC236}">
                <a16:creationId xmlns:a16="http://schemas.microsoft.com/office/drawing/2014/main" id="{9A866C22-B60E-4059-B4FC-EB36798E5F87}"/>
              </a:ext>
            </a:extLst>
          </p:cNvPr>
          <p:cNvSpPr>
            <a:spLocks noGrp="1"/>
          </p:cNvSpPr>
          <p:nvPr/>
        </p:nvSpPr>
        <p:spPr>
          <a:xfrm>
            <a:off x="2667000" y="6524625"/>
            <a:ext cx="7239000" cy="895350"/>
          </a:xfrm>
          <a:prstGeom prst="rect">
            <a:avLst/>
          </a:prstGeom>
          <a:noFill/>
          <a:ln w="0">
            <a:noFill/>
            <a:prstDash val="solid"/>
          </a:ln>
        </p:spPr>
        <p:txBody>
          <a:bodyPr wrap="square" lIns="0" tIns="0" rIns="0" bIns="0" anchor="t">
            <a:noAutofit/>
          </a:bodyPr>
          <a:lstStyle/>
          <a:p>
            <a:pPr algn="l">
              <a:defRPr sz="1800" b="0">
                <a:solidFill>
                  <a:srgbClr val="172033"/>
                </a:solidFill>
                <a:latin typeface="Calibri"/>
                <a:ea typeface="Calibri"/>
                <a:cs typeface="Calibri"/>
              </a:defRPr>
            </a:pPr>
            <a:r>
              <a:rPr sz="1800" b="0">
                <a:solidFill>
                  <a:srgbClr val="172033"/>
                </a:solidFill>
                <a:latin typeface="Calibri"/>
                <a:ea typeface="Calibri"/>
                <a:cs typeface="Calibri"/>
              </a:rPr>
              <a:t>Separate tools create duplicate or inconsistent data and require slow manual reconciliation.</a:t>
            </a:r>
          </a:p>
        </p:txBody>
      </p:sp>
      <p:sp>
        <p:nvSpPr>
          <p:cNvPr id="14" name="problem-statement">
            <a:extLst>
              <a:ext uri="{FF2B5EF4-FFF2-40B4-BE49-F238E27FC236}">
                <a16:creationId xmlns:a16="http://schemas.microsoft.com/office/drawing/2014/main" id="{BA4EAD6B-C91A-4F06-9A5E-C93DD2AD1E0B}"/>
              </a:ext>
            </a:extLst>
          </p:cNvPr>
          <p:cNvSpPr>
            <a:spLocks noGrp="1"/>
          </p:cNvSpPr>
          <p:nvPr/>
        </p:nvSpPr>
        <p:spPr>
          <a:xfrm>
            <a:off x="10858500" y="2143125"/>
            <a:ext cx="5334000" cy="5619750"/>
          </a:xfrm>
          <a:prstGeom prst="roundRect">
            <a:avLst>
              <a:gd name="adj" fmla="val 3214"/>
            </a:avLst>
          </a:prstGeom>
          <a:solidFill>
            <a:srgbClr val="EEF5FC"/>
          </a:solidFill>
          <a:ln w="19050">
            <a:solidFill>
              <a:srgbClr val="BCD0E5"/>
            </a:solidFill>
            <a:prstDash val="solid"/>
          </a:ln>
        </p:spPr>
        <p:style>
          <a:lnRef idx="0">
            <a:scrgbClr r="0" g="0" b="0"/>
          </a:lnRef>
          <a:fillRef idx="0">
            <a:scrgbClr r="0" g="0" b="0"/>
          </a:fillRef>
          <a:effectRef idx="4">
            <a:scrgbClr r="0" g="0" b="0"/>
          </a:effectRef>
          <a:fontRef idx="major"/>
        </p:style>
        <p:txBody>
          <a:bodyPr wrap="square" lIns="323850" tIns="304800" rIns="323850" bIns="266700" anchor="t">
            <a:noAutofit/>
          </a:bodyPr>
          <a:lstStyle/>
          <a:p>
            <a:pPr algn="l">
              <a:spcAft>
                <a:spcPts val="20"/>
              </a:spcAft>
              <a:defRPr sz="1800" b="0">
                <a:solidFill>
                  <a:srgbClr val="172033"/>
                </a:solidFill>
                <a:latin typeface="Calibri"/>
                <a:ea typeface="Calibri"/>
                <a:cs typeface="Calibri"/>
              </a:defRPr>
            </a:pPr>
            <a:r>
              <a:rPr sz="1800" b="0">
                <a:solidFill>
                  <a:srgbClr val="172033"/>
                </a:solidFill>
                <a:latin typeface="Calibri"/>
                <a:ea typeface="Calibri"/>
                <a:cs typeface="Calibri"/>
              </a:rPr>
              <a:t>PROBLEM STATEMENT</a:t>
            </a:r>
          </a:p>
          <a:p>
            <a:pPr algn="l">
              <a:spcAft>
                <a:spcPts val="28"/>
              </a:spcAft>
              <a:defRPr sz="1800" b="0">
                <a:solidFill>
                  <a:srgbClr val="172033"/>
                </a:solidFill>
                <a:latin typeface="Calibri"/>
                <a:ea typeface="Calibri"/>
                <a:cs typeface="Calibri"/>
              </a:defRPr>
            </a:pPr>
            <a:r>
              <a:rPr sz="1800" b="0">
                <a:solidFill>
                  <a:srgbClr val="172033"/>
                </a:solidFill>
                <a:latin typeface="Calibri"/>
                <a:ea typeface="Calibri"/>
                <a:cs typeface="Calibri"/>
              </a:rPr>
              <a:t>Use one application and one shared data model so each customer action is captured once and drives the relevant CRM processes automatically.</a:t>
            </a:r>
          </a:p>
          <a:p>
            <a:pPr algn="l">
              <a:defRPr sz="1800" b="0">
                <a:solidFill>
                  <a:srgbClr val="172033"/>
                </a:solidFill>
                <a:latin typeface="Calibri"/>
                <a:ea typeface="Calibri"/>
                <a:cs typeface="Calibri"/>
              </a:defRPr>
            </a:pPr>
            <a:r>
              <a:rPr sz="1800" b="0">
                <a:solidFill>
                  <a:srgbClr val="172033"/>
                </a:solidFill>
                <a:latin typeface="Calibri"/>
                <a:ea typeface="Calibri"/>
                <a:cs typeface="Calibri"/>
              </a:rPr>
              <a:t>One system. Two role-based experiences. No manual reconciliation.</a:t>
            </a:r>
          </a:p>
        </p:txBody>
      </p:sp>
    </p:spTree>
    <p:extLst>
      <p:ext uri="{BB962C8B-B14F-4D97-AF65-F5344CB8AC3E}">
        <p14:creationId xmlns:p14="http://schemas.microsoft.com/office/powerpoint/2010/main" val="385390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slide-2-title">
            <a:extLst>
              <a:ext uri="{FF2B5EF4-FFF2-40B4-BE49-F238E27FC236}">
                <a16:creationId xmlns:a16="http://schemas.microsoft.com/office/drawing/2014/main" id="{1EA6940B-19B2-44EF-93F4-AA41B0BC2776}"/>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Related Work</a:t>
            </a:r>
          </a:p>
        </p:txBody>
      </p:sp>
      <p:sp>
        <p:nvSpPr>
          <p:cNvPr id="4" name="slide-2-subtitle">
            <a:extLst>
              <a:ext uri="{FF2B5EF4-FFF2-40B4-BE49-F238E27FC236}">
                <a16:creationId xmlns:a16="http://schemas.microsoft.com/office/drawing/2014/main" id="{76D7AC58-1AA3-455D-BE62-C11AD08FF0C8}"/>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Existing tools solve parts of the problem, not the whole workflow</a:t>
            </a:r>
          </a:p>
        </p:txBody>
      </p:sp>
      <p:sp>
        <p:nvSpPr>
          <p:cNvPr id="5" name="slide-2-page-number">
            <a:extLst>
              <a:ext uri="{FF2B5EF4-FFF2-40B4-BE49-F238E27FC236}">
                <a16:creationId xmlns:a16="http://schemas.microsoft.com/office/drawing/2014/main" id="{C7069109-0CAA-4B6B-9A56-4E6D1F840D58}"/>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2 / 7</a:t>
            </a:r>
          </a:p>
        </p:txBody>
      </p:sp>
      <p:sp>
        <p:nvSpPr>
          <p:cNvPr id="6" name="related-work-intro">
            <a:extLst>
              <a:ext uri="{FF2B5EF4-FFF2-40B4-BE49-F238E27FC236}">
                <a16:creationId xmlns:a16="http://schemas.microsoft.com/office/drawing/2014/main" id="{F164E926-F84C-4319-ADD0-BE2F49461C3A}"/>
              </a:ext>
            </a:extLst>
          </p:cNvPr>
          <p:cNvSpPr>
            <a:spLocks noGrp="1"/>
          </p:cNvSpPr>
          <p:nvPr/>
        </p:nvSpPr>
        <p:spPr>
          <a:xfrm>
            <a:off x="2571750" y="1666875"/>
            <a:ext cx="13335000" cy="381000"/>
          </a:xfrm>
          <a:prstGeom prst="rect">
            <a:avLst/>
          </a:prstGeom>
          <a:noFill/>
          <a:ln w="0">
            <a:noFill/>
            <a:prstDash val="solid"/>
          </a:ln>
        </p:spPr>
        <p:txBody>
          <a:bodyPr wrap="square" lIns="0" tIns="0" rIns="0" bIns="0" anchor="ctr">
            <a:noAutofit/>
          </a:bodyPr>
          <a:lstStyle/>
          <a:p>
            <a:pPr algn="l">
              <a:defRPr sz="1650" b="0">
                <a:solidFill>
                  <a:srgbClr val="5A6472"/>
                </a:solidFill>
                <a:latin typeface="Calibri"/>
                <a:ea typeface="Calibri"/>
                <a:cs typeface="Calibri"/>
              </a:defRPr>
            </a:pPr>
            <a:r>
              <a:rPr sz="1650" b="0">
                <a:solidFill>
                  <a:srgbClr val="5A6472"/>
                </a:solidFill>
                <a:latin typeface="Calibri"/>
                <a:ea typeface="Calibri"/>
                <a:cs typeface="Calibri"/>
              </a:rPr>
              <a:t>Each tool family covers one side well; none unifies a course storefront and a CRM in a single product.</a:t>
            </a:r>
          </a:p>
        </p:txBody>
      </p:sp>
      <p:graphicFrame>
        <p:nvGraphicFramePr>
          <p:cNvPr id="14" name="Table 13"/>
          <p:cNvGraphicFramePr/>
          <p:nvPr/>
        </p:nvGraphicFramePr>
        <p:xfrm>
          <a:off x="2571750" y="2190750"/>
          <a:ext cx="13335000" cy="4819650"/>
        </p:xfrm>
        <a:graphic>
          <a:graphicData uri="http://schemas.openxmlformats.org/drawingml/2006/table">
            <a:tbl>
              <a:tblPr/>
              <a:tblGrid>
                <a:gridCol w="3478696">
                  <a:extLst>
                    <a:ext uri="{9D8B030D-6E8A-4147-A177-3AD203B41FA5}">
                      <a16:colId xmlns:a16="http://schemas.microsoft.com/office/drawing/2014/main" val="20000"/>
                    </a:ext>
                  </a:extLst>
                </a:gridCol>
                <a:gridCol w="4493315">
                  <a:extLst>
                    <a:ext uri="{9D8B030D-6E8A-4147-A177-3AD203B41FA5}">
                      <a16:colId xmlns:a16="http://schemas.microsoft.com/office/drawing/2014/main" val="20001"/>
                    </a:ext>
                  </a:extLst>
                </a:gridCol>
                <a:gridCol w="5362989">
                  <a:extLst>
                    <a:ext uri="{9D8B030D-6E8A-4147-A177-3AD203B41FA5}">
                      <a16:colId xmlns:a16="http://schemas.microsoft.com/office/drawing/2014/main" val="20002"/>
                    </a:ext>
                  </a:extLst>
                </a:gridCol>
              </a:tblGrid>
              <a:tr h="552450">
                <a:tc>
                  <a:txBody>
                    <a:bodyPr/>
                    <a:lstStyle/>
                    <a:p>
                      <a:r>
                        <a:rPr sz="1575" b="1">
                          <a:solidFill>
                            <a:srgbClr val="FFFFFF"/>
                          </a:solidFill>
                          <a:latin typeface="Helvetica Now Display Bold"/>
                          <a:ea typeface="Helvetica Now Display Bold"/>
                          <a:cs typeface="Helvetica Now Display Bold"/>
                        </a:rPr>
                        <a:t>Tool family</a:t>
                      </a:r>
                    </a:p>
                  </a:txBody>
                  <a:tcPr anchor="ctr">
                    <a:solidFill>
                      <a:srgbClr val="022461"/>
                    </a:solidFill>
                  </a:tcPr>
                </a:tc>
                <a:tc>
                  <a:txBody>
                    <a:bodyPr/>
                    <a:lstStyle/>
                    <a:p>
                      <a:r>
                        <a:rPr sz="1575" b="1">
                          <a:solidFill>
                            <a:srgbClr val="FFFFFF"/>
                          </a:solidFill>
                          <a:latin typeface="Helvetica Now Display Bold"/>
                          <a:ea typeface="Helvetica Now Display Bold"/>
                          <a:cs typeface="Helvetica Now Display Bold"/>
                        </a:rPr>
                        <a:t>Strength</a:t>
                      </a:r>
                    </a:p>
                  </a:txBody>
                  <a:tcPr anchor="ctr">
                    <a:solidFill>
                      <a:srgbClr val="022461"/>
                    </a:solidFill>
                  </a:tcPr>
                </a:tc>
                <a:tc>
                  <a:txBody>
                    <a:bodyPr/>
                    <a:lstStyle/>
                    <a:p>
                      <a:r>
                        <a:rPr sz="1575" b="1">
                          <a:solidFill>
                            <a:srgbClr val="FFFFFF"/>
                          </a:solidFill>
                          <a:latin typeface="Helvetica Now Display Bold"/>
                          <a:ea typeface="Helvetica Now Display Bold"/>
                          <a:cs typeface="Helvetica Now Display Bold"/>
                        </a:rPr>
                        <a:t>Limitation</a:t>
                      </a:r>
                    </a:p>
                  </a:txBody>
                  <a:tcPr anchor="ctr">
                    <a:solidFill>
                      <a:srgbClr val="022461"/>
                    </a:solidFill>
                  </a:tcPr>
                </a:tc>
                <a:extLst>
                  <a:ext uri="{0D108BD9-81ED-4DB2-BD59-A6C34878D82A}">
                    <a16:rowId xmlns:a16="http://schemas.microsoft.com/office/drawing/2014/main" val="10000"/>
                  </a:ext>
                </a:extLst>
              </a:tr>
              <a:tr h="1066800">
                <a:tc>
                  <a:txBody>
                    <a:bodyPr/>
                    <a:lstStyle/>
                    <a:p>
                      <a:r>
                        <a:rPr sz="1425" b="1">
                          <a:solidFill>
                            <a:srgbClr val="022461"/>
                          </a:solidFill>
                          <a:latin typeface="Calibri"/>
                          <a:ea typeface="Calibri"/>
                          <a:cs typeface="Calibri"/>
                        </a:rPr>
                        <a:t>Course marketplaces</a:t>
                      </a:r>
                    </a:p>
                    <a:p>
                      <a:r>
                        <a:rPr sz="1425" b="1">
                          <a:solidFill>
                            <a:srgbClr val="022461"/>
                          </a:solidFill>
                          <a:latin typeface="Calibri"/>
                          <a:ea typeface="Calibri"/>
                          <a:cs typeface="Calibri"/>
                        </a:rPr>
                        <a:t>e.g. Udemy, Coursera</a:t>
                      </a:r>
                    </a:p>
                  </a:txBody>
                  <a:tcPr anchor="ctr">
                    <a:solidFill>
                      <a:srgbClr val="EEF5FC"/>
                    </a:solidFill>
                  </a:tcPr>
                </a:tc>
                <a:tc>
                  <a:txBody>
                    <a:bodyPr/>
                    <a:lstStyle/>
                    <a:p>
                      <a:r>
                        <a:rPr sz="1350" b="0">
                          <a:solidFill>
                            <a:srgbClr val="172033"/>
                          </a:solidFill>
                          <a:latin typeface="Calibri"/>
                          <a:ea typeface="Calibri"/>
                          <a:cs typeface="Calibri"/>
                        </a:rPr>
                        <a:t>Excellent storefront, catalogue, reviews and checkout</a:t>
                      </a:r>
                    </a:p>
                  </a:txBody>
                  <a:tcPr anchor="ctr">
                    <a:solidFill>
                      <a:srgbClr val="EEF5FC"/>
                    </a:solidFill>
                  </a:tcPr>
                </a:tc>
                <a:tc>
                  <a:txBody>
                    <a:bodyPr/>
                    <a:lstStyle/>
                    <a:p>
                      <a:r>
                        <a:rPr sz="1350" b="0">
                          <a:solidFill>
                            <a:srgbClr val="172033"/>
                          </a:solidFill>
                          <a:latin typeface="Calibri"/>
                          <a:ea typeface="Calibri"/>
                          <a:cs typeface="Calibri"/>
                        </a:rPr>
                        <a:t>Aggregators: no owned customer relationship and no integrated CRM</a:t>
                      </a:r>
                    </a:p>
                  </a:txBody>
                  <a:tcPr anchor="ctr">
                    <a:solidFill>
                      <a:srgbClr val="EEF5FC"/>
                    </a:solidFill>
                  </a:tcPr>
                </a:tc>
                <a:extLst>
                  <a:ext uri="{0D108BD9-81ED-4DB2-BD59-A6C34878D82A}">
                    <a16:rowId xmlns:a16="http://schemas.microsoft.com/office/drawing/2014/main" val="10001"/>
                  </a:ext>
                </a:extLst>
              </a:tr>
              <a:tr h="1066800">
                <a:tc>
                  <a:txBody>
                    <a:bodyPr/>
                    <a:lstStyle/>
                    <a:p>
                      <a:r>
                        <a:rPr sz="1425" b="1">
                          <a:solidFill>
                            <a:srgbClr val="022461"/>
                          </a:solidFill>
                          <a:latin typeface="Calibri"/>
                          <a:ea typeface="Calibri"/>
                          <a:cs typeface="Calibri"/>
                        </a:rPr>
                        <a:t>Learning management</a:t>
                      </a:r>
                    </a:p>
                    <a:p>
                      <a:r>
                        <a:rPr sz="1425" b="1">
                          <a:solidFill>
                            <a:srgbClr val="022461"/>
                          </a:solidFill>
                          <a:latin typeface="Calibri"/>
                          <a:ea typeface="Calibri"/>
                          <a:cs typeface="Calibri"/>
                        </a:rPr>
                        <a:t>e.g. Moodle</a:t>
                      </a:r>
                    </a:p>
                  </a:txBody>
                  <a:tcPr anchor="ctr">
                    <a:solidFill>
                      <a:srgbClr val="F7FAFE"/>
                    </a:solidFill>
                  </a:tcPr>
                </a:tc>
                <a:tc>
                  <a:txBody>
                    <a:bodyPr/>
                    <a:lstStyle/>
                    <a:p>
                      <a:r>
                        <a:rPr sz="1350" b="0">
                          <a:solidFill>
                            <a:srgbClr val="172033"/>
                          </a:solidFill>
                          <a:latin typeface="Calibri"/>
                          <a:ea typeface="Calibri"/>
                          <a:cs typeface="Calibri"/>
                        </a:rPr>
                        <a:t>Strong at delivering and tracking course content</a:t>
                      </a:r>
                    </a:p>
                  </a:txBody>
                  <a:tcPr anchor="ctr">
                    <a:solidFill>
                      <a:srgbClr val="F7FAFE"/>
                    </a:solidFill>
                  </a:tcPr>
                </a:tc>
                <a:tc>
                  <a:txBody>
                    <a:bodyPr/>
                    <a:lstStyle/>
                    <a:p>
                      <a:r>
                        <a:rPr sz="1350" b="0">
                          <a:solidFill>
                            <a:srgbClr val="172033"/>
                          </a:solidFill>
                          <a:latin typeface="Calibri"/>
                          <a:ea typeface="Calibri"/>
                          <a:cs typeface="Calibri"/>
                        </a:rPr>
                        <a:t>Built around content, not selling; commerce and CRM are bolted on</a:t>
                      </a:r>
                    </a:p>
                  </a:txBody>
                  <a:tcPr anchor="ctr">
                    <a:solidFill>
                      <a:srgbClr val="F7FAFE"/>
                    </a:solidFill>
                  </a:tcPr>
                </a:tc>
                <a:extLst>
                  <a:ext uri="{0D108BD9-81ED-4DB2-BD59-A6C34878D82A}">
                    <a16:rowId xmlns:a16="http://schemas.microsoft.com/office/drawing/2014/main" val="10002"/>
                  </a:ext>
                </a:extLst>
              </a:tr>
              <a:tr h="1066800">
                <a:tc>
                  <a:txBody>
                    <a:bodyPr/>
                    <a:lstStyle/>
                    <a:p>
                      <a:r>
                        <a:rPr sz="1425" b="1">
                          <a:solidFill>
                            <a:srgbClr val="022461"/>
                          </a:solidFill>
                          <a:latin typeface="Calibri"/>
                          <a:ea typeface="Calibri"/>
                          <a:cs typeface="Calibri"/>
                        </a:rPr>
                        <a:t>CRM platforms</a:t>
                      </a:r>
                    </a:p>
                    <a:p>
                      <a:r>
                        <a:rPr sz="1425" b="1">
                          <a:solidFill>
                            <a:srgbClr val="022461"/>
                          </a:solidFill>
                          <a:latin typeface="Calibri"/>
                          <a:ea typeface="Calibri"/>
                          <a:cs typeface="Calibri"/>
                        </a:rPr>
                        <a:t>e.g. Salesforce, HubSpot</a:t>
                      </a:r>
                    </a:p>
                  </a:txBody>
                  <a:tcPr anchor="ctr">
                    <a:solidFill>
                      <a:srgbClr val="EEF5FC"/>
                    </a:solidFill>
                  </a:tcPr>
                </a:tc>
                <a:tc>
                  <a:txBody>
                    <a:bodyPr/>
                    <a:lstStyle/>
                    <a:p>
                      <a:r>
                        <a:rPr sz="1350" b="0">
                          <a:solidFill>
                            <a:srgbClr val="172033"/>
                          </a:solidFill>
                          <a:latin typeface="Calibri"/>
                          <a:ea typeface="Calibri"/>
                          <a:cs typeface="Calibri"/>
                        </a:rPr>
                        <a:t>Powerful contacts, pipelines, lead scoring and reporting</a:t>
                      </a:r>
                    </a:p>
                  </a:txBody>
                  <a:tcPr anchor="ctr">
                    <a:solidFill>
                      <a:srgbClr val="EEF5FC"/>
                    </a:solidFill>
                  </a:tcPr>
                </a:tc>
                <a:tc>
                  <a:txBody>
                    <a:bodyPr/>
                    <a:lstStyle/>
                    <a:p>
                      <a:r>
                        <a:rPr sz="1350" b="0">
                          <a:solidFill>
                            <a:srgbClr val="172033"/>
                          </a:solidFill>
                          <a:latin typeface="Calibri"/>
                          <a:ea typeface="Calibri"/>
                          <a:cs typeface="Calibri"/>
                        </a:rPr>
                        <a:t>Generic: no course catalogue, trainer calendar or public storefront</a:t>
                      </a:r>
                    </a:p>
                  </a:txBody>
                  <a:tcPr anchor="ctr">
                    <a:solidFill>
                      <a:srgbClr val="EEF5FC"/>
                    </a:solidFill>
                  </a:tcPr>
                </a:tc>
                <a:extLst>
                  <a:ext uri="{0D108BD9-81ED-4DB2-BD59-A6C34878D82A}">
                    <a16:rowId xmlns:a16="http://schemas.microsoft.com/office/drawing/2014/main" val="10003"/>
                  </a:ext>
                </a:extLst>
              </a:tr>
              <a:tr h="1066800">
                <a:tc>
                  <a:txBody>
                    <a:bodyPr/>
                    <a:lstStyle/>
                    <a:p>
                      <a:r>
                        <a:rPr sz="1425" b="1">
                          <a:solidFill>
                            <a:srgbClr val="022461"/>
                          </a:solidFill>
                          <a:latin typeface="Calibri"/>
                          <a:ea typeface="Calibri"/>
                          <a:cs typeface="Calibri"/>
                        </a:rPr>
                        <a:t>E-commerce engines</a:t>
                      </a:r>
                    </a:p>
                    <a:p>
                      <a:r>
                        <a:rPr sz="1425" b="1">
                          <a:solidFill>
                            <a:srgbClr val="022461"/>
                          </a:solidFill>
                          <a:latin typeface="Calibri"/>
                          <a:ea typeface="Calibri"/>
                          <a:cs typeface="Calibri"/>
                        </a:rPr>
                        <a:t>e.g. WooCommerce</a:t>
                      </a:r>
                    </a:p>
                  </a:txBody>
                  <a:tcPr anchor="ctr">
                    <a:solidFill>
                      <a:srgbClr val="F7FAFE"/>
                    </a:solidFill>
                  </a:tcPr>
                </a:tc>
                <a:tc>
                  <a:txBody>
                    <a:bodyPr/>
                    <a:lstStyle/>
                    <a:p>
                      <a:r>
                        <a:rPr sz="1350" b="0">
                          <a:solidFill>
                            <a:srgbClr val="172033"/>
                          </a:solidFill>
                          <a:latin typeface="Calibri"/>
                          <a:ea typeface="Calibri"/>
                          <a:cs typeface="Calibri"/>
                        </a:rPr>
                        <a:t>Self-hosted and able to sell anything, including courses</a:t>
                      </a:r>
                    </a:p>
                  </a:txBody>
                  <a:tcPr anchor="ctr">
                    <a:solidFill>
                      <a:srgbClr val="F7FAFE"/>
                    </a:solidFill>
                  </a:tcPr>
                </a:tc>
                <a:tc>
                  <a:txBody>
                    <a:bodyPr/>
                    <a:lstStyle/>
                    <a:p>
                      <a:r>
                        <a:rPr sz="1350" b="0">
                          <a:solidFill>
                            <a:srgbClr val="172033"/>
                          </a:solidFill>
                          <a:latin typeface="Calibri"/>
                          <a:ea typeface="Calibri"/>
                          <a:cs typeface="Calibri"/>
                        </a:rPr>
                        <a:t>A course is only a product: no lead stages, tutoring sessions or corporate training</a:t>
                      </a:r>
                    </a:p>
                  </a:txBody>
                  <a:tcPr anchor="ctr">
                    <a:solidFill>
                      <a:srgbClr val="F7FAFE"/>
                    </a:solidFill>
                  </a:tcPr>
                </a:tc>
                <a:extLst>
                  <a:ext uri="{0D108BD9-81ED-4DB2-BD59-A6C34878D82A}">
                    <a16:rowId xmlns:a16="http://schemas.microsoft.com/office/drawing/2014/main" val="10004"/>
                  </a:ext>
                </a:extLst>
              </a:tr>
            </a:tbl>
          </a:graphicData>
        </a:graphic>
      </p:graphicFrame>
      <p:sp>
        <p:nvSpPr>
          <p:cNvPr id="8" name="related-work-takeaway">
            <a:extLst>
              <a:ext uri="{FF2B5EF4-FFF2-40B4-BE49-F238E27FC236}">
                <a16:creationId xmlns:a16="http://schemas.microsoft.com/office/drawing/2014/main" id="{4E719F2D-5E04-4F90-BB55-56E396876C7E}"/>
              </a:ext>
            </a:extLst>
          </p:cNvPr>
          <p:cNvSpPr>
            <a:spLocks noGrp="1"/>
          </p:cNvSpPr>
          <p:nvPr/>
        </p:nvSpPr>
        <p:spPr>
          <a:xfrm>
            <a:off x="2571750" y="7477125"/>
            <a:ext cx="13335000" cy="1066800"/>
          </a:xfrm>
          <a:prstGeom prst="roundRect">
            <a:avLst>
              <a:gd name="adj" fmla="val 12500"/>
            </a:avLst>
          </a:prstGeom>
          <a:solidFill>
            <a:srgbClr val="022461"/>
          </a:solidFill>
          <a:ln w="0">
            <a:solidFill>
              <a:srgbClr val="022461"/>
            </a:solidFill>
            <a:prstDash val="solid"/>
          </a:ln>
        </p:spPr>
        <p:txBody>
          <a:bodyPr wrap="square" lIns="266700" tIns="171450" rIns="266700" bIns="171450" anchor="ctr">
            <a:noAutofit/>
          </a:bodyPr>
          <a:lstStyle/>
          <a:p>
            <a:pPr algn="ctr">
              <a:defRPr sz="1650" b="1">
                <a:solidFill>
                  <a:srgbClr val="FFFFFF"/>
                </a:solidFill>
                <a:latin typeface="Calibri"/>
                <a:ea typeface="Calibri"/>
                <a:cs typeface="Calibri"/>
              </a:defRPr>
            </a:pPr>
            <a:r>
              <a:rPr sz="1650" b="1">
                <a:solidFill>
                  <a:srgbClr val="FFFFFF"/>
                </a:solidFill>
                <a:latin typeface="Calibri"/>
                <a:ea typeface="Calibri"/>
                <a:cs typeface="Calibri"/>
              </a:rPr>
              <a:t>TrainingIT unifies both sides on one shared data model and specializes CRM workflows for training: sessions, calendars, tutoring, discounts and course analytics.</a:t>
            </a:r>
          </a:p>
        </p:txBody>
      </p:sp>
    </p:spTree>
    <p:extLst>
      <p:ext uri="{BB962C8B-B14F-4D97-AF65-F5344CB8AC3E}">
        <p14:creationId xmlns:p14="http://schemas.microsoft.com/office/powerpoint/2010/main" val="385390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slide-3-title">
            <a:extLst>
              <a:ext uri="{FF2B5EF4-FFF2-40B4-BE49-F238E27FC236}">
                <a16:creationId xmlns:a16="http://schemas.microsoft.com/office/drawing/2014/main" id="{4048A1C2-63EE-43C0-95D2-8ABB082F5AF1}"/>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Contribution</a:t>
            </a:r>
          </a:p>
        </p:txBody>
      </p:sp>
      <p:sp>
        <p:nvSpPr>
          <p:cNvPr id="4" name="slide-3-subtitle">
            <a:extLst>
              <a:ext uri="{FF2B5EF4-FFF2-40B4-BE49-F238E27FC236}">
                <a16:creationId xmlns:a16="http://schemas.microsoft.com/office/drawing/2014/main" id="{D6468100-885D-4602-B3B6-5528FE13DF3D}"/>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A working product: storefront and CRM operate as one system</a:t>
            </a:r>
          </a:p>
        </p:txBody>
      </p:sp>
      <p:sp>
        <p:nvSpPr>
          <p:cNvPr id="5" name="slide-3-page-number">
            <a:extLst>
              <a:ext uri="{FF2B5EF4-FFF2-40B4-BE49-F238E27FC236}">
                <a16:creationId xmlns:a16="http://schemas.microsoft.com/office/drawing/2014/main" id="{1347F022-E81B-44C9-B2E4-D6E966D87F21}"/>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3 / 7</a:t>
            </a:r>
          </a:p>
        </p:txBody>
      </p:sp>
      <p:sp>
        <p:nvSpPr>
          <p:cNvPr id="6" name="applied-contribution-heading">
            <a:extLst>
              <a:ext uri="{FF2B5EF4-FFF2-40B4-BE49-F238E27FC236}">
                <a16:creationId xmlns:a16="http://schemas.microsoft.com/office/drawing/2014/main" id="{15332C89-880D-4C4E-A73C-79A45FEA9624}"/>
              </a:ext>
            </a:extLst>
          </p:cNvPr>
          <p:cNvSpPr>
            <a:spLocks noGrp="1"/>
          </p:cNvSpPr>
          <p:nvPr/>
        </p:nvSpPr>
        <p:spPr>
          <a:xfrm>
            <a:off x="2571750" y="1762125"/>
            <a:ext cx="13335000" cy="400050"/>
          </a:xfrm>
          <a:prstGeom prst="rect">
            <a:avLst/>
          </a:prstGeom>
          <a:noFill/>
          <a:ln w="0">
            <a:noFill/>
            <a:prstDash val="solid"/>
          </a:ln>
        </p:spPr>
        <p:txBody>
          <a:bodyPr wrap="square" lIns="0" tIns="0" rIns="0" bIns="0" anchor="t">
            <a:noAutofit/>
          </a:bodyPr>
          <a:lstStyle/>
          <a:p>
            <a:pPr algn="l">
              <a:defRPr sz="2250" b="1">
                <a:solidFill>
                  <a:srgbClr val="022461"/>
                </a:solidFill>
                <a:latin typeface="Helvetica Now Display Bold"/>
                <a:ea typeface="Helvetica Now Display Bold"/>
                <a:cs typeface="Helvetica Now Display Bold"/>
              </a:defRPr>
            </a:pPr>
            <a:r>
              <a:rPr sz="2250" b="1">
                <a:solidFill>
                  <a:srgbClr val="022461"/>
                </a:solidFill>
                <a:latin typeface="Helvetica Now Display Bold"/>
                <a:ea typeface="Helvetica Now Display Bold"/>
                <a:cs typeface="Helvetica Now Display Bold"/>
              </a:rPr>
              <a:t>Applied contribution</a:t>
            </a:r>
          </a:p>
        </p:txBody>
      </p:sp>
      <p:sp>
        <p:nvSpPr>
          <p:cNvPr id="7" name="applied-contribution-body">
            <a:extLst>
              <a:ext uri="{FF2B5EF4-FFF2-40B4-BE49-F238E27FC236}">
                <a16:creationId xmlns:a16="http://schemas.microsoft.com/office/drawing/2014/main" id="{E5CAE5DD-2273-4856-A1DB-0F9B89A3E335}"/>
              </a:ext>
            </a:extLst>
          </p:cNvPr>
          <p:cNvSpPr>
            <a:spLocks noGrp="1"/>
          </p:cNvSpPr>
          <p:nvPr/>
        </p:nvSpPr>
        <p:spPr>
          <a:xfrm>
            <a:off x="2571750" y="2238375"/>
            <a:ext cx="13335000" cy="1143000"/>
          </a:xfrm>
          <a:prstGeom prst="rect">
            <a:avLst/>
          </a:prstGeom>
          <a:noFill/>
          <a:ln w="0">
            <a:noFill/>
            <a:prstDash val="solid"/>
          </a:ln>
        </p:spPr>
        <p:txBody>
          <a:bodyPr wrap="square" lIns="0" tIns="0" rIns="0" bIns="0" anchor="t">
            <a:noAutofit/>
          </a:bodyPr>
          <a:lstStyle/>
          <a:p>
            <a:pPr algn="l">
              <a:defRPr sz="1800" b="0">
                <a:solidFill>
                  <a:srgbClr val="172033"/>
                </a:solidFill>
                <a:latin typeface="Calibri"/>
                <a:ea typeface="Calibri"/>
                <a:cs typeface="Calibri"/>
              </a:defRPr>
            </a:pPr>
            <a:r>
              <a:rPr sz="1800" b="0">
                <a:solidFill>
                  <a:srgbClr val="172033"/>
                </a:solidFill>
                <a:latin typeface="Calibri"/>
                <a:ea typeface="Calibri"/>
                <a:cs typeface="Calibri"/>
              </a:rPr>
              <a:t>TrainingIT combines a course marketplace and CRM in one Java web application. Each customer action is stored once and drives event-based workflows; the Claude AI layer remains optional.</a:t>
            </a:r>
          </a:p>
        </p:txBody>
      </p:sp>
      <p:sp>
        <p:nvSpPr>
          <p:cNvPr id="8" name="Straight Connector 7">
            <a:extLst>
              <a:ext uri="{FF2B5EF4-FFF2-40B4-BE49-F238E27FC236}">
                <a16:creationId xmlns:a16="http://schemas.microsoft.com/office/drawing/2014/main" id="{E6D1EE98-B706-4E55-8B15-B940CA835D98}"/>
              </a:ext>
            </a:extLst>
          </p:cNvPr>
          <p:cNvSpPr>
            <a:spLocks noGrp="1"/>
          </p:cNvSpPr>
          <p:nvPr/>
        </p:nvSpPr>
        <p:spPr>
          <a:xfrm>
            <a:off x="2571750" y="3619500"/>
            <a:ext cx="13335000" cy="0"/>
          </a:xfrm>
          <a:prstGeom prst="line">
            <a:avLst/>
          </a:prstGeom>
          <a:noFill/>
          <a:ln w="28575">
            <a:solidFill>
              <a:srgbClr val="022461"/>
            </a:solidFill>
            <a:prstDash val="solid"/>
          </a:ln>
        </p:spPr>
        <p:txBody>
          <a:bodyPr/>
          <a:lstStyle/>
          <a:p>
            <a:endParaRPr lang="en-US"/>
          </a:p>
        </p:txBody>
      </p:sp>
      <p:sp>
        <p:nvSpPr>
          <p:cNvPr id="9" name="objectives-heading">
            <a:extLst>
              <a:ext uri="{FF2B5EF4-FFF2-40B4-BE49-F238E27FC236}">
                <a16:creationId xmlns:a16="http://schemas.microsoft.com/office/drawing/2014/main" id="{DB5DAAB4-B9B8-4B9E-B276-7E1225FD353A}"/>
              </a:ext>
            </a:extLst>
          </p:cNvPr>
          <p:cNvSpPr>
            <a:spLocks noGrp="1"/>
          </p:cNvSpPr>
          <p:nvPr/>
        </p:nvSpPr>
        <p:spPr>
          <a:xfrm>
            <a:off x="2571750" y="3952875"/>
            <a:ext cx="6191250" cy="419100"/>
          </a:xfrm>
          <a:prstGeom prst="rect">
            <a:avLst/>
          </a:prstGeom>
          <a:noFill/>
          <a:ln w="0">
            <a:noFill/>
            <a:prstDash val="solid"/>
          </a:ln>
        </p:spPr>
        <p:txBody>
          <a:bodyPr wrap="square" lIns="0" tIns="0" rIns="0" bIns="0" anchor="t">
            <a:noAutofit/>
          </a:bodyPr>
          <a:lstStyle/>
          <a:p>
            <a:pPr algn="l">
              <a:defRPr sz="2250" b="1">
                <a:solidFill>
                  <a:srgbClr val="2588E6"/>
                </a:solidFill>
                <a:latin typeface="Helvetica Now Display Bold"/>
                <a:ea typeface="Helvetica Now Display Bold"/>
                <a:cs typeface="Helvetica Now Display Bold"/>
              </a:defRPr>
            </a:pPr>
            <a:r>
              <a:rPr sz="2250" b="1">
                <a:solidFill>
                  <a:srgbClr val="2588E6"/>
                </a:solidFill>
                <a:latin typeface="Helvetica Now Display Bold"/>
                <a:ea typeface="Helvetica Now Display Bold"/>
                <a:cs typeface="Helvetica Now Display Bold"/>
              </a:rPr>
              <a:t>Objectives</a:t>
            </a:r>
          </a:p>
        </p:txBody>
      </p:sp>
      <p:sp>
        <p:nvSpPr>
          <p:cNvPr id="10" name="objectives-list">
            <a:extLst>
              <a:ext uri="{FF2B5EF4-FFF2-40B4-BE49-F238E27FC236}">
                <a16:creationId xmlns:a16="http://schemas.microsoft.com/office/drawing/2014/main" id="{ACB4773E-2D05-4092-AB49-24548FBFBFC3}"/>
              </a:ext>
            </a:extLst>
          </p:cNvPr>
          <p:cNvSpPr>
            <a:spLocks noGrp="1"/>
          </p:cNvSpPr>
          <p:nvPr/>
        </p:nvSpPr>
        <p:spPr>
          <a:xfrm>
            <a:off x="2667000" y="4572000"/>
            <a:ext cx="6096000" cy="3429000"/>
          </a:xfrm>
          <a:prstGeom prst="rect">
            <a:avLst/>
          </a:prstGeom>
          <a:noFill/>
          <a:ln w="0">
            <a:noFill/>
            <a:prstDash val="solid"/>
          </a:ln>
        </p:spPr>
        <p:txBody>
          <a:bodyPr wrap="square" lIns="0" tIns="0" rIns="0" bIns="0" anchor="t">
            <a:noAutofit/>
          </a:bodyPr>
          <a:lstStyle/>
          <a:p>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Learner portal: browse, buy, review and book tutoring.</a:t>
            </a:r>
          </a:p>
          <a:p>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Admin portal with seven management tabs.</a:t>
            </a:r>
          </a:p>
          <a:p>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Event-driven domain automation.</a:t>
            </a:r>
          </a:p>
          <a:p>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Optional, fault-tolerant AI assistant.</a:t>
            </a:r>
          </a:p>
          <a:p>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Operational and CRM data in MariaDB.</a:t>
            </a:r>
          </a:p>
        </p:txBody>
      </p:sp>
      <p:sp>
        <p:nvSpPr>
          <p:cNvPr id="11" name="boundary-heading">
            <a:extLst>
              <a:ext uri="{FF2B5EF4-FFF2-40B4-BE49-F238E27FC236}">
                <a16:creationId xmlns:a16="http://schemas.microsoft.com/office/drawing/2014/main" id="{2D288D6A-5815-4F6D-B2CE-92F6DB35B1E9}"/>
              </a:ext>
            </a:extLst>
          </p:cNvPr>
          <p:cNvSpPr>
            <a:spLocks noGrp="1"/>
          </p:cNvSpPr>
          <p:nvPr/>
        </p:nvSpPr>
        <p:spPr>
          <a:xfrm>
            <a:off x="9620250" y="3952875"/>
            <a:ext cx="6191250" cy="419100"/>
          </a:xfrm>
          <a:prstGeom prst="rect">
            <a:avLst/>
          </a:prstGeom>
          <a:noFill/>
          <a:ln w="0">
            <a:noFill/>
            <a:prstDash val="solid"/>
          </a:ln>
        </p:spPr>
        <p:txBody>
          <a:bodyPr wrap="square" lIns="0" tIns="0" rIns="0" bIns="0" anchor="t">
            <a:noAutofit/>
          </a:bodyPr>
          <a:lstStyle/>
          <a:p>
            <a:pPr algn="l">
              <a:defRPr sz="2250" b="1">
                <a:solidFill>
                  <a:srgbClr val="022461"/>
                </a:solidFill>
                <a:latin typeface="Helvetica Now Display Bold"/>
                <a:ea typeface="Helvetica Now Display Bold"/>
                <a:cs typeface="Helvetica Now Display Bold"/>
              </a:defRPr>
            </a:pPr>
            <a:r>
              <a:rPr sz="2250" b="1">
                <a:solidFill>
                  <a:srgbClr val="022461"/>
                </a:solidFill>
                <a:latin typeface="Helvetica Now Display Bold"/>
                <a:ea typeface="Helvetica Now Display Bold"/>
                <a:cs typeface="Helvetica Now Display Bold"/>
              </a:rPr>
              <a:t>Design boundary</a:t>
            </a:r>
          </a:p>
        </p:txBody>
      </p:sp>
      <p:sp>
        <p:nvSpPr>
          <p:cNvPr id="12" name="boundary-body">
            <a:extLst>
              <a:ext uri="{FF2B5EF4-FFF2-40B4-BE49-F238E27FC236}">
                <a16:creationId xmlns:a16="http://schemas.microsoft.com/office/drawing/2014/main" id="{A171DEDC-5801-4C0C-A87E-4ACFC56BB2E2}"/>
              </a:ext>
            </a:extLst>
          </p:cNvPr>
          <p:cNvSpPr>
            <a:spLocks noGrp="1"/>
          </p:cNvSpPr>
          <p:nvPr/>
        </p:nvSpPr>
        <p:spPr>
          <a:xfrm>
            <a:off x="9620250" y="4572000"/>
            <a:ext cx="6191250" cy="2857500"/>
          </a:xfrm>
          <a:prstGeom prst="rect">
            <a:avLst/>
          </a:prstGeom>
          <a:noFill/>
          <a:ln w="0">
            <a:noFill/>
            <a:prstDash val="solid"/>
          </a:ln>
        </p:spPr>
        <p:txBody>
          <a:bodyPr wrap="square" lIns="0" tIns="0" rIns="0" bIns="0" anchor="t">
            <a:noAutofit/>
          </a:bodyPr>
          <a:lstStyle/>
          <a:p>
            <a:pPr algn="l">
              <a:defRPr sz="1800" b="0">
                <a:solidFill>
                  <a:srgbClr val="172033"/>
                </a:solidFill>
                <a:latin typeface="Calibri"/>
                <a:ea typeface="Calibri"/>
                <a:cs typeface="Calibri"/>
              </a:defRPr>
            </a:pPr>
            <a:r>
              <a:rPr sz="1800" b="0">
                <a:solidFill>
                  <a:srgbClr val="172033"/>
                </a:solidFill>
                <a:latin typeface="Calibri"/>
                <a:ea typeface="Calibri"/>
                <a:cs typeface="Calibri"/>
              </a:rPr>
              <a:t>Not a general-purpose e-commerce platform or CRM.</a:t>
            </a:r>
          </a:p>
          <a:p>
            <a:endParaRPr sz="1800" b="0">
              <a:solidFill>
                <a:srgbClr val="172033"/>
              </a:solidFill>
              <a:latin typeface="Calibri"/>
              <a:ea typeface="Calibri"/>
              <a:cs typeface="Calibri"/>
            </a:endParaRPr>
          </a:p>
          <a:p>
            <a:pPr algn="l">
              <a:defRPr sz="1800" b="0">
                <a:solidFill>
                  <a:srgbClr val="172033"/>
                </a:solidFill>
                <a:latin typeface="Calibri"/>
                <a:ea typeface="Calibri"/>
                <a:cs typeface="Calibri"/>
              </a:defRPr>
            </a:pPr>
            <a:r>
              <a:rPr sz="1800" b="0">
                <a:solidFill>
                  <a:srgbClr val="172033"/>
                </a:solidFill>
                <a:latin typeface="Calibri"/>
                <a:ea typeface="Calibri"/>
                <a:cs typeface="Calibri"/>
              </a:rPr>
              <a:t>A focused training-company system: learner storefront plus a CRM a small team can run, with AI strictly additive.</a:t>
            </a:r>
          </a:p>
        </p:txBody>
      </p:sp>
    </p:spTree>
    <p:extLst>
      <p:ext uri="{BB962C8B-B14F-4D97-AF65-F5344CB8AC3E}">
        <p14:creationId xmlns:p14="http://schemas.microsoft.com/office/powerpoint/2010/main" val="385390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slide-4-title">
            <a:extLst>
              <a:ext uri="{FF2B5EF4-FFF2-40B4-BE49-F238E27FC236}">
                <a16:creationId xmlns:a16="http://schemas.microsoft.com/office/drawing/2014/main" id="{0131B381-DAAB-479E-94D9-F53E566A7279}"/>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System Architecture</a:t>
            </a:r>
          </a:p>
        </p:txBody>
      </p:sp>
      <p:sp>
        <p:nvSpPr>
          <p:cNvPr id="4" name="slide-4-subtitle">
            <a:extLst>
              <a:ext uri="{FF2B5EF4-FFF2-40B4-BE49-F238E27FC236}">
                <a16:creationId xmlns:a16="http://schemas.microsoft.com/office/drawing/2014/main" id="{D30B24DD-AE9B-4887-8B49-95AC0C07FA41}"/>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Four layers behind one REST API and a real-time event stream</a:t>
            </a:r>
          </a:p>
        </p:txBody>
      </p:sp>
      <p:sp>
        <p:nvSpPr>
          <p:cNvPr id="5" name="slide-4-page-number">
            <a:extLst>
              <a:ext uri="{FF2B5EF4-FFF2-40B4-BE49-F238E27FC236}">
                <a16:creationId xmlns:a16="http://schemas.microsoft.com/office/drawing/2014/main" id="{98F271DE-C268-4986-A555-21C75EBDAAD6}"/>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4 / 7</a:t>
            </a:r>
          </a:p>
        </p:txBody>
      </p:sp>
      <p:pic>
        <p:nvPicPr>
          <p:cNvPr id="11" name="Picture 10"/>
          <p:cNvPicPr>
            <a:picLocks noChangeAspect="1"/>
          </p:cNvPicPr>
          <p:nvPr/>
        </p:nvPicPr>
        <p:blipFill>
          <a:blip r:embed="rId4"/>
          <a:stretch/>
        </p:blipFill>
        <p:spPr>
          <a:xfrm>
            <a:off x="3872552" y="1325647"/>
            <a:ext cx="10542896" cy="8523203"/>
          </a:xfrm>
          <a:prstGeom prst="rect">
            <a:avLst/>
          </a:prstGeom>
        </p:spPr>
      </p:pic>
    </p:spTree>
    <p:extLst>
      <p:ext uri="{BB962C8B-B14F-4D97-AF65-F5344CB8AC3E}">
        <p14:creationId xmlns:p14="http://schemas.microsoft.com/office/powerpoint/2010/main" val="385390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slide-5-title">
            <a:extLst>
              <a:ext uri="{FF2B5EF4-FFF2-40B4-BE49-F238E27FC236}">
                <a16:creationId xmlns:a16="http://schemas.microsoft.com/office/drawing/2014/main" id="{56D3C46A-0031-4838-8878-4FAB4B3A04CC}"/>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The AI Layer</a:t>
            </a:r>
          </a:p>
        </p:txBody>
      </p:sp>
      <p:sp>
        <p:nvSpPr>
          <p:cNvPr id="4" name="slide-5-subtitle">
            <a:extLst>
              <a:ext uri="{FF2B5EF4-FFF2-40B4-BE49-F238E27FC236}">
                <a16:creationId xmlns:a16="http://schemas.microsoft.com/office/drawing/2014/main" id="{B3460B52-BEED-42C6-9A14-03FF23F48629}"/>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Optional intelligence, powered by the Anthropic Claude API</a:t>
            </a:r>
          </a:p>
        </p:txBody>
      </p:sp>
      <p:sp>
        <p:nvSpPr>
          <p:cNvPr id="5" name="slide-5-page-number">
            <a:extLst>
              <a:ext uri="{FF2B5EF4-FFF2-40B4-BE49-F238E27FC236}">
                <a16:creationId xmlns:a16="http://schemas.microsoft.com/office/drawing/2014/main" id="{7FBCA810-46C6-46E9-8919-8EEDC068E264}"/>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5 / 7</a:t>
            </a:r>
          </a:p>
        </p:txBody>
      </p:sp>
      <p:sp>
        <p:nvSpPr>
          <p:cNvPr id="6" name="ai-feature-1-heading">
            <a:extLst>
              <a:ext uri="{FF2B5EF4-FFF2-40B4-BE49-F238E27FC236}">
                <a16:creationId xmlns:a16="http://schemas.microsoft.com/office/drawing/2014/main" id="{AAB9341D-2020-46FC-8E3E-036F710AAD14}"/>
              </a:ext>
            </a:extLst>
          </p:cNvPr>
          <p:cNvSpPr>
            <a:spLocks noGrp="1"/>
          </p:cNvSpPr>
          <p:nvPr/>
        </p:nvSpPr>
        <p:spPr>
          <a:xfrm>
            <a:off x="2571750" y="1762125"/>
            <a:ext cx="4000500" cy="323850"/>
          </a:xfrm>
          <a:prstGeom prst="rect">
            <a:avLst/>
          </a:prstGeom>
          <a:noFill/>
          <a:ln w="0">
            <a:noFill/>
            <a:prstDash val="solid"/>
          </a:ln>
        </p:spPr>
        <p:txBody>
          <a:bodyPr wrap="square" lIns="0" tIns="0" rIns="0" bIns="0" anchor="t">
            <a:noAutofit/>
          </a:bodyPr>
          <a:lstStyle/>
          <a:p>
            <a:pPr algn="l">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Conversational assistant</a:t>
            </a:r>
          </a:p>
        </p:txBody>
      </p:sp>
      <p:sp>
        <p:nvSpPr>
          <p:cNvPr id="7" name="ai-feature-1-endpoint">
            <a:extLst>
              <a:ext uri="{FF2B5EF4-FFF2-40B4-BE49-F238E27FC236}">
                <a16:creationId xmlns:a16="http://schemas.microsoft.com/office/drawing/2014/main" id="{0DAC9AA7-2B03-46D0-8BD0-3F3105DE1658}"/>
              </a:ext>
            </a:extLst>
          </p:cNvPr>
          <p:cNvSpPr>
            <a:spLocks noGrp="1"/>
          </p:cNvSpPr>
          <p:nvPr/>
        </p:nvSpPr>
        <p:spPr>
          <a:xfrm>
            <a:off x="6572250" y="1781175"/>
            <a:ext cx="3333750" cy="285750"/>
          </a:xfrm>
          <a:prstGeom prst="rect">
            <a:avLst/>
          </a:prstGeom>
          <a:noFill/>
          <a:ln w="0">
            <a:noFill/>
            <a:prstDash val="solid"/>
          </a:ln>
        </p:spPr>
        <p:txBody>
          <a:bodyPr wrap="square" lIns="0" tIns="0" rIns="0" bIns="0" anchor="t">
            <a:noAutofit/>
          </a:bodyPr>
          <a:lstStyle/>
          <a:p>
            <a:pPr algn="r">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/api/ai/chat</a:t>
            </a:r>
          </a:p>
        </p:txBody>
      </p:sp>
      <p:sp>
        <p:nvSpPr>
          <p:cNvPr id="8" name="ai-feature-1-body">
            <a:extLst>
              <a:ext uri="{FF2B5EF4-FFF2-40B4-BE49-F238E27FC236}">
                <a16:creationId xmlns:a16="http://schemas.microsoft.com/office/drawing/2014/main" id="{9751B014-C7E1-49A7-AFBE-4A79F1EC2D49}"/>
              </a:ext>
            </a:extLst>
          </p:cNvPr>
          <p:cNvSpPr>
            <a:spLocks noGrp="1"/>
          </p:cNvSpPr>
          <p:nvPr/>
        </p:nvSpPr>
        <p:spPr>
          <a:xfrm>
            <a:off x="2571750" y="2190750"/>
            <a:ext cx="7334250" cy="742950"/>
          </a:xfrm>
          <a:prstGeom prst="rect">
            <a:avLst/>
          </a:prstGeom>
          <a:noFill/>
          <a:ln w="0">
            <a:noFill/>
            <a:prstDash val="solid"/>
          </a:ln>
        </p:spPr>
        <p:txBody>
          <a:bodyPr wrap="square" lIns="0" tIns="0" rIns="0" bIns="0" anchor="t">
            <a:noAutofit/>
          </a:bodyPr>
          <a:lstStyle/>
          <a:p>
            <a:pPr algn="l">
              <a:defRPr sz="1575" b="0">
                <a:solidFill>
                  <a:srgbClr val="172033"/>
                </a:solidFill>
                <a:latin typeface="Calibri"/>
                <a:ea typeface="Calibri"/>
                <a:cs typeface="Calibri"/>
              </a:defRPr>
            </a:pPr>
            <a:r>
              <a:rPr sz="1575" b="0">
                <a:solidFill>
                  <a:srgbClr val="172033"/>
                </a:solidFill>
                <a:latin typeface="Calibri"/>
                <a:ea typeface="Calibri"/>
                <a:cs typeface="Calibri"/>
              </a:rPr>
              <a:t>Answers questions about courses, enrolment and corporate training using the live catalogue as context.</a:t>
            </a:r>
          </a:p>
        </p:txBody>
      </p:sp>
      <p:sp>
        <p:nvSpPr>
          <p:cNvPr id="9" name="Straight Connector 8">
            <a:extLst>
              <a:ext uri="{FF2B5EF4-FFF2-40B4-BE49-F238E27FC236}">
                <a16:creationId xmlns:a16="http://schemas.microsoft.com/office/drawing/2014/main" id="{1ED46A7B-7852-4A64-A102-0F9883BC7612}"/>
              </a:ext>
            </a:extLst>
          </p:cNvPr>
          <p:cNvSpPr>
            <a:spLocks noGrp="1"/>
          </p:cNvSpPr>
          <p:nvPr/>
        </p:nvSpPr>
        <p:spPr>
          <a:xfrm>
            <a:off x="2571750" y="3114675"/>
            <a:ext cx="7334250" cy="0"/>
          </a:xfrm>
          <a:prstGeom prst="line">
            <a:avLst/>
          </a:prstGeom>
          <a:noFill/>
          <a:ln w="19050">
            <a:solidFill>
              <a:srgbClr val="B8C9DC"/>
            </a:solidFill>
            <a:prstDash val="solid"/>
          </a:ln>
        </p:spPr>
        <p:txBody>
          <a:bodyPr/>
          <a:lstStyle/>
          <a:p>
            <a:endParaRPr lang="en-US"/>
          </a:p>
        </p:txBody>
      </p:sp>
      <p:sp>
        <p:nvSpPr>
          <p:cNvPr id="10" name="ai-feature-2-heading">
            <a:extLst>
              <a:ext uri="{FF2B5EF4-FFF2-40B4-BE49-F238E27FC236}">
                <a16:creationId xmlns:a16="http://schemas.microsoft.com/office/drawing/2014/main" id="{89619219-D047-4E3E-BA38-AE37A39CC414}"/>
              </a:ext>
            </a:extLst>
          </p:cNvPr>
          <p:cNvSpPr>
            <a:spLocks noGrp="1"/>
          </p:cNvSpPr>
          <p:nvPr/>
        </p:nvSpPr>
        <p:spPr>
          <a:xfrm>
            <a:off x="2571750" y="3324225"/>
            <a:ext cx="4000500" cy="323850"/>
          </a:xfrm>
          <a:prstGeom prst="rect">
            <a:avLst/>
          </a:prstGeom>
          <a:noFill/>
          <a:ln w="0">
            <a:noFill/>
            <a:prstDash val="solid"/>
          </a:ln>
        </p:spPr>
        <p:txBody>
          <a:bodyPr wrap="square" lIns="0" tIns="0" rIns="0" bIns="0" anchor="t">
            <a:noAutofit/>
          </a:bodyPr>
          <a:lstStyle/>
          <a:p>
            <a:pPr algn="l">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Recommendation quiz</a:t>
            </a:r>
          </a:p>
        </p:txBody>
      </p:sp>
      <p:sp>
        <p:nvSpPr>
          <p:cNvPr id="11" name="ai-feature-2-endpoint">
            <a:extLst>
              <a:ext uri="{FF2B5EF4-FFF2-40B4-BE49-F238E27FC236}">
                <a16:creationId xmlns:a16="http://schemas.microsoft.com/office/drawing/2014/main" id="{479E4CE3-E07F-4059-B72A-3D13C6A11C31}"/>
              </a:ext>
            </a:extLst>
          </p:cNvPr>
          <p:cNvSpPr>
            <a:spLocks noGrp="1"/>
          </p:cNvSpPr>
          <p:nvPr/>
        </p:nvSpPr>
        <p:spPr>
          <a:xfrm>
            <a:off x="6572250" y="3343275"/>
            <a:ext cx="3333750" cy="285750"/>
          </a:xfrm>
          <a:prstGeom prst="rect">
            <a:avLst/>
          </a:prstGeom>
          <a:noFill/>
          <a:ln w="0">
            <a:noFill/>
            <a:prstDash val="solid"/>
          </a:ln>
        </p:spPr>
        <p:txBody>
          <a:bodyPr wrap="square" lIns="0" tIns="0" rIns="0" bIns="0" anchor="t">
            <a:noAutofit/>
          </a:bodyPr>
          <a:lstStyle/>
          <a:p>
            <a:pPr algn="r">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/api/ai/recommendations/visitor</a:t>
            </a:r>
          </a:p>
        </p:txBody>
      </p:sp>
      <p:sp>
        <p:nvSpPr>
          <p:cNvPr id="12" name="ai-feature-2-body">
            <a:extLst>
              <a:ext uri="{FF2B5EF4-FFF2-40B4-BE49-F238E27FC236}">
                <a16:creationId xmlns:a16="http://schemas.microsoft.com/office/drawing/2014/main" id="{B2FC997B-8A90-486B-8C54-A76D0340F9C9}"/>
              </a:ext>
            </a:extLst>
          </p:cNvPr>
          <p:cNvSpPr>
            <a:spLocks noGrp="1"/>
          </p:cNvSpPr>
          <p:nvPr/>
        </p:nvSpPr>
        <p:spPr>
          <a:xfrm>
            <a:off x="2571750" y="3752850"/>
            <a:ext cx="7334250" cy="742950"/>
          </a:xfrm>
          <a:prstGeom prst="rect">
            <a:avLst/>
          </a:prstGeom>
          <a:noFill/>
          <a:ln w="0">
            <a:noFill/>
            <a:prstDash val="solid"/>
          </a:ln>
        </p:spPr>
        <p:txBody>
          <a:bodyPr wrap="square" lIns="0" tIns="0" rIns="0" bIns="0" anchor="t">
            <a:noAutofit/>
          </a:bodyPr>
          <a:lstStyle/>
          <a:p>
            <a:pPr algn="l">
              <a:defRPr sz="1575" b="0">
                <a:solidFill>
                  <a:srgbClr val="172033"/>
                </a:solidFill>
                <a:latin typeface="Calibri"/>
                <a:ea typeface="Calibri"/>
                <a:cs typeface="Calibri"/>
              </a:defRPr>
            </a:pPr>
            <a:r>
              <a:rPr sz="1575" b="0">
                <a:solidFill>
                  <a:srgbClr val="172033"/>
                </a:solidFill>
                <a:latin typeface="Calibri"/>
                <a:ea typeface="Calibri"/>
                <a:cs typeface="Calibri"/>
              </a:rPr>
              <a:t>Matches a visitor's interests, level and goal to courses, each with a fit score and a reason.</a:t>
            </a:r>
          </a:p>
        </p:txBody>
      </p:sp>
      <p:sp>
        <p:nvSpPr>
          <p:cNvPr id="13" name="Straight Connector 12">
            <a:extLst>
              <a:ext uri="{FF2B5EF4-FFF2-40B4-BE49-F238E27FC236}">
                <a16:creationId xmlns:a16="http://schemas.microsoft.com/office/drawing/2014/main" id="{229E46A8-8799-4863-8713-BAC4566F0EF1}"/>
              </a:ext>
            </a:extLst>
          </p:cNvPr>
          <p:cNvSpPr>
            <a:spLocks noGrp="1"/>
          </p:cNvSpPr>
          <p:nvPr/>
        </p:nvSpPr>
        <p:spPr>
          <a:xfrm>
            <a:off x="2571750" y="4676775"/>
            <a:ext cx="7334250" cy="0"/>
          </a:xfrm>
          <a:prstGeom prst="line">
            <a:avLst/>
          </a:prstGeom>
          <a:noFill/>
          <a:ln w="19050">
            <a:solidFill>
              <a:srgbClr val="B8C9DC"/>
            </a:solidFill>
            <a:prstDash val="solid"/>
          </a:ln>
        </p:spPr>
        <p:txBody>
          <a:bodyPr/>
          <a:lstStyle/>
          <a:p>
            <a:endParaRPr lang="en-US"/>
          </a:p>
        </p:txBody>
      </p:sp>
      <p:sp>
        <p:nvSpPr>
          <p:cNvPr id="14" name="ai-feature-3-heading">
            <a:extLst>
              <a:ext uri="{FF2B5EF4-FFF2-40B4-BE49-F238E27FC236}">
                <a16:creationId xmlns:a16="http://schemas.microsoft.com/office/drawing/2014/main" id="{26D8EDF7-C0E9-4002-8605-F5C33E609BC6}"/>
              </a:ext>
            </a:extLst>
          </p:cNvPr>
          <p:cNvSpPr>
            <a:spLocks noGrp="1"/>
          </p:cNvSpPr>
          <p:nvPr/>
        </p:nvSpPr>
        <p:spPr>
          <a:xfrm>
            <a:off x="2571750" y="4886325"/>
            <a:ext cx="4000500" cy="323850"/>
          </a:xfrm>
          <a:prstGeom prst="rect">
            <a:avLst/>
          </a:prstGeom>
          <a:noFill/>
          <a:ln w="0">
            <a:noFill/>
            <a:prstDash val="solid"/>
          </a:ln>
        </p:spPr>
        <p:txBody>
          <a:bodyPr wrap="square" lIns="0" tIns="0" rIns="0" bIns="0" anchor="t">
            <a:noAutofit/>
          </a:bodyPr>
          <a:lstStyle/>
          <a:p>
            <a:pPr algn="l">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Per-company recommendations</a:t>
            </a:r>
          </a:p>
        </p:txBody>
      </p:sp>
      <p:sp>
        <p:nvSpPr>
          <p:cNvPr id="15" name="ai-feature-3-endpoint">
            <a:extLst>
              <a:ext uri="{FF2B5EF4-FFF2-40B4-BE49-F238E27FC236}">
                <a16:creationId xmlns:a16="http://schemas.microsoft.com/office/drawing/2014/main" id="{5566BE2A-8A54-44BD-994F-38FB2D93B623}"/>
              </a:ext>
            </a:extLst>
          </p:cNvPr>
          <p:cNvSpPr>
            <a:spLocks noGrp="1"/>
          </p:cNvSpPr>
          <p:nvPr/>
        </p:nvSpPr>
        <p:spPr>
          <a:xfrm>
            <a:off x="6572250" y="4905375"/>
            <a:ext cx="3333750" cy="285750"/>
          </a:xfrm>
          <a:prstGeom prst="rect">
            <a:avLst/>
          </a:prstGeom>
          <a:noFill/>
          <a:ln w="0">
            <a:noFill/>
            <a:prstDash val="solid"/>
          </a:ln>
        </p:spPr>
        <p:txBody>
          <a:bodyPr wrap="square" lIns="0" tIns="0" rIns="0" bIns="0" anchor="t">
            <a:noAutofit/>
          </a:bodyPr>
          <a:lstStyle/>
          <a:p>
            <a:pPr algn="r">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/api/ai/recommendations/company</a:t>
            </a:r>
          </a:p>
        </p:txBody>
      </p:sp>
      <p:sp>
        <p:nvSpPr>
          <p:cNvPr id="16" name="ai-feature-3-body">
            <a:extLst>
              <a:ext uri="{FF2B5EF4-FFF2-40B4-BE49-F238E27FC236}">
                <a16:creationId xmlns:a16="http://schemas.microsoft.com/office/drawing/2014/main" id="{5F6AF55F-989F-4A95-A10E-831465C41123}"/>
              </a:ext>
            </a:extLst>
          </p:cNvPr>
          <p:cNvSpPr>
            <a:spLocks noGrp="1"/>
          </p:cNvSpPr>
          <p:nvPr/>
        </p:nvSpPr>
        <p:spPr>
          <a:xfrm>
            <a:off x="2571750" y="5314950"/>
            <a:ext cx="7334250" cy="742950"/>
          </a:xfrm>
          <a:prstGeom prst="rect">
            <a:avLst/>
          </a:prstGeom>
          <a:noFill/>
          <a:ln w="0">
            <a:noFill/>
            <a:prstDash val="solid"/>
          </a:ln>
        </p:spPr>
        <p:txBody>
          <a:bodyPr wrap="square" lIns="0" tIns="0" rIns="0" bIns="0" anchor="t">
            <a:noAutofit/>
          </a:bodyPr>
          <a:lstStyle/>
          <a:p>
            <a:pPr algn="l">
              <a:defRPr sz="1575" b="0">
                <a:solidFill>
                  <a:srgbClr val="172033"/>
                </a:solidFill>
                <a:latin typeface="Calibri"/>
                <a:ea typeface="Calibri"/>
                <a:cs typeface="Calibri"/>
              </a:defRPr>
            </a:pPr>
            <a:r>
              <a:rPr sz="1575" b="0">
                <a:solidFill>
                  <a:srgbClr val="172033"/>
                </a:solidFill>
                <a:latin typeface="Calibri"/>
                <a:ea typeface="Calibri"/>
                <a:cs typeface="Calibri"/>
              </a:rPr>
              <a:t>Analyses employee roles and interests to propose a training programme for a whole team.</a:t>
            </a:r>
          </a:p>
        </p:txBody>
      </p:sp>
      <p:sp>
        <p:nvSpPr>
          <p:cNvPr id="17" name="Straight Connector 16">
            <a:extLst>
              <a:ext uri="{FF2B5EF4-FFF2-40B4-BE49-F238E27FC236}">
                <a16:creationId xmlns:a16="http://schemas.microsoft.com/office/drawing/2014/main" id="{DC55E73B-BAC3-491F-99DF-93493053DCF1}"/>
              </a:ext>
            </a:extLst>
          </p:cNvPr>
          <p:cNvSpPr>
            <a:spLocks noGrp="1"/>
          </p:cNvSpPr>
          <p:nvPr/>
        </p:nvSpPr>
        <p:spPr>
          <a:xfrm>
            <a:off x="2571750" y="6238875"/>
            <a:ext cx="7334250" cy="0"/>
          </a:xfrm>
          <a:prstGeom prst="line">
            <a:avLst/>
          </a:prstGeom>
          <a:noFill/>
          <a:ln w="19050">
            <a:solidFill>
              <a:srgbClr val="B8C9DC"/>
            </a:solidFill>
            <a:prstDash val="solid"/>
          </a:ln>
        </p:spPr>
        <p:txBody>
          <a:bodyPr/>
          <a:lstStyle/>
          <a:p>
            <a:endParaRPr lang="en-US"/>
          </a:p>
        </p:txBody>
      </p:sp>
      <p:sp>
        <p:nvSpPr>
          <p:cNvPr id="18" name="ai-feature-4-heading">
            <a:extLst>
              <a:ext uri="{FF2B5EF4-FFF2-40B4-BE49-F238E27FC236}">
                <a16:creationId xmlns:a16="http://schemas.microsoft.com/office/drawing/2014/main" id="{4D03BD6C-2AC6-4318-8BAB-7761C8CDF91F}"/>
              </a:ext>
            </a:extLst>
          </p:cNvPr>
          <p:cNvSpPr>
            <a:spLocks noGrp="1"/>
          </p:cNvSpPr>
          <p:nvPr/>
        </p:nvSpPr>
        <p:spPr>
          <a:xfrm>
            <a:off x="2571750" y="6448425"/>
            <a:ext cx="4000500" cy="323850"/>
          </a:xfrm>
          <a:prstGeom prst="rect">
            <a:avLst/>
          </a:prstGeom>
          <a:noFill/>
          <a:ln w="0">
            <a:noFill/>
            <a:prstDash val="solid"/>
          </a:ln>
        </p:spPr>
        <p:txBody>
          <a:bodyPr wrap="square" lIns="0" tIns="0" rIns="0" bIns="0" anchor="t">
            <a:noAutofit/>
          </a:bodyPr>
          <a:lstStyle/>
          <a:p>
            <a:pPr algn="l">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Live page translation</a:t>
            </a:r>
          </a:p>
        </p:txBody>
      </p:sp>
      <p:sp>
        <p:nvSpPr>
          <p:cNvPr id="19" name="ai-feature-4-endpoint">
            <a:extLst>
              <a:ext uri="{FF2B5EF4-FFF2-40B4-BE49-F238E27FC236}">
                <a16:creationId xmlns:a16="http://schemas.microsoft.com/office/drawing/2014/main" id="{35B79827-3DA8-4D24-B64E-2E6615278172}"/>
              </a:ext>
            </a:extLst>
          </p:cNvPr>
          <p:cNvSpPr>
            <a:spLocks noGrp="1"/>
          </p:cNvSpPr>
          <p:nvPr/>
        </p:nvSpPr>
        <p:spPr>
          <a:xfrm>
            <a:off x="6572250" y="6467475"/>
            <a:ext cx="3333750" cy="285750"/>
          </a:xfrm>
          <a:prstGeom prst="rect">
            <a:avLst/>
          </a:prstGeom>
          <a:noFill/>
          <a:ln w="0">
            <a:noFill/>
            <a:prstDash val="solid"/>
          </a:ln>
        </p:spPr>
        <p:txBody>
          <a:bodyPr wrap="square" lIns="0" tIns="0" rIns="0" bIns="0" anchor="t">
            <a:noAutofit/>
          </a:bodyPr>
          <a:lstStyle/>
          <a:p>
            <a:pPr algn="r">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/api/ai/translate</a:t>
            </a:r>
          </a:p>
        </p:txBody>
      </p:sp>
      <p:sp>
        <p:nvSpPr>
          <p:cNvPr id="20" name="ai-feature-4-body">
            <a:extLst>
              <a:ext uri="{FF2B5EF4-FFF2-40B4-BE49-F238E27FC236}">
                <a16:creationId xmlns:a16="http://schemas.microsoft.com/office/drawing/2014/main" id="{DE52F377-CD0E-4BCA-B19F-0AE45F01BBAF}"/>
              </a:ext>
            </a:extLst>
          </p:cNvPr>
          <p:cNvSpPr>
            <a:spLocks noGrp="1"/>
          </p:cNvSpPr>
          <p:nvPr/>
        </p:nvSpPr>
        <p:spPr>
          <a:xfrm>
            <a:off x="2571750" y="6877050"/>
            <a:ext cx="7334250" cy="742950"/>
          </a:xfrm>
          <a:prstGeom prst="rect">
            <a:avLst/>
          </a:prstGeom>
          <a:noFill/>
          <a:ln w="0">
            <a:noFill/>
            <a:prstDash val="solid"/>
          </a:ln>
        </p:spPr>
        <p:txBody>
          <a:bodyPr wrap="square" lIns="0" tIns="0" rIns="0" bIns="0" anchor="t">
            <a:noAutofit/>
          </a:bodyPr>
          <a:lstStyle/>
          <a:p>
            <a:pPr algn="l">
              <a:defRPr sz="1575" b="0">
                <a:solidFill>
                  <a:srgbClr val="172033"/>
                </a:solidFill>
                <a:latin typeface="Calibri"/>
                <a:ea typeface="Calibri"/>
                <a:cs typeface="Calibri"/>
              </a:defRPr>
            </a:pPr>
            <a:r>
              <a:rPr sz="1575" b="0">
                <a:solidFill>
                  <a:srgbClr val="172033"/>
                </a:solidFill>
                <a:latin typeface="Calibri"/>
                <a:ea typeface="Calibri"/>
                <a:cs typeface="Calibri"/>
              </a:rPr>
              <a:t>Translates the interface while preserving brand names, people, e-mails and numbers.</a:t>
            </a:r>
          </a:p>
        </p:txBody>
      </p:sp>
      <p:pic>
        <p:nvPicPr>
          <p:cNvPr id="43" name="Picture 42"/>
          <p:cNvPicPr>
            <a:picLocks noChangeAspect="1"/>
          </p:cNvPicPr>
          <p:nvPr/>
        </p:nvPicPr>
        <p:blipFill>
          <a:blip r:embed="rId4"/>
          <a:stretch/>
        </p:blipFill>
        <p:spPr>
          <a:xfrm>
            <a:off x="10582672" y="1809750"/>
            <a:ext cx="5409406" cy="3381375"/>
          </a:xfrm>
          <a:prstGeom prst="rect">
            <a:avLst/>
          </a:prstGeom>
        </p:spPr>
      </p:pic>
      <p:sp>
        <p:nvSpPr>
          <p:cNvPr id="22" name="ai-implementation-note">
            <a:extLst>
              <a:ext uri="{FF2B5EF4-FFF2-40B4-BE49-F238E27FC236}">
                <a16:creationId xmlns:a16="http://schemas.microsoft.com/office/drawing/2014/main" id="{3EB583CA-672E-4EB1-9F23-03B098969B56}"/>
              </a:ext>
            </a:extLst>
          </p:cNvPr>
          <p:cNvSpPr>
            <a:spLocks noGrp="1"/>
          </p:cNvSpPr>
          <p:nvPr/>
        </p:nvSpPr>
        <p:spPr>
          <a:xfrm>
            <a:off x="10572750" y="5572125"/>
            <a:ext cx="5429250" cy="2000250"/>
          </a:xfrm>
          <a:prstGeom prst="rect">
            <a:avLst/>
          </a:prstGeom>
          <a:noFill/>
          <a:ln w="0">
            <a:noFill/>
            <a:prstDash val="solid"/>
          </a:ln>
        </p:spPr>
        <p:txBody>
          <a:bodyPr wrap="square" lIns="0" tIns="0" rIns="0" bIns="0" anchor="t">
            <a:noAutofit/>
          </a:bodyPr>
          <a:lstStyle/>
          <a:p>
            <a:pPr algn="l">
              <a:defRPr sz="1650" b="0">
                <a:solidFill>
                  <a:srgbClr val="172033"/>
                </a:solidFill>
                <a:latin typeface="Calibri"/>
                <a:ea typeface="Calibri"/>
                <a:cs typeface="Calibri"/>
              </a:defRPr>
            </a:pPr>
            <a:r>
              <a:rPr sz="1650" b="0">
                <a:solidFill>
                  <a:srgbClr val="172033"/>
                </a:solidFill>
                <a:latin typeface="Calibri"/>
                <a:ea typeface="Calibri"/>
                <a:cs typeface="Calibri"/>
              </a:rPr>
              <a:t>All four features share one Claude client and one API key. The prompts, REST endpoints, structured JSON handling and matching interfaces are isolated so the application remains fully operational when AI is not configured.</a:t>
            </a:r>
          </a:p>
        </p:txBody>
      </p:sp>
      <p:sp>
        <p:nvSpPr>
          <p:cNvPr id="23" name="ai-additive-callout">
            <a:extLst>
              <a:ext uri="{FF2B5EF4-FFF2-40B4-BE49-F238E27FC236}">
                <a16:creationId xmlns:a16="http://schemas.microsoft.com/office/drawing/2014/main" id="{9D0A4330-8D8B-4507-B3B0-7E2043A8B8E7}"/>
              </a:ext>
            </a:extLst>
          </p:cNvPr>
          <p:cNvSpPr>
            <a:spLocks noGrp="1"/>
          </p:cNvSpPr>
          <p:nvPr/>
        </p:nvSpPr>
        <p:spPr>
          <a:xfrm>
            <a:off x="2571750" y="8096250"/>
            <a:ext cx="11334750" cy="571500"/>
          </a:xfrm>
          <a:prstGeom prst="roundRect">
            <a:avLst>
              <a:gd name="adj" fmla="val 20000"/>
            </a:avLst>
          </a:prstGeom>
          <a:solidFill>
            <a:srgbClr val="022461"/>
          </a:solidFill>
          <a:ln w="0">
            <a:solidFill>
              <a:srgbClr val="022461"/>
            </a:solidFill>
            <a:prstDash val="solid"/>
          </a:ln>
        </p:spPr>
        <p:txBody>
          <a:bodyPr wrap="square" lIns="190500" tIns="76200" rIns="190500" bIns="76200" anchor="ctr">
            <a:noAutofit/>
          </a:bodyPr>
          <a:lstStyle/>
          <a:p>
            <a:pPr algn="ctr">
              <a:defRPr sz="1575" b="1">
                <a:solidFill>
                  <a:srgbClr val="FFFFFF"/>
                </a:solidFill>
                <a:latin typeface="Calibri"/>
                <a:ea typeface="Calibri"/>
                <a:cs typeface="Calibri"/>
              </a:defRPr>
            </a:pPr>
            <a:r>
              <a:rPr sz="1575" b="1">
                <a:solidFill>
                  <a:srgbClr val="FFFFFF"/>
                </a:solidFill>
                <a:latin typeface="Calibri"/>
                <a:ea typeface="Calibri"/>
                <a:cs typeface="Calibri"/>
              </a:rPr>
              <a:t>Strictly additive: without an API key, AI controls disappear and the core application keeps working.</a:t>
            </a:r>
          </a:p>
        </p:txBody>
      </p:sp>
    </p:spTree>
    <p:extLst>
      <p:ext uri="{BB962C8B-B14F-4D97-AF65-F5344CB8AC3E}">
        <p14:creationId xmlns:p14="http://schemas.microsoft.com/office/powerpoint/2010/main" val="385390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5"/>
            <a:stretch>
              <a:fillRect/>
            </a:stretch>
          </a:blipFill>
        </p:spPr>
        <p:txBody>
          <a:bodyPr/>
          <a:lstStyle/>
          <a:p>
            <a:endParaRPr lang="en-US"/>
          </a:p>
        </p:txBody>
      </p:sp>
      <p:sp>
        <p:nvSpPr>
          <p:cNvPr id="3" name="slide-6-title">
            <a:extLst>
              <a:ext uri="{FF2B5EF4-FFF2-40B4-BE49-F238E27FC236}">
                <a16:creationId xmlns:a16="http://schemas.microsoft.com/office/drawing/2014/main" id="{8F4FA45D-CBEC-4192-9EDC-EF7F856D84C7}"/>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Application Demo</a:t>
            </a:r>
          </a:p>
        </p:txBody>
      </p:sp>
      <p:sp>
        <p:nvSpPr>
          <p:cNvPr id="4" name="slide-6-subtitle">
            <a:extLst>
              <a:ext uri="{FF2B5EF4-FFF2-40B4-BE49-F238E27FC236}">
                <a16:creationId xmlns:a16="http://schemas.microsoft.com/office/drawing/2014/main" id="{D44233B3-38C1-453F-A393-DAEFC373157C}"/>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Live application walkthrough</a:t>
            </a:r>
          </a:p>
        </p:txBody>
      </p:sp>
      <p:sp>
        <p:nvSpPr>
          <p:cNvPr id="5" name="slide-6-page-number">
            <a:extLst>
              <a:ext uri="{FF2B5EF4-FFF2-40B4-BE49-F238E27FC236}">
                <a16:creationId xmlns:a16="http://schemas.microsoft.com/office/drawing/2014/main" id="{7EEDCDF1-1F9C-4D9C-A4CE-2BCAE3752B1A}"/>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6 / 7</a:t>
            </a:r>
          </a:p>
        </p:txBody>
      </p:sp>
      <p:sp>
        <p:nvSpPr>
          <p:cNvPr id="6" name="live-demo-label">
            <a:extLst>
              <a:ext uri="{FF2B5EF4-FFF2-40B4-BE49-F238E27FC236}">
                <a16:creationId xmlns:a16="http://schemas.microsoft.com/office/drawing/2014/main" id="{39609840-71B7-425E-9E9E-59F460AE2E0D}"/>
              </a:ext>
            </a:extLst>
          </p:cNvPr>
          <p:cNvSpPr>
            <a:spLocks noGrp="1"/>
          </p:cNvSpPr>
          <p:nvPr/>
        </p:nvSpPr>
        <p:spPr>
          <a:xfrm>
            <a:off x="4667250" y="3429000"/>
            <a:ext cx="8953500" cy="1143000"/>
          </a:xfrm>
          <a:prstGeom prst="rect">
            <a:avLst/>
          </a:prstGeom>
          <a:noFill/>
          <a:ln w="0">
            <a:noFill/>
            <a:prstDash val="solid"/>
          </a:ln>
        </p:spPr>
        <p:txBody>
          <a:bodyPr wrap="square" lIns="0" tIns="0" rIns="0" bIns="0" anchor="ctr">
            <a:noAutofit/>
          </a:bodyPr>
          <a:lstStyle/>
          <a:p>
            <a:pPr algn="ctr">
              <a:defRPr sz="5700" b="1">
                <a:solidFill>
                  <a:srgbClr val="022461"/>
                </a:solidFill>
                <a:latin typeface="Helvetica Now Display Bold"/>
                <a:ea typeface="Helvetica Now Display Bold"/>
                <a:cs typeface="Helvetica Now Display Bold"/>
              </a:defRPr>
            </a:pPr>
            <a:r>
              <a:rPr sz="5700" b="1">
                <a:solidFill>
                  <a:srgbClr val="022461"/>
                </a:solidFill>
                <a:latin typeface="Helvetica Now Display Bold"/>
                <a:ea typeface="Helvetica Now Display Bold"/>
                <a:cs typeface="Helvetica Now Display Bold"/>
              </a:rPr>
              <a:t>LIVE DEMO</a:t>
            </a:r>
          </a:p>
        </p:txBody>
      </p:sp>
      <p:sp>
        <p:nvSpPr>
          <p:cNvPr id="7" name="live-demo-flow">
            <a:extLst>
              <a:ext uri="{FF2B5EF4-FFF2-40B4-BE49-F238E27FC236}">
                <a16:creationId xmlns:a16="http://schemas.microsoft.com/office/drawing/2014/main" id="{0E706D85-9E7F-4D91-A4D1-0BCD015F8EB1}"/>
              </a:ext>
            </a:extLst>
          </p:cNvPr>
          <p:cNvSpPr>
            <a:spLocks noGrp="1"/>
          </p:cNvSpPr>
          <p:nvPr/>
        </p:nvSpPr>
        <p:spPr>
          <a:xfrm>
            <a:off x="4667250" y="4810125"/>
            <a:ext cx="8953500" cy="523875"/>
          </a:xfrm>
          <a:prstGeom prst="rect">
            <a:avLst/>
          </a:prstGeom>
          <a:noFill/>
          <a:ln w="0">
            <a:noFill/>
            <a:prstDash val="solid"/>
          </a:ln>
        </p:spPr>
        <p:txBody>
          <a:bodyPr wrap="square" lIns="0" tIns="0" rIns="0" bIns="0" anchor="ctr">
            <a:noAutofit/>
          </a:bodyPr>
          <a:lstStyle/>
          <a:p>
            <a:pPr algn="ctr">
              <a:defRPr sz="2100" b="0">
                <a:solidFill>
                  <a:srgbClr val="2F5D8C"/>
                </a:solidFill>
                <a:latin typeface="Calibri"/>
                <a:ea typeface="Calibri"/>
                <a:cs typeface="Calibri"/>
              </a:defRPr>
            </a:pPr>
            <a:r>
              <a:rPr sz="2100" b="0">
                <a:solidFill>
                  <a:srgbClr val="2F5D8C"/>
                </a:solidFill>
                <a:latin typeface="Calibri"/>
                <a:ea typeface="Calibri"/>
                <a:cs typeface="Calibri"/>
              </a:rPr>
              <a:t>Storefront  →  CRM workflow  →  AI layer</a:t>
            </a:r>
          </a:p>
        </p:txBody>
      </p:sp>
      <p:pic>
        <p:nvPicPr>
          <p:cNvPr id="11" name="In Powerpoint">
            <a:hlinkClick r:id="" action="ppaction://media"/>
            <a:extLst>
              <a:ext uri="{FF2B5EF4-FFF2-40B4-BE49-F238E27FC236}">
                <a16:creationId xmlns:a16="http://schemas.microsoft.com/office/drawing/2014/main" id="{6D374CC2-8D1F-DF5B-7FBA-C95AB3C8B9AD}"/>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3048000" y="1714500"/>
            <a:ext cx="12192000" cy="6858000"/>
          </a:xfrm>
          <a:prstGeom prst="rect">
            <a:avLst/>
          </a:prstGeom>
        </p:spPr>
      </p:pic>
    </p:spTree>
    <p:extLst>
      <p:ext uri="{BB962C8B-B14F-4D97-AF65-F5344CB8AC3E}">
        <p14:creationId xmlns:p14="http://schemas.microsoft.com/office/powerpoint/2010/main" val="385390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538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slide-7-title">
            <a:extLst>
              <a:ext uri="{FF2B5EF4-FFF2-40B4-BE49-F238E27FC236}">
                <a16:creationId xmlns:a16="http://schemas.microsoft.com/office/drawing/2014/main" id="{9D72D6C9-DBC4-4F7F-8D1E-3A0C4C03BD89}"/>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Conclusion</a:t>
            </a:r>
          </a:p>
        </p:txBody>
      </p:sp>
      <p:sp>
        <p:nvSpPr>
          <p:cNvPr id="4" name="slide-7-subtitle">
            <a:extLst>
              <a:ext uri="{FF2B5EF4-FFF2-40B4-BE49-F238E27FC236}">
                <a16:creationId xmlns:a16="http://schemas.microsoft.com/office/drawing/2014/main" id="{96F4D6A4-9BE2-4BE2-A8B1-ED876613B6AE}"/>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TrainingIT demonstrates one coherent storefront and CRM</a:t>
            </a:r>
          </a:p>
        </p:txBody>
      </p:sp>
      <p:sp>
        <p:nvSpPr>
          <p:cNvPr id="5" name="slide-7-page-number">
            <a:extLst>
              <a:ext uri="{FF2B5EF4-FFF2-40B4-BE49-F238E27FC236}">
                <a16:creationId xmlns:a16="http://schemas.microsoft.com/office/drawing/2014/main" id="{C114B6BE-8482-4CC5-AE68-81D9FC48CC3D}"/>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7 / 7</a:t>
            </a:r>
          </a:p>
        </p:txBody>
      </p:sp>
      <p:sp>
        <p:nvSpPr>
          <p:cNvPr id="6" name="implemented-heading">
            <a:extLst>
              <a:ext uri="{FF2B5EF4-FFF2-40B4-BE49-F238E27FC236}">
                <a16:creationId xmlns:a16="http://schemas.microsoft.com/office/drawing/2014/main" id="{0641FC5D-EB28-4F95-96AB-333939BFDD51}"/>
              </a:ext>
            </a:extLst>
          </p:cNvPr>
          <p:cNvSpPr>
            <a:spLocks noGrp="1"/>
          </p:cNvSpPr>
          <p:nvPr/>
        </p:nvSpPr>
        <p:spPr>
          <a:xfrm>
            <a:off x="2571750" y="1857375"/>
            <a:ext cx="6381750" cy="438150"/>
          </a:xfrm>
          <a:prstGeom prst="rect">
            <a:avLst/>
          </a:prstGeom>
          <a:noFill/>
          <a:ln w="0">
            <a:noFill/>
            <a:prstDash val="solid"/>
          </a:ln>
        </p:spPr>
        <p:txBody>
          <a:bodyPr wrap="square" lIns="0" tIns="0" rIns="0" bIns="0" anchor="t">
            <a:noAutofit/>
          </a:bodyPr>
          <a:lstStyle/>
          <a:p>
            <a:pPr algn="l">
              <a:defRPr sz="2325" b="1">
                <a:solidFill>
                  <a:srgbClr val="022461"/>
                </a:solidFill>
                <a:latin typeface="Helvetica Now Display Bold"/>
                <a:ea typeface="Helvetica Now Display Bold"/>
                <a:cs typeface="Helvetica Now Display Bold"/>
              </a:defRPr>
            </a:pPr>
            <a:r>
              <a:rPr sz="2325" b="1">
                <a:solidFill>
                  <a:srgbClr val="022461"/>
                </a:solidFill>
                <a:latin typeface="Helvetica Now Display Bold"/>
                <a:ea typeface="Helvetica Now Display Bold"/>
                <a:cs typeface="Helvetica Now Display Bold"/>
              </a:rPr>
              <a:t>Implemented</a:t>
            </a:r>
          </a:p>
        </p:txBody>
      </p:sp>
      <p:sp>
        <p:nvSpPr>
          <p:cNvPr id="7" name="implemented-list">
            <a:extLst>
              <a:ext uri="{FF2B5EF4-FFF2-40B4-BE49-F238E27FC236}">
                <a16:creationId xmlns:a16="http://schemas.microsoft.com/office/drawing/2014/main" id="{96D7C375-566B-4C7D-928A-B3DAD3ED7615}"/>
              </a:ext>
            </a:extLst>
          </p:cNvPr>
          <p:cNvSpPr>
            <a:spLocks noGrp="1"/>
          </p:cNvSpPr>
          <p:nvPr/>
        </p:nvSpPr>
        <p:spPr>
          <a:xfrm>
            <a:off x="2667000" y="2524125"/>
            <a:ext cx="6286500" cy="4381500"/>
          </a:xfrm>
          <a:prstGeom prst="rect">
            <a:avLst/>
          </a:prstGeom>
          <a:noFill/>
          <a:ln w="0">
            <a:noFill/>
            <a:prstDash val="solid"/>
          </a:ln>
        </p:spPr>
        <p:txBody>
          <a:bodyPr wrap="square" lIns="0" tIns="0" rIns="0" bIns="0" anchor="t">
            <a:noAutofit/>
          </a:bodyPr>
          <a:lstStyle/>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Learner portal: catalogue, purchase, reviews and tutoring.</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CRM portal: contacts, purchases, invoices, analytics and issues.</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Event-driven domain: automated lead scoring and invoicing.</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Live SSE statistics, imports and multi-format exports.</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Optional Claude assistant, recommendations and translation.</a:t>
            </a:r>
          </a:p>
        </p:txBody>
      </p:sp>
      <p:sp>
        <p:nvSpPr>
          <p:cNvPr id="8" name="validated-heading">
            <a:extLst>
              <a:ext uri="{FF2B5EF4-FFF2-40B4-BE49-F238E27FC236}">
                <a16:creationId xmlns:a16="http://schemas.microsoft.com/office/drawing/2014/main" id="{2F4B0F74-22D0-40F7-8047-5B8016B2F8EE}"/>
              </a:ext>
            </a:extLst>
          </p:cNvPr>
          <p:cNvSpPr>
            <a:spLocks noGrp="1"/>
          </p:cNvSpPr>
          <p:nvPr/>
        </p:nvSpPr>
        <p:spPr>
          <a:xfrm>
            <a:off x="9620250" y="1857375"/>
            <a:ext cx="6381750" cy="438150"/>
          </a:xfrm>
          <a:prstGeom prst="rect">
            <a:avLst/>
          </a:prstGeom>
          <a:noFill/>
          <a:ln w="0">
            <a:noFill/>
            <a:prstDash val="solid"/>
          </a:ln>
        </p:spPr>
        <p:txBody>
          <a:bodyPr wrap="square" lIns="0" tIns="0" rIns="0" bIns="0" anchor="t">
            <a:noAutofit/>
          </a:bodyPr>
          <a:lstStyle/>
          <a:p>
            <a:pPr algn="l">
              <a:defRPr sz="2325" b="1">
                <a:solidFill>
                  <a:srgbClr val="022461"/>
                </a:solidFill>
                <a:latin typeface="Helvetica Now Display Bold"/>
                <a:ea typeface="Helvetica Now Display Bold"/>
                <a:cs typeface="Helvetica Now Display Bold"/>
              </a:defRPr>
            </a:pPr>
            <a:r>
              <a:rPr sz="2325" b="1">
                <a:solidFill>
                  <a:srgbClr val="022461"/>
                </a:solidFill>
                <a:latin typeface="Helvetica Now Display Bold"/>
                <a:ea typeface="Helvetica Now Display Bold"/>
                <a:cs typeface="Helvetica Now Display Bold"/>
              </a:rPr>
              <a:t>Validated and next steps</a:t>
            </a:r>
          </a:p>
        </p:txBody>
      </p:sp>
      <p:sp>
        <p:nvSpPr>
          <p:cNvPr id="9" name="validated-list">
            <a:extLst>
              <a:ext uri="{FF2B5EF4-FFF2-40B4-BE49-F238E27FC236}">
                <a16:creationId xmlns:a16="http://schemas.microsoft.com/office/drawing/2014/main" id="{7C5D40FB-6697-4923-8D50-EB0D151624F1}"/>
              </a:ext>
            </a:extLst>
          </p:cNvPr>
          <p:cNvSpPr>
            <a:spLocks noGrp="1"/>
          </p:cNvSpPr>
          <p:nvPr/>
        </p:nvSpPr>
        <p:spPr>
          <a:xfrm>
            <a:off x="9715500" y="2524125"/>
            <a:ext cx="6286500" cy="4381500"/>
          </a:xfrm>
          <a:prstGeom prst="rect">
            <a:avLst/>
          </a:prstGeom>
          <a:noFill/>
          <a:ln w="0">
            <a:noFill/>
            <a:prstDash val="solid"/>
          </a:ln>
        </p:spPr>
        <p:txBody>
          <a:bodyPr wrap="square" lIns="0" tIns="0" rIns="0" bIns="0" anchor="t">
            <a:noAutofit/>
          </a:bodyPr>
          <a:lstStyle/>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End-to-end flows verified against a real MariaDB instance.</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Duplicate invoices prevented through idempotent processing.</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Observer failures are isolated; optional AI degrades safely.</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Next: automated tests and production-grade authentication.</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Next: richer analytics and cloud deployment.</a:t>
            </a:r>
          </a:p>
        </p:txBody>
      </p:sp>
      <p:sp>
        <p:nvSpPr>
          <p:cNvPr id="10" name="conclusion-takeaway">
            <a:extLst>
              <a:ext uri="{FF2B5EF4-FFF2-40B4-BE49-F238E27FC236}">
                <a16:creationId xmlns:a16="http://schemas.microsoft.com/office/drawing/2014/main" id="{C1C55BAE-CC09-4F1C-9FF8-5699C032A406}"/>
              </a:ext>
            </a:extLst>
          </p:cNvPr>
          <p:cNvSpPr>
            <a:spLocks noGrp="1"/>
          </p:cNvSpPr>
          <p:nvPr/>
        </p:nvSpPr>
        <p:spPr>
          <a:xfrm>
            <a:off x="2571750" y="7715250"/>
            <a:ext cx="11334750" cy="876300"/>
          </a:xfrm>
          <a:prstGeom prst="roundRect">
            <a:avLst>
              <a:gd name="adj" fmla="val 15217"/>
            </a:avLst>
          </a:prstGeom>
          <a:solidFill>
            <a:srgbClr val="022461"/>
          </a:solidFill>
          <a:ln w="0">
            <a:solidFill>
              <a:srgbClr val="022461"/>
            </a:solidFill>
            <a:prstDash val="solid"/>
          </a:ln>
        </p:spPr>
        <p:txBody>
          <a:bodyPr wrap="square" lIns="228600" tIns="114300" rIns="228600" bIns="114300" anchor="ctr">
            <a:noAutofit/>
          </a:bodyPr>
          <a:lstStyle/>
          <a:p>
            <a:pPr algn="ctr">
              <a:defRPr sz="1725" b="1">
                <a:solidFill>
                  <a:srgbClr val="FFFFFF"/>
                </a:solidFill>
                <a:latin typeface="Calibri"/>
                <a:ea typeface="Calibri"/>
                <a:cs typeface="Calibri"/>
              </a:defRPr>
            </a:pPr>
            <a:r>
              <a:rPr sz="1725" b="1">
                <a:solidFill>
                  <a:srgbClr val="FFFFFF"/>
                </a:solidFill>
                <a:latin typeface="Calibri"/>
                <a:ea typeface="Calibri"/>
                <a:cs typeface="Calibri"/>
              </a:rPr>
              <a:t>Each customer action is recorded once and becomes immediately available to the business.</a:t>
            </a:r>
          </a:p>
        </p:txBody>
      </p:sp>
    </p:spTree>
    <p:extLst>
      <p:ext uri="{BB962C8B-B14F-4D97-AF65-F5344CB8AC3E}">
        <p14:creationId xmlns:p14="http://schemas.microsoft.com/office/powerpoint/2010/main" val="3853900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766</Words>
  <Application>Microsoft Office PowerPoint</Application>
  <DocSecurity>0</DocSecurity>
  <PresentationFormat>Custom</PresentationFormat>
  <Paragraphs>100</Paragraphs>
  <Slides>8</Slides>
  <Notes>8</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Helvetica Now Display Bold</vt:lpstr>
      <vt:lpstr>Bebas Neue Bold</vt:lpstr>
      <vt:lpstr>Courier New</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Raul Veca</cp:lastModifiedBy>
  <cp:revision>2</cp:revision>
  <dcterms:created xsi:type="dcterms:W3CDTF">2026-09-01T00:03:13Z</dcterms:created>
  <dcterms:modified xsi:type="dcterms:W3CDTF">2026-09-01T00:18:38Z</dcterms:modified>
</cp:coreProperties>
</file>