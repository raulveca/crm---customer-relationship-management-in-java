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087a8c3ed14dbc" /><Relationship Type="http://schemas.openxmlformats.org/officeDocument/2006/relationships/extended-properties" Target="/docProps/app.xml" Id="R3f8641d31ab2488d" /><Relationship Type="http://schemas.openxmlformats.org/officeDocument/2006/relationships/officeDocument" Target="/ppt/presentation.xml" Id="Re18f5309ae0f4e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6562de43a8435b"/>
  </p:sldMasterIdLst>
  <p:notesMasterIdLst>
    <p:notesMasterId xmlns:r="http://schemas.openxmlformats.org/officeDocument/2006/relationships" r:id="R07c98e60a08b4cac"/>
  </p:notesMasterIdLst>
  <p:sldIdLst>
    <p:sldId xmlns:r="http://schemas.openxmlformats.org/officeDocument/2006/relationships" id="256" r:id="R1b2fd4c71faa4254"/>
    <p:sldId xmlns:r="http://schemas.openxmlformats.org/officeDocument/2006/relationships" id="257" r:id="R4d2770e6fe244544"/>
    <p:sldId xmlns:r="http://schemas.openxmlformats.org/officeDocument/2006/relationships" id="258" r:id="R587fcb3b853c4b90"/>
    <p:sldId xmlns:r="http://schemas.openxmlformats.org/officeDocument/2006/relationships" id="259" r:id="R79221d7589a54614"/>
    <p:sldId xmlns:r="http://schemas.openxmlformats.org/officeDocument/2006/relationships" id="260" r:id="Rdf37d46e74374f6c"/>
    <p:sldId xmlns:r="http://schemas.openxmlformats.org/officeDocument/2006/relationships" id="261" r:id="R2867c996bc9549ab"/>
    <p:sldId xmlns:r="http://schemas.openxmlformats.org/officeDocument/2006/relationships" id="262" r:id="Rc5eda2e175c248d2"/>
    <p:sldId xmlns:r="http://schemas.openxmlformats.org/officeDocument/2006/relationships" id="263" r:id="Raad561c80e784d2c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aafd67261e4f5c" /><Relationship Type="http://schemas.openxmlformats.org/officeDocument/2006/relationships/slideMaster" Target="/ppt/slideMasters/slideMaster1.xml" Id="R136562de43a8435b" /><Relationship Type="http://schemas.openxmlformats.org/officeDocument/2006/relationships/notesMaster" Target="/ppt/notesMasters/notesMaster1.xml" Id="R07c98e60a08b4cac" /><Relationship Type="http://schemas.openxmlformats.org/officeDocument/2006/relationships/presProps" Target="/ppt/presProps.xml" Id="R24f1919fe44a4e4d" /><Relationship Type="http://schemas.openxmlformats.org/officeDocument/2006/relationships/viewProps" Target="/ppt/viewProps.xml" Id="Rcfe7a8e8231a4f66" /><Relationship Type="http://schemas.openxmlformats.org/officeDocument/2006/relationships/tableStyles" Target="/ppt/tableStyles.xml" Id="R8397b07eafd54d96" /><Relationship Type="http://schemas.openxmlformats.org/officeDocument/2006/relationships/slide" Target="/ppt/slides/slide1.xml" Id="R1b2fd4c71faa4254" /><Relationship Type="http://schemas.openxmlformats.org/officeDocument/2006/relationships/slide" Target="/ppt/slides/slide2.xml" Id="R4d2770e6fe244544" /><Relationship Type="http://schemas.openxmlformats.org/officeDocument/2006/relationships/slide" Target="/ppt/slides/slide3.xml" Id="R587fcb3b853c4b90" /><Relationship Type="http://schemas.openxmlformats.org/officeDocument/2006/relationships/slide" Target="/ppt/slides/slide4.xml" Id="R79221d7589a54614" /><Relationship Type="http://schemas.openxmlformats.org/officeDocument/2006/relationships/slide" Target="/ppt/slides/slide5.xml" Id="Rdf37d46e74374f6c" /><Relationship Type="http://schemas.openxmlformats.org/officeDocument/2006/relationships/slide" Target="/ppt/slides/slide6.xml" Id="R2867c996bc9549ab" /><Relationship Type="http://schemas.openxmlformats.org/officeDocument/2006/relationships/slide" Target="/ppt/slides/slide7.xml" Id="Rc5eda2e175c248d2" /><Relationship Type="http://schemas.openxmlformats.org/officeDocument/2006/relationships/slide" Target="/ppt/slides/slide8.xml" Id="Raad561c80e784d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57a820f85144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93e9bb3b8142b9" /><Relationship Type="http://schemas.openxmlformats.org/officeDocument/2006/relationships/notesMaster" Target="/ppt/notesMasters/notesMaster1.xml" Id="R2e11156b042040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0cbc091e5d94f69" /><Relationship Type="http://schemas.openxmlformats.org/officeDocument/2006/relationships/notesMaster" Target="/ppt/notesMasters/notesMaster1.xml" Id="Rcad78df82e2842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3c1d25112f4df1" /><Relationship Type="http://schemas.openxmlformats.org/officeDocument/2006/relationships/notesMaster" Target="/ppt/notesMasters/notesMaster1.xml" Id="R1e582977cbe941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cf74c5c93954544" /><Relationship Type="http://schemas.openxmlformats.org/officeDocument/2006/relationships/notesMaster" Target="/ppt/notesMasters/notesMaster1.xml" Id="R97b0d526907f4e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d9dc3b975b449bc" /><Relationship Type="http://schemas.openxmlformats.org/officeDocument/2006/relationships/notesMaster" Target="/ppt/notesMasters/notesMaster1.xml" Id="R9a0974781313488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111896803014e63" /><Relationship Type="http://schemas.openxmlformats.org/officeDocument/2006/relationships/notesMaster" Target="/ppt/notesMasters/notesMaster1.xml" Id="R2886d8fa8fa5468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d0e766594e34bf3" /><Relationship Type="http://schemas.openxmlformats.org/officeDocument/2006/relationships/notesMaster" Target="/ppt/notesMasters/notesMaster1.xml" Id="R198eabdbbd7e455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a26b2331ca24023" /><Relationship Type="http://schemas.openxmlformats.org/officeDocument/2006/relationships/notesMaster" Target="/ppt/notesMasters/notesMaster1.xml" Id="R8e4d0253020341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6e784a81a940e9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09e07a41ce044d2" /><Relationship Type="http://schemas.openxmlformats.org/officeDocument/2006/relationships/slideLayout" Target="/ppt/slideLayouts/slideLayout1.xml" Id="Rda61583830894b9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61583830894b9b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4562c002ed47a0" /><Relationship Type="http://schemas.openxmlformats.org/officeDocument/2006/relationships/image" Target="/ppt/media/image.png" Id="R079911460b1d4e8a" /><Relationship Type="http://schemas.openxmlformats.org/officeDocument/2006/relationships/image" Target="/ppt/media/image2.png" Id="R4b84ed95321246e7" /><Relationship Type="http://schemas.openxmlformats.org/officeDocument/2006/relationships/notesSlide" Target="/ppt/notesSlides/notesSlide1.xml" Id="Rf15b7380073648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4acb3e0b3d4793" /><Relationship Type="http://schemas.openxmlformats.org/officeDocument/2006/relationships/image" Target="/ppt/media/image3.png" Id="Rcadf0225011a4d14" /><Relationship Type="http://schemas.openxmlformats.org/officeDocument/2006/relationships/notesSlide" Target="/ppt/notesSlides/notesSlide2.xml" Id="R13be8a414ac34d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f8feb8435342cb" /><Relationship Type="http://schemas.openxmlformats.org/officeDocument/2006/relationships/image" Target="/ppt/media/image3.png" Id="Reb913e87d18a47ca" /><Relationship Type="http://schemas.openxmlformats.org/officeDocument/2006/relationships/notesSlide" Target="/ppt/notesSlides/notesSlide3.xml" Id="R75ab77fb5a8b44a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8d36a99c4f4245" /><Relationship Type="http://schemas.openxmlformats.org/officeDocument/2006/relationships/image" Target="/ppt/media/image3.png" Id="R2c64c51371a74b3f" /><Relationship Type="http://schemas.openxmlformats.org/officeDocument/2006/relationships/notesSlide" Target="/ppt/notesSlides/notesSlide4.xml" Id="R167e97cc8df8485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82dc52d7e34540" /><Relationship Type="http://schemas.openxmlformats.org/officeDocument/2006/relationships/image" Target="/ppt/media/image3.png" Id="R830375fa6613435e" /><Relationship Type="http://schemas.openxmlformats.org/officeDocument/2006/relationships/image" Target="/ppt/media/image4.png" Id="Re8e8fff252c9469d" /><Relationship Type="http://schemas.openxmlformats.org/officeDocument/2006/relationships/notesSlide" Target="/ppt/notesSlides/notesSlide5.xml" Id="R2c96127cefcb4e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a18e946981409b" /><Relationship Type="http://schemas.openxmlformats.org/officeDocument/2006/relationships/image" Target="/ppt/media/image3.png" Id="Read9ec17e49c42f4" /><Relationship Type="http://schemas.openxmlformats.org/officeDocument/2006/relationships/image" Target="/ppt/media/image5.png" Id="R9e88f7ec89754029" /><Relationship Type="http://schemas.openxmlformats.org/officeDocument/2006/relationships/notesSlide" Target="/ppt/notesSlides/notesSlide6.xml" Id="R763d9403670f419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80bead12a34886" /><Relationship Type="http://schemas.openxmlformats.org/officeDocument/2006/relationships/image" Target="/ppt/media/image3.png" Id="Rd2d622062e464e61" /><Relationship Type="http://schemas.openxmlformats.org/officeDocument/2006/relationships/notesSlide" Target="/ppt/notesSlides/notesSlide7.xml" Id="R03cb274b9d2f49c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2ab456649f4b71" /><Relationship Type="http://schemas.openxmlformats.org/officeDocument/2006/relationships/image" Target="/ppt/media/image3.png" Id="R0e14e8af4f174077" /><Relationship Type="http://schemas.openxmlformats.org/officeDocument/2006/relationships/notesSlide" Target="/ppt/notesSlides/notesSlide8.xml" Id="Rbe79f8dde4aa483a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79911460b1d4e8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84ed95321246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3464" y="0"/>
            <a:ext cx="859536" cy="859536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38BCD47E-62A9-43BE-B567-70C70E0F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46304"/>
            <a:ext cx="410565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50" b="1" spc="60">
                <a:solidFill>
                  <a:srgbClr val="AFC0DA"/>
                </a:solidFill>
                <a:latin typeface="Arial"/>
                <a:ea typeface="Arial"/>
                <a:cs typeface="Arial"/>
              </a:rPr>
              <a:t>WEST UNIVERSITY OF TIMIȘOARA</a:t>
            </a:r>
            <a:endParaRPr sz="105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75784892-3249-4781-8F3B-BFD16183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89888"/>
            <a:ext cx="80467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TrainingIT</a:t>
            </a:r>
            <a:endParaRPr sz="3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BB20CC1-4ED3-42E0-855D-17158ECA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38528"/>
            <a:ext cx="8046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>
                <a:solidFill>
                  <a:srgbClr val="FFFFFF"/>
                </a:solidFill>
                <a:latin typeface="Arial"/>
                <a:ea typeface="Arial"/>
                <a:cs typeface="Arial"/>
              </a:rPr>
              <a:t>A Web-Based Application for Selling Programming Courses</a:t>
            </a:r>
            <a:endParaRPr sz="17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CA3F8A3-0E1A-4E42-BA77-32F42E28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42032"/>
            <a:ext cx="80467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Raul Veca</a:t>
            </a:r>
            <a:endParaRPr sz="15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49DEBD2A-658C-44F3-89EC-32F648C8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880360"/>
            <a:ext cx="8046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D6E0F0"/>
                </a:solidFill>
                <a:latin typeface="Arial"/>
                <a:ea typeface="Arial"/>
                <a:cs typeface="Arial"/>
              </a:rPr>
              <a:t>Supervisor: Lect. Dr. Sebastian Ștefăniga</a:t>
            </a:r>
            <a:endParaRPr sz="12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F1059EE7-3E39-40EA-8820-AB3D84D1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172968"/>
            <a:ext cx="8046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D6E0F0"/>
                </a:solidFill>
                <a:latin typeface="Arial"/>
                <a:ea typeface="Arial"/>
                <a:cs typeface="Arial"/>
              </a:rPr>
              <a:t>Faculty of Computer Science  ·  Bachelor Thesis Defense, 2026</a:t>
            </a:r>
            <a:endParaRPr sz="12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9A61AB54-2CEF-440F-A653-8184766B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66344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7E93B8"/>
                </a:solidFill>
                <a:latin typeface="Arial"/>
                <a:ea typeface="Arial"/>
                <a:cs typeface="Arial"/>
              </a:rPr>
              <a:t>www.uvt.ro</a:t>
            </a:r>
            <a:endParaRPr sz="1150"/>
          </a:p>
        </p:txBody>
      </p:sp>
    </p:spTree>
    <p:extLst>
      <p:ext uri="{BB962C8B-B14F-4D97-AF65-F5344CB8AC3E}">
        <p14:creationId xmlns:p14="http://schemas.microsoft.com/office/powerpoint/2010/main" val="5473127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df0225011a4d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3464" y="0"/>
            <a:ext cx="859536" cy="859536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DB685FA4-565D-45B0-8E2F-DE84F479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82296"/>
            <a:ext cx="7543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Problem and Motivation</a:t>
            </a:r>
            <a:endParaRPr sz="2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76CB270-EE20-42E1-A773-3B47F22A3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57200"/>
            <a:ext cx="7543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F5D8C"/>
                </a:solidFill>
                <a:latin typeface="Arial"/>
                <a:ea typeface="Arial"/>
                <a:cs typeface="Arial"/>
              </a:rPr>
              <a:t>A storefront and a CRM should not depend on fragile synchronization</a:t>
            </a:r>
            <a:endParaRPr sz="125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DC2EF545-8A68-4B57-A6E0-C48CC344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01768"/>
            <a:ext cx="9144000" cy="1417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0E5F7218-37F7-4C51-87E9-E19FF068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27448"/>
            <a:ext cx="7699248" cy="256032"/>
          </a:xfrm>
          <a:prstGeom xmlns:a="http://schemas.openxmlformats.org/drawingml/2006/main" prst="roundRect">
            <a:avLst>
              <a:gd name="adj" fmla="val 46429"/>
            </a:avLst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4254C690-2F1B-4CAC-A572-715B10E6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09160"/>
            <a:ext cx="85770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BFB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59385B98-5111-413A-80E8-EAEE43F4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727448"/>
            <a:ext cx="5486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Raul Veca   -   WEST UNIVERSITY OF TIMIȘOARA</a:t>
            </a:r>
            <a:endParaRPr sz="75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C39CA11-429B-428A-9298-C856D721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727448"/>
            <a:ext cx="16367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Page 1 / 7</a:t>
            </a:r>
            <a:endParaRPr sz="7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81BEC467-AAE3-47A8-A0EF-842DCF27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51560"/>
            <a:ext cx="48920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buNone/>
            </a:pPr>
            <a:r>
              <a:rPr sz="115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The customer side.  </a:t>
            </a:r>
            <a:r>
              <a:rPr sz="1150">
                <a:solidFill>
                  <a:srgbClr val="1A1A1A"/>
                </a:solidFill>
                <a:latin typeface="Arial"/>
                <a:ea typeface="Arial"/>
                <a:cs typeface="Arial"/>
              </a:rPr>
              <a:t>Learners need a clear catalogue, trusted reviews, quick purchase and simple tutoring reservations.</a:t>
            </a:r>
            <a:endParaRPr sz="115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A0A45968-90F2-48FE-A2B3-B46AA445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057400"/>
            <a:ext cx="489204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buNone/>
            </a:pPr>
            <a:r>
              <a:rPr sz="115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The business side.  </a:t>
            </a:r>
            <a:r>
              <a:rPr sz="1150">
                <a:solidFill>
                  <a:srgbClr val="1A1A1A"/>
                </a:solidFill>
                <a:latin typeface="Arial"/>
                <a:ea typeface="Arial"/>
                <a:cs typeface="Arial"/>
              </a:rPr>
              <a:t>The company needs leads, purchases, invoices, analytics and corporate clients in one operational view.</a:t>
            </a:r>
            <a:endParaRPr sz="115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B013C427-69EB-4F2E-AC85-F82D7749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291840"/>
            <a:ext cx="489204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buNone/>
            </a:pPr>
            <a:r>
              <a:rPr sz="115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The integration gap.  </a:t>
            </a:r>
            <a:r>
              <a:rPr sz="1150">
                <a:solidFill>
                  <a:srgbClr val="1A1A1A"/>
                </a:solidFill>
                <a:latin typeface="Arial"/>
                <a:ea typeface="Arial"/>
                <a:cs typeface="Arial"/>
              </a:rPr>
              <a:t>Separate tools create duplicate or inconsistent data and require slow manual reconciliation.</a:t>
            </a:r>
            <a:endParaRPr sz="115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6A6810FB-9C9B-4B19-9984-2E4E74A0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051560"/>
            <a:ext cx="320040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AB2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79984CEA-1F52-4515-9AA9-C35D26F5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992" y="1051560"/>
            <a:ext cx="296265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Problem statement</a:t>
            </a:r>
            <a:endParaRPr sz="13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9BB80CA4-78A4-4E1C-97F3-76DB316C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380744"/>
            <a:ext cx="3200400" cy="16642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3511ABE2-9F74-4213-A108-3D606632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8424" y="1426464"/>
            <a:ext cx="2907792" cy="1572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1100">
                <a:solidFill>
                  <a:srgbClr val="1A1A1A"/>
                </a:solidFill>
                <a:latin typeface="Arial"/>
                <a:ea typeface="Arial"/>
                <a:cs typeface="Arial"/>
              </a:rPr>
              <a:t>Use one application and one shared data model so each customer action is captured once and drives the relevant CRM processes automatically.</a:t>
            </a:r>
            <a:endParaRPr sz="11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22B46F3E-E88B-42FD-900E-AB519ED4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999232"/>
            <a:ext cx="3200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7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F8614951-AC17-4FA8-AA26-C8222304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8424" y="3035808"/>
            <a:ext cx="2907792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</a:pPr>
            <a:r>
              <a:rPr sz="1050">
                <a:solidFill>
                  <a:srgbClr val="1A1A1A"/>
                </a:solidFill>
                <a:latin typeface="Arial"/>
                <a:ea typeface="Arial"/>
                <a:cs typeface="Arial"/>
              </a:rPr>
              <a:t>One system. Two role-based experiences. No manual reconciliation.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3783273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913e87d18a47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3464" y="0"/>
            <a:ext cx="859536" cy="859536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B76FCBAF-3D2E-4809-A619-60B9C0BC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82296"/>
            <a:ext cx="7543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Related Work</a:t>
            </a:r>
            <a:endParaRPr sz="2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F5448BBE-B548-4D0A-A95E-B0C23AF6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57200"/>
            <a:ext cx="7543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F5D8C"/>
                </a:solidFill>
                <a:latin typeface="Arial"/>
                <a:ea typeface="Arial"/>
                <a:cs typeface="Arial"/>
              </a:rPr>
              <a:t>Existing tools solve parts of the problem, not the whole workflow</a:t>
            </a:r>
            <a:endParaRPr sz="125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CB68EC9F-EC37-4214-9F3E-59FB3913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01768"/>
            <a:ext cx="9144000" cy="1417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A771C921-EB12-4C65-A6E9-C524DABE3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27448"/>
            <a:ext cx="7699248" cy="256032"/>
          </a:xfrm>
          <a:prstGeom xmlns:a="http://schemas.openxmlformats.org/drawingml/2006/main" prst="roundRect">
            <a:avLst>
              <a:gd name="adj" fmla="val 46429"/>
            </a:avLst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80428692-0E4D-4EBA-9388-C0A97B57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09160"/>
            <a:ext cx="85770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BFB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AD28BBE6-427B-4C1B-8055-5277B003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727448"/>
            <a:ext cx="5486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Raul Veca   -   WEST UNIVERSITY OF TIMIȘOARA</a:t>
            </a:r>
            <a:endParaRPr sz="75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766FACC-4FE1-4F33-AEF4-690A30D7D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727448"/>
            <a:ext cx="16367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Page 2 / 7</a:t>
            </a:r>
            <a:endParaRPr sz="7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A1A991D9-1BC4-45E7-BF23-D2CAA7E2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05840"/>
            <a:ext cx="83210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A6472"/>
                </a:solidFill>
                <a:latin typeface="Arial"/>
                <a:ea typeface="Arial"/>
                <a:cs typeface="Arial"/>
              </a:rPr>
              <a:t>Each family of tools covers one side well; none unifies a course storefront and a CRM in a single product.</a:t>
            </a:r>
            <a:endParaRPr sz="1100"/>
          </a:p>
        </p:txBody>
      </p:sp>
      <p:graphicFrame>
        <p:nvGraphicFramePr>
          <p:cNvPr id="25" name="Table 0"/>
          <p:cNvGraphicFramePr/>
          <p:nvPr/>
        </p:nvGraphicFramePr>
        <p:xfrm>
          <a:off xmlns:a="http://schemas.openxmlformats.org/drawingml/2006/main" x="411480" y="1335024"/>
          <a:ext xmlns:a="http://schemas.openxmlformats.org/drawingml/2006/main" cx="832104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12848"/>
                <a:gridCol w="2834640"/>
                <a:gridCol w="3273552"/>
              </a:tblGrid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Tool family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0224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Strength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0224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Limitation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02246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 b="1">
                          <a:solidFill>
                            <a:srgbClr val="022461"/>
                          </a:solidFill>
                          <a:latin typeface="Arial"/>
                          <a:ea typeface="Arial"/>
                          <a:cs typeface="Arial"/>
                        </a:rPr>
                        <a:t>Course marketplaces
</a:t>
                      </a:r>
                      <a:r>
                        <a:rPr sz="900">
                          <a:solidFill>
                            <a:srgbClr val="5A6472"/>
                          </a:solidFill>
                          <a:latin typeface="Arial"/>
                          <a:ea typeface="Arial"/>
                          <a:cs typeface="Arial"/>
                        </a:rPr>
                        <a:t>e.g. Udemy, Coursera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</a:rPr>
                        <a:t>Excellent storefront, catalogue, reviews and checkout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</a:rPr>
                        <a:t>Aggregators: the provider owns no customer relationship and has no integrated CRM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 b="1">
                          <a:solidFill>
                            <a:srgbClr val="022461"/>
                          </a:solidFill>
                          <a:latin typeface="Arial"/>
                          <a:ea typeface="Arial"/>
                          <a:cs typeface="Arial"/>
                        </a:rPr>
                        <a:t>Learning management
</a:t>
                      </a:r>
                      <a:r>
                        <a:rPr sz="900">
                          <a:solidFill>
                            <a:srgbClr val="5A6472"/>
                          </a:solidFill>
                          <a:latin typeface="Arial"/>
                          <a:ea typeface="Arial"/>
                          <a:cs typeface="Arial"/>
                        </a:rPr>
                        <a:t>e.g. Moodle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</a:rPr>
                        <a:t>Strong at delivering and tracking course content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</a:rPr>
                        <a:t>Built around content, not selling; commerce and CRM are plug-ins bolted on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 b="1">
                          <a:solidFill>
                            <a:srgbClr val="022461"/>
                          </a:solidFill>
                          <a:latin typeface="Arial"/>
                          <a:ea typeface="Arial"/>
                          <a:cs typeface="Arial"/>
                        </a:rPr>
                        <a:t>CRM platforms
</a:t>
                      </a:r>
                      <a:r>
                        <a:rPr sz="900">
                          <a:solidFill>
                            <a:srgbClr val="5A6472"/>
                          </a:solidFill>
                          <a:latin typeface="Arial"/>
                          <a:ea typeface="Arial"/>
                          <a:cs typeface="Arial"/>
                        </a:rPr>
                        <a:t>e.g. Salesforce, HubSpot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</a:rPr>
                        <a:t>Powerful contacts, pipelines, lead scoring and reporting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</a:rPr>
                        <a:t>Generic: no course catalogue, trainer calendar or public storefront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 b="1">
                          <a:solidFill>
                            <a:srgbClr val="022461"/>
                          </a:solidFill>
                          <a:latin typeface="Arial"/>
                          <a:ea typeface="Arial"/>
                          <a:cs typeface="Arial"/>
                        </a:rPr>
                        <a:t>E-commerce engines
</a:t>
                      </a:r>
                      <a:r>
                        <a:rPr sz="900">
                          <a:solidFill>
                            <a:srgbClr val="5A6472"/>
                          </a:solidFill>
                          <a:latin typeface="Arial"/>
                          <a:ea typeface="Arial"/>
                          <a:cs typeface="Arial"/>
                        </a:rPr>
                        <a:t>e.g. WooCommerce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</a:rPr>
                        <a:t>Self-hosted and able to sell anything, including courses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</a:rPr>
                        <a:t>A course is just a product: no lead stages, tutoring sessions or corporate training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</a:tr>
            </a:tbl>
          </a:graphicData>
        </a:graphic>
      </p:graphicFrame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3707C931-91D0-4161-BC14-38D4F28E4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877056"/>
            <a:ext cx="83210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246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5B4E9A36-4998-424B-A3E9-44AAD6A2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3913632"/>
            <a:ext cx="8028432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2000"/>
              </a:lnSpc>
              <a:buNone/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TrainingIT unifies both sides in one application built on one shared data model, and specialises the generic CRM notions for the training domain: course sessions, trainer calendars, per-hour tutoring with employee discounts, and course-level click-through analytics.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3947419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64c51371a74b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3464" y="0"/>
            <a:ext cx="859536" cy="859536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B15A84AA-236C-4ACA-89BF-E25C39C36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82296"/>
            <a:ext cx="7543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Contribution</a:t>
            </a:r>
            <a:endParaRPr sz="2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46B7BE7B-AC15-4D4F-B82D-481A8A98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57200"/>
            <a:ext cx="7543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F5D8C"/>
                </a:solidFill>
                <a:latin typeface="Arial"/>
                <a:ea typeface="Arial"/>
                <a:cs typeface="Arial"/>
              </a:rPr>
              <a:t>A working product, not a prototype: storefront and CRM as one system</a:t>
            </a:r>
            <a:endParaRPr sz="125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93D093B6-CC0D-4711-BBD4-06FC9D0A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01768"/>
            <a:ext cx="9144000" cy="1417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4842590B-488A-417D-903D-AD363BEF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27448"/>
            <a:ext cx="7699248" cy="256032"/>
          </a:xfrm>
          <a:prstGeom xmlns:a="http://schemas.openxmlformats.org/drawingml/2006/main" prst="roundRect">
            <a:avLst>
              <a:gd name="adj" fmla="val 46429"/>
            </a:avLst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61F12FF5-AC1B-43AA-91D0-0C26939A5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09160"/>
            <a:ext cx="85770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BFB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C7C89ACB-E327-4060-B660-A08C173D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727448"/>
            <a:ext cx="5486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Raul Veca   -   WEST UNIVERSITY OF TIMIȘOARA</a:t>
            </a:r>
            <a:endParaRPr sz="75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5FA4E08-6ED6-4C61-A0C2-A2035160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727448"/>
            <a:ext cx="16367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Page 3 / 7</a:t>
            </a:r>
            <a:endParaRPr sz="75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023CECC1-64CC-4591-90CD-26E0A8AC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24128"/>
            <a:ext cx="832104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246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16307174-5F91-4709-B9CD-18609061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024128"/>
            <a:ext cx="808329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Applied contribution</a:t>
            </a:r>
            <a:endParaRPr sz="130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C0C10BCF-CC6E-4729-9C4A-56379C02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353312"/>
            <a:ext cx="83210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1E3210C-784C-472A-BFB3-CFFBFE06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1399032"/>
            <a:ext cx="802843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1100">
                <a:solidFill>
                  <a:srgbClr val="1A1A1A"/>
                </a:solidFill>
                <a:latin typeface="Arial"/>
                <a:ea typeface="Arial"/>
                <a:cs typeface="Arial"/>
              </a:rPr>
              <a:t>TrainingIT is a functional web application: a course marketplace whose every customer action is recorded exactly once in a complete CRM back office, on a Java domain layer organised around classic design patterns and an event-driven core, with an optional Claude-powered AI layer.</a:t>
            </a:r>
            <a:endParaRPr sz="11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ED45381F-7172-4901-9ECE-A11537C8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084832"/>
            <a:ext cx="406908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8E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495E2495-B21B-4BC1-8D76-C356D7A6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084832"/>
            <a:ext cx="383133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Objectives</a:t>
            </a:r>
            <a:endParaRPr sz="13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3727C62C-0809-4559-91DB-E1CD7C69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414016"/>
            <a:ext cx="4069080" cy="19385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7C2185EA-B927-4E74-8595-B4CFA8D6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2478024"/>
            <a:ext cx="3776472" cy="1810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○"/>
            </a:pPr>
            <a:r>
              <a:rPr sz="1050">
                <a:solidFill>
                  <a:srgbClr val="1A1A1A"/>
                </a:solidFill>
                <a:latin typeface="Arial"/>
                <a:ea typeface="Arial"/>
                <a:cs typeface="Arial"/>
              </a:rPr>
              <a:t>A public client portal: browse, purchase, review, book one-to-one tutoring.</a:t>
            </a:r>
            <a:endParaRPr sz="105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○"/>
            </a:pPr>
            <a:r>
              <a:rPr sz="1050">
                <a:solidFill>
                  <a:srgbClr val="1A1A1A"/>
                </a:solidFill>
                <a:latin typeface="Arial"/>
                <a:ea typeface="Arial"/>
                <a:cs typeface="Arial"/>
              </a:rPr>
              <a:t>An administrator portal with seven management tabs.</a:t>
            </a:r>
            <a:endParaRPr sz="105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○"/>
            </a:pPr>
            <a:r>
              <a:rPr sz="1050">
                <a:solidFill>
                  <a:srgbClr val="1A1A1A"/>
                </a:solidFill>
                <a:latin typeface="Arial"/>
                <a:ea typeface="Arial"/>
                <a:cs typeface="Arial"/>
              </a:rPr>
              <a:t>A domain layer on design patterns and an event-driven core, so one action propagates into several automatic reactions.</a:t>
            </a:r>
            <a:endParaRPr sz="105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○"/>
            </a:pPr>
            <a:r>
              <a:rPr sz="1050">
                <a:solidFill>
                  <a:srgbClr val="1A1A1A"/>
                </a:solidFill>
                <a:latin typeface="Arial"/>
                <a:ea typeface="Arial"/>
                <a:cs typeface="Arial"/>
              </a:rPr>
              <a:t>An optional AI assistant that degrades gracefully.</a:t>
            </a:r>
            <a:endParaRPr sz="105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○"/>
            </a:pPr>
            <a:r>
              <a:rPr sz="1050">
                <a:solidFill>
                  <a:srgbClr val="1A1A1A"/>
                </a:solidFill>
                <a:latin typeface="Arial"/>
                <a:ea typeface="Arial"/>
                <a:cs typeface="Arial"/>
              </a:rPr>
              <a:t>All operational and CRM data persisted in MariaDB.</a:t>
            </a:r>
            <a:endParaRPr sz="105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B3C37865-3653-44A8-B201-BBCFAB5E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084832"/>
            <a:ext cx="406908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AB2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30A6C0C9-6325-42FF-AB01-F671E913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312" y="2084832"/>
            <a:ext cx="383133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Design boundary</a:t>
            </a:r>
            <a:endParaRPr sz="130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00757C56-3A1F-416A-A5CD-9A99A74B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414016"/>
            <a:ext cx="4069080" cy="19385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EEC4C66A-FA2C-4F42-A751-6E2C60C2D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9744" y="2459736"/>
            <a:ext cx="3776472" cy="1847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1050">
                <a:solidFill>
                  <a:srgbClr val="1A1A1A"/>
                </a:solidFill>
                <a:latin typeface="Arial"/>
                <a:ea typeface="Arial"/>
                <a:cs typeface="Arial"/>
              </a:rPr>
              <a:t>The goal is not a general-purpose e-commerce platform, nor a general-purpose CRM.</a:t>
            </a:r>
            <a:endParaRPr sz="1050"/>
          </a:p>
          <a:p xmlns:a="http://schemas.openxmlformats.org/drawingml/2006/main">
            <a:pPr marL="0" indent="0">
              <a:lnSpc>
                <a:spcPct val="112000"/>
              </a:lnSpc>
              <a:buNone/>
            </a:pPr>
            <a:endParaRPr sz="1050"/>
          </a:p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1050">
                <a:solidFill>
                  <a:srgbClr val="1A1A1A"/>
                </a:solidFill>
                <a:latin typeface="Arial"/>
                <a:ea typeface="Arial"/>
                <a:cs typeface="Arial"/>
              </a:rPr>
              <a:t>The goal is one coherent product for a training company: a storefront a learner can use without instructions, over a CRM core a small team can actually run - where the AI layer is strictly additive and never a dependency.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9494080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0375fa661343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3464" y="0"/>
            <a:ext cx="859536" cy="859536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DC246A7D-B01F-4F79-9D25-668AB376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82296"/>
            <a:ext cx="7543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System Architecture</a:t>
            </a:r>
            <a:endParaRPr sz="2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2BBE07EC-D54E-40F1-9C4E-CD765A3F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57200"/>
            <a:ext cx="7543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F5D8C"/>
                </a:solidFill>
                <a:latin typeface="Arial"/>
                <a:ea typeface="Arial"/>
                <a:cs typeface="Arial"/>
              </a:rPr>
              <a:t>Four layers behind one REST API and a real-time event stream</a:t>
            </a:r>
            <a:endParaRPr sz="125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FEA2E2E2-84A7-4EE9-8DF7-C854B6CA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01768"/>
            <a:ext cx="9144000" cy="1417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032E8035-4713-480E-A0DD-970696A8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27448"/>
            <a:ext cx="7699248" cy="256032"/>
          </a:xfrm>
          <a:prstGeom xmlns:a="http://schemas.openxmlformats.org/drawingml/2006/main" prst="roundRect">
            <a:avLst>
              <a:gd name="adj" fmla="val 46429"/>
            </a:avLst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B6C6FA67-A1A1-4F44-B2CA-22882CC8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09160"/>
            <a:ext cx="85770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BFB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A8D30708-C90E-4D9D-91B3-1EDD60BB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727448"/>
            <a:ext cx="5486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Raul Veca   -   WEST UNIVERSITY OF TIMIȘOARA</a:t>
            </a:r>
            <a:endParaRPr sz="75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A1A2BC1-CCAC-4FAB-8811-44096CD5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727448"/>
            <a:ext cx="16367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Page 4 / 7</a:t>
            </a:r>
            <a:endParaRPr sz="750"/>
          </a:p>
        </p:txBody>
      </p:sp>
      <p:pic>
        <p:nvPicPr>
          <p:cNvPr id="2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e8fff252c946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08714" y="726342"/>
            <a:ext cx="5441370" cy="39599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3860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d9ec17e49c42f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3464" y="0"/>
            <a:ext cx="859536" cy="859536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5C8E71BC-F6B7-49EA-9BB7-3C10F6CD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82296"/>
            <a:ext cx="7543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The AI Layer</a:t>
            </a:r>
            <a:endParaRPr sz="2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13456033-C247-41AB-820F-C8A50D7A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57200"/>
            <a:ext cx="7543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F5D8C"/>
                </a:solidFill>
                <a:latin typeface="Arial"/>
                <a:ea typeface="Arial"/>
                <a:cs typeface="Arial"/>
              </a:rPr>
              <a:t>Optional intelligence, powered by the Anthropic Claude API</a:t>
            </a:r>
            <a:endParaRPr sz="125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A92C9F6A-740A-42B7-A138-00DFCFFD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01768"/>
            <a:ext cx="9144000" cy="1417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D9A9F68F-7D16-4670-9CC7-747DB2705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27448"/>
            <a:ext cx="7699248" cy="256032"/>
          </a:xfrm>
          <a:prstGeom xmlns:a="http://schemas.openxmlformats.org/drawingml/2006/main" prst="roundRect">
            <a:avLst>
              <a:gd name="adj" fmla="val 46429"/>
            </a:avLst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360A12E2-A854-4BE6-8679-9834678E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09160"/>
            <a:ext cx="85770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BFB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28E4E19B-189A-46FC-B2E5-DBF0ED80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727448"/>
            <a:ext cx="5486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Raul Veca   -   WEST UNIVERSITY OF TIMIȘOARA</a:t>
            </a:r>
            <a:endParaRPr sz="75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70B0EEAB-671F-41F2-BDBE-C0FB679F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727448"/>
            <a:ext cx="16367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Page 5 / 7</a:t>
            </a:r>
            <a:endParaRPr sz="75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D94BF2A2-F9F1-4B06-95F0-F5BE9ACA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78992"/>
            <a:ext cx="457200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56FF6AE0-A929-48F8-B6A4-A6B3E8A9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" y="1115568"/>
            <a:ext cx="4315968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6000"/>
              </a:lnSpc>
              <a:buNone/>
            </a:pPr>
            <a:r>
              <a:rPr sz="108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Conversational assistant   </a:t>
            </a:r>
            <a:r>
              <a:rPr sz="860">
                <a:solidFill>
                  <a:srgbClr val="2588E6"/>
                </a:solidFill>
                <a:latin typeface="Courier New"/>
                <a:ea typeface="Courier New"/>
                <a:cs typeface="Courier New"/>
              </a:rPr>
              <a:t>/api/ai/chat
</a:t>
            </a: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Answers questions about courses, enrolment and corporate training, using the live catalogue as context.</a:t>
            </a:r>
            <a:endParaRPr sz="108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F272372E-CD5B-4039-8F7A-572854FF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865376"/>
            <a:ext cx="457200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7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EF50E2EF-1B62-4995-8275-8787AEF8C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" y="1901952"/>
            <a:ext cx="4315968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6000"/>
              </a:lnSpc>
              <a:buNone/>
            </a:pPr>
            <a:r>
              <a:rPr sz="108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Recommendation quiz   </a:t>
            </a:r>
            <a:r>
              <a:rPr sz="860">
                <a:solidFill>
                  <a:srgbClr val="2588E6"/>
                </a:solidFill>
                <a:latin typeface="Courier New"/>
                <a:ea typeface="Courier New"/>
                <a:cs typeface="Courier New"/>
              </a:rPr>
              <a:t>/api/ai/recommendations/visitor
</a:t>
            </a: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Matches a visitor's interests, level and goal to courses, each with a fit score and a reason.</a:t>
            </a:r>
            <a:endParaRPr sz="108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4F804CBE-F92D-455A-977F-1F7ECD80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651760"/>
            <a:ext cx="457200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6659BFE7-BB99-4558-8786-F6D9CC42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" y="2688336"/>
            <a:ext cx="4315968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6000"/>
              </a:lnSpc>
              <a:buNone/>
            </a:pPr>
            <a:r>
              <a:rPr sz="108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Per-company recommendations   </a:t>
            </a:r>
            <a:r>
              <a:rPr sz="860">
                <a:solidFill>
                  <a:srgbClr val="2588E6"/>
                </a:solidFill>
                <a:latin typeface="Courier New"/>
                <a:ea typeface="Courier New"/>
                <a:cs typeface="Courier New"/>
              </a:rPr>
              <a:t>/api/ai/recommendations/company
</a:t>
            </a: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Analyses employee roles and interests to propose a training programme for a whole team.</a:t>
            </a:r>
            <a:endParaRPr sz="108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B74B32C8-584C-4649-9B42-90ED6FE2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438144"/>
            <a:ext cx="457200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7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8425344E-FE1D-48F7-9B9B-D0F89F4D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" y="3474720"/>
            <a:ext cx="4315968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6000"/>
              </a:lnSpc>
              <a:buNone/>
            </a:pPr>
            <a:r>
              <a:rPr sz="108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Live page translation   </a:t>
            </a:r>
            <a:r>
              <a:rPr sz="860">
                <a:solidFill>
                  <a:srgbClr val="2588E6"/>
                </a:solidFill>
                <a:latin typeface="Courier New"/>
                <a:ea typeface="Courier New"/>
                <a:cs typeface="Courier New"/>
              </a:rPr>
              <a:t>/api/ai/translate
</a:t>
            </a: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Translates the interface into any language, preserving brand names, people, e-mails and numbers.</a:t>
            </a:r>
            <a:endParaRPr sz="108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197CEC19-9D2E-4E0A-A63C-192CF343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224528"/>
            <a:ext cx="457200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246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343DCC68-ED23-434B-AB6A-5D172B6E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224528"/>
            <a:ext cx="433425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Strictly additive: with no API key the buttons disappear</a:t>
            </a:r>
            <a:endParaRPr sz="105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542A7CB2-50F8-453D-AAA5-C76C664C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535424"/>
            <a:ext cx="457200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88f7ec897540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0368" y="1115568"/>
            <a:ext cx="3502152" cy="2185416"/>
          </a:xfrm>
          <a:prstGeom xmlns:a="http://schemas.openxmlformats.org/drawingml/2006/main" prst="rect">
            <a:avLst/>
          </a:prstGeom>
        </p:spPr>
      </p:pic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51CB07D1-D1C9-4290-937E-30462CCE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0368" y="3419856"/>
            <a:ext cx="3502152" cy="11155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C6FD0085-BC31-49BE-94A6-43E935285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672" y="3456432"/>
            <a:ext cx="3209544" cy="10424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</a:pPr>
            <a:r>
              <a:rPr sz="1000">
                <a:solidFill>
                  <a:srgbClr val="1A1A1A"/>
                </a:solidFill>
                <a:latin typeface="Arial"/>
                <a:ea typeface="Arial"/>
                <a:cs typeface="Arial"/>
              </a:rPr>
              <a:t>All four features share one Claude client and one API key. I implemented the prompts, the REST endpoints, the structured JSON response handling and the matching interfaces - and made sure the rest of the application stays fully operational when AI is not configured.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4751299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d622062e464e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3464" y="0"/>
            <a:ext cx="859536" cy="859536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9E34A00B-2C45-C3A7-554E-CC4F3A0A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82296"/>
            <a:ext cx="7543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Application Demo</a:t>
            </a:r>
            <a:endParaRPr sz="2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42814A06-A334-7F73-92D2-94CAA0AAE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57200"/>
            <a:ext cx="7543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F5D8C"/>
                </a:solidFill>
                <a:latin typeface="Arial"/>
                <a:ea typeface="Arial"/>
                <a:cs typeface="Arial"/>
              </a:rPr>
              <a:t>Video</a:t>
            </a:r>
            <a:endParaRPr sz="125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D39D863B-5FD8-4EA5-D889-C2DAE3EA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01768"/>
            <a:ext cx="9144000" cy="1417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4BAA0535-8956-6FC8-77B6-97D1EF35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27448"/>
            <a:ext cx="7699248" cy="256032"/>
          </a:xfrm>
          <a:prstGeom xmlns:a="http://schemas.openxmlformats.org/drawingml/2006/main" prst="roundRect">
            <a:avLst>
              <a:gd name="adj" fmla="val 46429"/>
            </a:avLst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9CBBADE4-CD4E-65AA-B355-198AF6D3C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09160"/>
            <a:ext cx="85770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BFB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8C004D50-2FFC-150E-31B1-380D0462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727448"/>
            <a:ext cx="5486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Raul Veca   -   WEST UNIVERSITY OF TIMIȘOARA</a:t>
            </a:r>
            <a:endParaRPr sz="75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93AE2192-0D52-37FB-B2E3-CCBF1C1A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727448"/>
            <a:ext cx="16367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Page 6 / 7</a:t>
            </a:r>
            <a:endParaRPr sz="750"/>
          </a:p>
        </p:txBody>
      </p:sp>
    </p:spTree>
    <p:extLst>
      <p:ext uri="{BB962C8B-B14F-4D97-AF65-F5344CB8AC3E}">
        <p14:creationId xmlns:p14="http://schemas.microsoft.com/office/powerpoint/2010/main" val="23826265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14e8af4f1740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3464" y="0"/>
            <a:ext cx="859536" cy="859536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7D65B376-E1BE-46E4-AB08-55C2491C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82296"/>
            <a:ext cx="7543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Conclusion</a:t>
            </a:r>
            <a:endParaRPr sz="2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AB41FE52-BA53-4D2B-888A-B8C1E054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57200"/>
            <a:ext cx="7543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F5D8C"/>
                </a:solidFill>
                <a:latin typeface="Arial"/>
                <a:ea typeface="Arial"/>
                <a:cs typeface="Arial"/>
              </a:rPr>
              <a:t>TrainingIT demonstrates one coherent storefront and CRM</a:t>
            </a:r>
            <a:endParaRPr sz="125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96FAE1D3-DE64-4C31-A19A-8751123F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01768"/>
            <a:ext cx="9144000" cy="1417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C93FD3D6-09A0-436D-B86E-641F4E0C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27448"/>
            <a:ext cx="7699248" cy="256032"/>
          </a:xfrm>
          <a:prstGeom xmlns:a="http://schemas.openxmlformats.org/drawingml/2006/main" prst="roundRect">
            <a:avLst>
              <a:gd name="adj" fmla="val 46429"/>
            </a:avLst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1FCF58E4-94A5-4250-A2CD-A20037966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09160"/>
            <a:ext cx="85770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BFB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A327F7BB-C3AB-4E16-B6C5-269553FA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727448"/>
            <a:ext cx="5486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Raul Veca   -   WEST UNIVERSITY OF TIMIȘOARA</a:t>
            </a:r>
            <a:endParaRPr sz="75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CB1D2E0-0F0F-480F-AE8D-D42C865D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727448"/>
            <a:ext cx="16367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Page 7 / 7</a:t>
            </a:r>
            <a:endParaRPr sz="75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AF85038C-DC06-4E96-AA9A-A743BC1D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042416"/>
            <a:ext cx="416052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246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E6D5E0C8-9DEF-47A3-9D62-F8BF773E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42416"/>
            <a:ext cx="392277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Implemented</a:t>
            </a:r>
            <a:endParaRPr sz="130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190F24E0-6556-490A-9EEC-8A689522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353312"/>
            <a:ext cx="4160520" cy="2761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138DE53A-5020-4432-85F2-B3DD5A4E7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417320"/>
            <a:ext cx="3867912" cy="2633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○"/>
            </a:pP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Learner portal: catalogue, purchase, reviews and tutoring.</a:t>
            </a:r>
            <a:endParaRPr sz="98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○"/>
            </a:pP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CRM portal: contacts, purchases, invoices, analytics and issues.</a:t>
            </a:r>
            <a:endParaRPr sz="98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○"/>
            </a:pP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Event-driven domain: automated lead scoring and invoicing.</a:t>
            </a:r>
            <a:endParaRPr sz="98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○"/>
            </a:pP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Live SSE statistics, imports and multi-format exports.</a:t>
            </a:r>
            <a:endParaRPr sz="98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○"/>
            </a:pP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Optional Claude assistant, recommendations and translation.</a:t>
            </a:r>
            <a:endParaRPr sz="98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BF1F1DD3-F394-4312-BD66-F5BF6137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1042416"/>
            <a:ext cx="416052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AB2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5AE8F365-30E5-468B-8470-1D334581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4" y="1042416"/>
            <a:ext cx="392277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Validated and next steps</a:t>
            </a:r>
            <a:endParaRPr sz="13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C93EF342-A280-478B-89B9-DE52C316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1353312"/>
            <a:ext cx="4160520" cy="2761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D030EC76-A3B2-4B4B-A064-F4CAF9D8E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5736" y="1417320"/>
            <a:ext cx="3867912" cy="2633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○"/>
            </a:pP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End-to-end flows verified against a real MariaDB instance.</a:t>
            </a:r>
            <a:endParaRPr sz="98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○"/>
            </a:pP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Duplicate invoices prevented through idempotent processing.</a:t>
            </a:r>
            <a:endParaRPr sz="98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○"/>
            </a:pP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Observer failures are isolated; optional AI degrades safely.</a:t>
            </a:r>
            <a:endParaRPr sz="98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○"/>
            </a:pP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Next: automated tests and production-grade authentication.</a:t>
            </a:r>
            <a:endParaRPr sz="98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○"/>
            </a:pP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Next: richer analytics and cloud deployment.</a:t>
            </a:r>
            <a:endParaRPr sz="98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BD69727E-DCAA-45C6-89E5-C534A414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3913632"/>
            <a:ext cx="8375904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7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6A346125-F990-4C2F-A330-9788DD9B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950208"/>
            <a:ext cx="8083296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2000"/>
              </a:lnSpc>
              <a:buNone/>
            </a:pPr>
            <a:r>
              <a:rPr sz="1080">
                <a:solidFill>
                  <a:srgbClr val="1A1A1A"/>
                </a:solidFill>
                <a:latin typeface="Arial"/>
                <a:ea typeface="Arial"/>
                <a:cs typeface="Arial"/>
              </a:rPr>
              <a:t>Each customer action is recorded once and becomes immediately available to the business.</a:t>
            </a:r>
            <a:endParaRPr sz="1080"/>
          </a:p>
        </p:txBody>
      </p:sp>
    </p:spTree>
    <p:extLst>
      <p:ext uri="{BB962C8B-B14F-4D97-AF65-F5344CB8AC3E}">
        <p14:creationId xmlns:p14="http://schemas.microsoft.com/office/powerpoint/2010/main" val="205808319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2026-08-31T23:38:10.0770000Z</dcterms:created>
  <dcterms:modified xsi:type="dcterms:W3CDTF">2026-08-31T23:38:10.0770000Z</dcterms:modified>
</coreProperties>
</file>