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8" d="100"/>
          <a:sy n="138"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0:00-0:15</a:t>
            </a:r>
          </a:p>
          <a:p>
            <a:r>
              <a:t>Good morning. My name is Raul Veca, and I will present TrainingIT, a web application for selling programming courses. The main idea is simple: the learner-facing storefront and the company's CRM are implemented as one product.</a:t>
            </a:r>
          </a:p>
          <a:p>
            <a:endParaRPr/>
          </a:p>
          <a:p>
            <a:r>
              <a:t>[Sources]</a:t>
            </a:r>
          </a:p>
          <a:p>
            <a:r>
              <a:t>- Powerpoint_Presentation.pptx, source slide 1</a:t>
            </a:r>
          </a:p>
          <a:p>
            <a:r>
              <a:t>- TrainingIT_thePDF.pdf, cover and abstract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0:15-0:55</a:t>
            </a:r>
          </a:p>
          <a:p>
            <a:r>
              <a:t>A training company serves two audiences. Learners expect a modern storefront: clear courses, trusted reviews, quick purchasing and simple tutoring reservations. The company needs a reliable back office for leads, purchases, invoices, analytics and corporate customers. These are normally separate systems. Every synchronization point can create missing or contradictory data, so the practical problem is not only selling courses; it is keeping the customer experience and the CRM consistent.</a:t>
            </a:r>
          </a:p>
          <a:p>
            <a:endParaRPr/>
          </a:p>
          <a:p>
            <a:r>
              <a:t>[Sources]</a:t>
            </a:r>
          </a:p>
          <a:p>
            <a:r>
              <a:t>- TrainingIT_thePDF.pdf, Problem Description</a:t>
            </a:r>
          </a:p>
          <a:p>
            <a:r>
              <a:t>- TrainingIT_conspectare.docx, Chapter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0:55-1:35</a:t>
            </a:r>
          </a:p>
          <a:p>
            <a:r>
              <a:t>TrainingIT removes that synchronization boundary. Learners, administrators and trainers use different interfaces, but they act on the same backend and the same data model. When a learner registers, buys, reviews, books a session or reports an issue, the corresponding CRM information already exists. MariaDB stores both the operational and CRM records. Claude adds chat, recommendations and translation, but it is optional, so the product remains functional without it.</a:t>
            </a:r>
          </a:p>
          <a:p>
            <a:endParaRPr/>
          </a:p>
          <a:p>
            <a:r>
              <a:t>[Sources]</a:t>
            </a:r>
          </a:p>
          <a:p>
            <a:r>
              <a:t>- TrainingIT_thePDF.pdf, Proposed Solution and Application Architecture</a:t>
            </a:r>
          </a:p>
          <a:p>
            <a:r>
              <a:t>- TrainingIT_conspectare.docx, Chapters 1 and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1:35-2:25</a:t>
            </a:r>
          </a:p>
          <a:p>
            <a:r>
              <a:t>The implementation has four layers. Next.js and React provide the learner and administrator portals. Spring Boot exposes the REST API and the live statistics stream. The domain layer contains commands, services, repositories and the EventBus, so business rules are separated from the web controllers. MariaDB persists contacts, enrollments, invoices and issues through JDBC and HikariCP. This structure keeps the application understandable and allows secondary reactions to evolve without rewriting the main user operation.</a:t>
            </a:r>
          </a:p>
          <a:p>
            <a:endParaRPr/>
          </a:p>
          <a:p>
            <a:r>
              <a:t>[Sources]</a:t>
            </a:r>
          </a:p>
          <a:p>
            <a:r>
              <a:t>- TrainingIT_thePDF.pdf, Application Architecture and Technologies Used</a:t>
            </a:r>
          </a:p>
          <a:p>
            <a:r>
              <a:t>- TrainingIT_conspectare.docx, Chapters 5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2:25-3:10</a:t>
            </a:r>
          </a:p>
          <a:p>
            <a:r>
              <a:t>This purchase flow is the key technical example. After confirmation, the server finds or creates the contact and the course session, saves the enrollment, and publishes an event. Independent observers can then update the audit trail, lead state and live statistics. The main purchase service does not need to know every secondary effect. The same design supports idempotency: if a booking event is repeated, it does not generate a second invoice.</a:t>
            </a:r>
          </a:p>
          <a:p>
            <a:endParaRPr/>
          </a:p>
          <a:p>
            <a:r>
              <a:t>[Sources]</a:t>
            </a:r>
          </a:p>
          <a:p>
            <a:r>
              <a:t>- TrainingIT_thePDF.pdf, Implementation Details: event-driven core</a:t>
            </a:r>
          </a:p>
          <a:p>
            <a:r>
              <a:t>- TrainingIT_conspectare.docx, Chapter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3:10-4:25</a:t>
            </a:r>
          </a:p>
          <a:p>
            <a:r>
              <a:t>Demo path: log in as a learner; open the catalogue; purchase one course; show that it appears in My Courses; add or update a review; then switch to the administrator portal and open Purchases or Contacts to show the same action in the CRM. If time remains, show a tutoring booking and the generated invoice. Keep the narration focused on one action becoming several business reactions.</a:t>
            </a:r>
          </a:p>
          <a:p>
            <a:endParaRPr/>
          </a:p>
          <a:p>
            <a:r>
              <a:t>[Sources]</a:t>
            </a:r>
          </a:p>
          <a:p>
            <a:r>
              <a:t>- Embedded application demo from Powerpoint_Presentation.pptx</a:t>
            </a:r>
          </a:p>
          <a:p>
            <a:r>
              <a:t>- TrainingIT_thePDF.pdf, Application Features</a:t>
            </a:r>
          </a:p>
          <a:p>
            <a:r>
              <a:t>- TrainingIT_conspectare.docx, Chapters 6 and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4:25-5:00</a:t>
            </a:r>
          </a:p>
          <a:p>
            <a:r>
              <a:t>In conclusion, TrainingIT delivers the learner portal, the CRM portal and an event-driven domain on one shared model. The end-to-end flows were verified against MariaDB, including duplicate-event and observer-failure scenarios. The next priorities are automated tests, stronger production authentication, richer analytics and cloud deployment. The central result is that each customer action is recorded once and becomes immediately available to the business. Thank you.</a:t>
            </a:r>
          </a:p>
          <a:p>
            <a:endParaRPr/>
          </a:p>
          <a:p>
            <a:r>
              <a:t>[Sources]</a:t>
            </a:r>
          </a:p>
          <a:p>
            <a:r>
              <a:t>- TrainingIT_thePDF.pdf, Testing and Conclusion</a:t>
            </a:r>
          </a:p>
          <a:p>
            <a:r>
              <a:t>- TrainingIT_conspectare.docx, Chapters 9 and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Image 0"/>
          <p:cNvPicPr>
            <a:picLocks noChangeAspect="1"/>
          </p:cNvPicPr>
          <p:nvPr/>
        </p:nvPicPr>
        <p:blipFill>
          <a:blip r:embed="rId4"/>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0D7980C3-BAF9-4C65-8D4A-590AAA3D0BF7}"/>
              </a:ext>
            </a:extLst>
          </p:cNvPr>
          <p:cNvSpPr>
            <a:spLocks noGrp="1"/>
          </p:cNvSpPr>
          <p:nvPr/>
        </p:nvSpPr>
        <p:spPr>
          <a:xfrm>
            <a:off x="4754880" y="146304"/>
            <a:ext cx="4105656" cy="274320"/>
          </a:xfrm>
          <a:prstGeom prst="rect">
            <a:avLst/>
          </a:prstGeom>
          <a:noFill/>
        </p:spPr>
        <p:txBody>
          <a:bodyPr wrap="square" lIns="0" tIns="0" rIns="0" bIns="0" anchor="ctr"/>
          <a:lstStyle/>
          <a:p>
            <a:pPr marL="0" indent="0" algn="r">
              <a:buNone/>
            </a:pPr>
            <a:r>
              <a:rPr sz="1050" b="1" spc="60">
                <a:solidFill>
                  <a:srgbClr val="AFC0DA"/>
                </a:solidFill>
                <a:latin typeface="Arial"/>
                <a:ea typeface="Arial"/>
                <a:cs typeface="Arial"/>
              </a:rPr>
              <a:t>WEST UNIVERSITY OF TIMIȘOARA</a:t>
            </a:r>
            <a:endParaRPr sz="1050"/>
          </a:p>
        </p:txBody>
      </p:sp>
      <p:sp>
        <p:nvSpPr>
          <p:cNvPr id="4" name="Text 1">
            <a:extLst>
              <a:ext uri="{FF2B5EF4-FFF2-40B4-BE49-F238E27FC236}">
                <a16:creationId xmlns:a16="http://schemas.microsoft.com/office/drawing/2014/main" id="{9102E32C-688E-4498-9BE2-BA149D5E02D4}"/>
              </a:ext>
            </a:extLst>
          </p:cNvPr>
          <p:cNvSpPr>
            <a:spLocks noGrp="1"/>
          </p:cNvSpPr>
          <p:nvPr/>
        </p:nvSpPr>
        <p:spPr>
          <a:xfrm>
            <a:off x="548640" y="1389888"/>
            <a:ext cx="8046720" cy="566928"/>
          </a:xfrm>
          <a:prstGeom prst="rect">
            <a:avLst/>
          </a:prstGeom>
          <a:noFill/>
        </p:spPr>
        <p:txBody>
          <a:bodyPr wrap="square" lIns="0" tIns="0" rIns="0" bIns="0" anchor="ctr"/>
          <a:lstStyle/>
          <a:p>
            <a:pPr marL="0" indent="0" algn="ctr">
              <a:buNone/>
            </a:pPr>
            <a:r>
              <a:rPr sz="3400" b="1">
                <a:solidFill>
                  <a:srgbClr val="FFFFFF"/>
                </a:solidFill>
                <a:latin typeface="Arial"/>
                <a:ea typeface="Arial"/>
                <a:cs typeface="Arial"/>
              </a:rPr>
              <a:t>TrainingIT</a:t>
            </a:r>
            <a:endParaRPr sz="3400"/>
          </a:p>
        </p:txBody>
      </p:sp>
      <p:sp>
        <p:nvSpPr>
          <p:cNvPr id="5" name="Text 2">
            <a:extLst>
              <a:ext uri="{FF2B5EF4-FFF2-40B4-BE49-F238E27FC236}">
                <a16:creationId xmlns:a16="http://schemas.microsoft.com/office/drawing/2014/main" id="{5B2F0BB2-2674-486E-8DE8-6056CF4DA672}"/>
              </a:ext>
            </a:extLst>
          </p:cNvPr>
          <p:cNvSpPr>
            <a:spLocks noGrp="1"/>
          </p:cNvSpPr>
          <p:nvPr/>
        </p:nvSpPr>
        <p:spPr>
          <a:xfrm>
            <a:off x="548640" y="1938528"/>
            <a:ext cx="8046720" cy="365760"/>
          </a:xfrm>
          <a:prstGeom prst="rect">
            <a:avLst/>
          </a:prstGeom>
          <a:noFill/>
        </p:spPr>
        <p:txBody>
          <a:bodyPr wrap="square" lIns="0" tIns="0" rIns="0" bIns="0" anchor="ctr"/>
          <a:lstStyle/>
          <a:p>
            <a:pPr marL="0" indent="0" algn="ctr">
              <a:buNone/>
            </a:pPr>
            <a:r>
              <a:rPr sz="1700">
                <a:solidFill>
                  <a:srgbClr val="FFFFFF"/>
                </a:solidFill>
                <a:latin typeface="Arial"/>
                <a:ea typeface="Arial"/>
                <a:cs typeface="Arial"/>
              </a:rPr>
              <a:t>A Web-Based Application for Selling Programming Courses</a:t>
            </a:r>
            <a:endParaRPr sz="1700"/>
          </a:p>
        </p:txBody>
      </p:sp>
      <p:sp>
        <p:nvSpPr>
          <p:cNvPr id="6" name="Text 3">
            <a:extLst>
              <a:ext uri="{FF2B5EF4-FFF2-40B4-BE49-F238E27FC236}">
                <a16:creationId xmlns:a16="http://schemas.microsoft.com/office/drawing/2014/main" id="{9199BBED-5B76-4AE2-A60D-3B6A3E49B714}"/>
              </a:ext>
            </a:extLst>
          </p:cNvPr>
          <p:cNvSpPr>
            <a:spLocks noGrp="1"/>
          </p:cNvSpPr>
          <p:nvPr/>
        </p:nvSpPr>
        <p:spPr>
          <a:xfrm>
            <a:off x="548640" y="2542032"/>
            <a:ext cx="8046720" cy="310896"/>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Raul Veca</a:t>
            </a:r>
            <a:endParaRPr sz="1500"/>
          </a:p>
        </p:txBody>
      </p:sp>
      <p:sp>
        <p:nvSpPr>
          <p:cNvPr id="7" name="Text 4">
            <a:extLst>
              <a:ext uri="{FF2B5EF4-FFF2-40B4-BE49-F238E27FC236}">
                <a16:creationId xmlns:a16="http://schemas.microsoft.com/office/drawing/2014/main" id="{24953255-E0A8-47D0-B84F-D29998F9FB77}"/>
              </a:ext>
            </a:extLst>
          </p:cNvPr>
          <p:cNvSpPr>
            <a:spLocks noGrp="1"/>
          </p:cNvSpPr>
          <p:nvPr/>
        </p:nvSpPr>
        <p:spPr>
          <a:xfrm>
            <a:off x="548640" y="2880360"/>
            <a:ext cx="8046720" cy="274320"/>
          </a:xfrm>
          <a:prstGeom prst="rect">
            <a:avLst/>
          </a:prstGeom>
          <a:noFill/>
        </p:spPr>
        <p:txBody>
          <a:bodyPr wrap="square" lIns="0" tIns="0" rIns="0" bIns="0" anchor="ctr"/>
          <a:lstStyle/>
          <a:p>
            <a:pPr marL="0" indent="0" algn="ctr">
              <a:buNone/>
            </a:pPr>
            <a:r>
              <a:rPr sz="1200">
                <a:solidFill>
                  <a:srgbClr val="D6E0F0"/>
                </a:solidFill>
                <a:latin typeface="Arial"/>
                <a:ea typeface="Arial"/>
                <a:cs typeface="Arial"/>
              </a:rPr>
              <a:t>Supervisor: Lect. Dr. Sebastian Ștefăniga</a:t>
            </a:r>
            <a:endParaRPr sz="1200"/>
          </a:p>
        </p:txBody>
      </p:sp>
      <p:sp>
        <p:nvSpPr>
          <p:cNvPr id="8" name="Text 5">
            <a:extLst>
              <a:ext uri="{FF2B5EF4-FFF2-40B4-BE49-F238E27FC236}">
                <a16:creationId xmlns:a16="http://schemas.microsoft.com/office/drawing/2014/main" id="{D5F56F48-5939-473B-87F3-7CBFE102FF7C}"/>
              </a:ext>
            </a:extLst>
          </p:cNvPr>
          <p:cNvSpPr>
            <a:spLocks noGrp="1"/>
          </p:cNvSpPr>
          <p:nvPr/>
        </p:nvSpPr>
        <p:spPr>
          <a:xfrm>
            <a:off x="548640" y="3172968"/>
            <a:ext cx="8046720" cy="274320"/>
          </a:xfrm>
          <a:prstGeom prst="rect">
            <a:avLst/>
          </a:prstGeom>
          <a:noFill/>
        </p:spPr>
        <p:txBody>
          <a:bodyPr wrap="square" lIns="0" tIns="0" rIns="0" bIns="0" anchor="ctr"/>
          <a:lstStyle/>
          <a:p>
            <a:pPr marL="0" indent="0" algn="ctr">
              <a:buNone/>
            </a:pPr>
            <a:r>
              <a:rPr sz="1200">
                <a:solidFill>
                  <a:srgbClr val="D6E0F0"/>
                </a:solidFill>
                <a:latin typeface="Arial"/>
                <a:ea typeface="Arial"/>
                <a:cs typeface="Arial"/>
              </a:rPr>
              <a:t>Faculty of Computer Science  ·  Bachelor Thesis Defense, 2026</a:t>
            </a:r>
            <a:endParaRPr sz="1200"/>
          </a:p>
        </p:txBody>
      </p:sp>
      <p:sp>
        <p:nvSpPr>
          <p:cNvPr id="9" name="Text 6">
            <a:extLst>
              <a:ext uri="{FF2B5EF4-FFF2-40B4-BE49-F238E27FC236}">
                <a16:creationId xmlns:a16="http://schemas.microsoft.com/office/drawing/2014/main" id="{2BE51FB1-7D79-4C45-89FD-14340A28CD6D}"/>
              </a:ext>
            </a:extLst>
          </p:cNvPr>
          <p:cNvSpPr>
            <a:spLocks noGrp="1"/>
          </p:cNvSpPr>
          <p:nvPr/>
        </p:nvSpPr>
        <p:spPr>
          <a:xfrm>
            <a:off x="411480" y="4663440"/>
            <a:ext cx="2743200" cy="274320"/>
          </a:xfrm>
          <a:prstGeom prst="rect">
            <a:avLst/>
          </a:prstGeom>
          <a:noFill/>
        </p:spPr>
        <p:txBody>
          <a:bodyPr wrap="square" lIns="0" tIns="0" rIns="0" bIns="0" anchor="ctr"/>
          <a:lstStyle/>
          <a:p>
            <a:pPr marL="0" indent="0">
              <a:buNone/>
            </a:pPr>
            <a:r>
              <a:rPr sz="1150" b="1">
                <a:solidFill>
                  <a:srgbClr val="7E93B8"/>
                </a:solidFill>
                <a:latin typeface="Arial"/>
                <a:ea typeface="Arial"/>
                <a:cs typeface="Arial"/>
              </a:rPr>
              <a:t>www.uvt.ro</a:t>
            </a:r>
            <a:endParaRPr sz="1150"/>
          </a:p>
        </p:txBody>
      </p:sp>
    </p:spTree>
    <p:extLst>
      <p:ext uri="{BB962C8B-B14F-4D97-AF65-F5344CB8AC3E}">
        <p14:creationId xmlns:p14="http://schemas.microsoft.com/office/powerpoint/2010/main" val="1778168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 name="Image 0"/>
          <p:cNvPicPr>
            <a:picLocks noChangeAspect="1"/>
          </p:cNvPicPr>
          <p:nvPr/>
        </p:nvPicPr>
        <p:blipFill>
          <a:blip r:embed="rId3"/>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727EED1E-8817-4DBF-B837-5AA6F2663D01}"/>
              </a:ext>
            </a:extLst>
          </p:cNvPr>
          <p:cNvSpPr>
            <a:spLocks noGrp="1"/>
          </p:cNvSpPr>
          <p:nvPr/>
        </p:nvSpPr>
        <p:spPr>
          <a:xfrm>
            <a:off x="1261872" y="82296"/>
            <a:ext cx="7543800" cy="365760"/>
          </a:xfrm>
          <a:prstGeom prst="rect">
            <a:avLst/>
          </a:prstGeom>
          <a:noFill/>
        </p:spPr>
        <p:txBody>
          <a:bodyPr wrap="square" lIns="0" tIns="0" rIns="0" bIns="0" anchor="ctr"/>
          <a:lstStyle/>
          <a:p>
            <a:pPr marL="0" indent="0">
              <a:buNone/>
            </a:pPr>
            <a:r>
              <a:rPr sz="2100" b="1">
                <a:solidFill>
                  <a:srgbClr val="022461"/>
                </a:solidFill>
                <a:latin typeface="Arial"/>
                <a:ea typeface="Arial"/>
                <a:cs typeface="Arial"/>
              </a:rPr>
              <a:t>Problem and Motivation</a:t>
            </a:r>
            <a:endParaRPr sz="2100"/>
          </a:p>
        </p:txBody>
      </p:sp>
      <p:sp>
        <p:nvSpPr>
          <p:cNvPr id="4" name="Text 1">
            <a:extLst>
              <a:ext uri="{FF2B5EF4-FFF2-40B4-BE49-F238E27FC236}">
                <a16:creationId xmlns:a16="http://schemas.microsoft.com/office/drawing/2014/main" id="{D83C1CFA-4894-43E5-9409-A9B0790B3D57}"/>
              </a:ext>
            </a:extLst>
          </p:cNvPr>
          <p:cNvSpPr>
            <a:spLocks noGrp="1"/>
          </p:cNvSpPr>
          <p:nvPr/>
        </p:nvSpPr>
        <p:spPr>
          <a:xfrm>
            <a:off x="1280160" y="457200"/>
            <a:ext cx="7543800" cy="274320"/>
          </a:xfrm>
          <a:prstGeom prst="rect">
            <a:avLst/>
          </a:prstGeom>
          <a:noFill/>
        </p:spPr>
        <p:txBody>
          <a:bodyPr wrap="square" lIns="0" tIns="0" rIns="0" bIns="0" anchor="ctr"/>
          <a:lstStyle/>
          <a:p>
            <a:pPr marL="0" indent="0">
              <a:buNone/>
            </a:pPr>
            <a:r>
              <a:rPr sz="1250">
                <a:solidFill>
                  <a:srgbClr val="2F5D8C"/>
                </a:solidFill>
                <a:latin typeface="Arial"/>
                <a:ea typeface="Arial"/>
                <a:cs typeface="Arial"/>
              </a:rPr>
              <a:t>A storefront and a CRM should not depend on fragile synchronization</a:t>
            </a:r>
            <a:endParaRPr sz="1250"/>
          </a:p>
        </p:txBody>
      </p:sp>
      <p:sp>
        <p:nvSpPr>
          <p:cNvPr id="5" name="Shape 2">
            <a:extLst>
              <a:ext uri="{FF2B5EF4-FFF2-40B4-BE49-F238E27FC236}">
                <a16:creationId xmlns:a16="http://schemas.microsoft.com/office/drawing/2014/main" id="{97310889-A941-4FBD-96B1-8D543D91EC03}"/>
              </a:ext>
            </a:extLst>
          </p:cNvPr>
          <p:cNvSpPr>
            <a:spLocks noGrp="1"/>
          </p:cNvSpPr>
          <p:nvPr/>
        </p:nvSpPr>
        <p:spPr>
          <a:xfrm>
            <a:off x="0" y="5001768"/>
            <a:ext cx="9144000" cy="141732"/>
          </a:xfrm>
          <a:prstGeom prst="rect">
            <a:avLst/>
          </a:prstGeom>
          <a:solidFill>
            <a:srgbClr val="FEF3F7"/>
          </a:solidFill>
        </p:spPr>
        <p:txBody>
          <a:bodyPr/>
          <a:lstStyle/>
          <a:p>
            <a:endParaRPr/>
          </a:p>
        </p:txBody>
      </p:sp>
      <p:sp>
        <p:nvSpPr>
          <p:cNvPr id="6" name="Shape 3">
            <a:extLst>
              <a:ext uri="{FF2B5EF4-FFF2-40B4-BE49-F238E27FC236}">
                <a16:creationId xmlns:a16="http://schemas.microsoft.com/office/drawing/2014/main" id="{626AF46F-849D-40C5-8EBC-F17B06FF2502}"/>
              </a:ext>
            </a:extLst>
          </p:cNvPr>
          <p:cNvSpPr>
            <a:spLocks noGrp="1"/>
          </p:cNvSpPr>
          <p:nvPr/>
        </p:nvSpPr>
        <p:spPr>
          <a:xfrm>
            <a:off x="283464" y="4727448"/>
            <a:ext cx="7699248" cy="256032"/>
          </a:xfrm>
          <a:prstGeom prst="roundRect">
            <a:avLst>
              <a:gd name="adj" fmla="val 46429"/>
            </a:avLst>
          </a:prstGeom>
          <a:solidFill>
            <a:srgbClr val="FEF3F7"/>
          </a:solidFill>
        </p:spPr>
        <p:txBody>
          <a:bodyPr/>
          <a:lstStyle/>
          <a:p>
            <a:endParaRPr/>
          </a:p>
        </p:txBody>
      </p:sp>
      <p:sp>
        <p:nvSpPr>
          <p:cNvPr id="7" name="Shape 4">
            <a:extLst>
              <a:ext uri="{FF2B5EF4-FFF2-40B4-BE49-F238E27FC236}">
                <a16:creationId xmlns:a16="http://schemas.microsoft.com/office/drawing/2014/main" id="{D3F8A67F-93C3-4068-A227-E544BC92EAFB}"/>
              </a:ext>
            </a:extLst>
          </p:cNvPr>
          <p:cNvSpPr>
            <a:spLocks noGrp="1"/>
          </p:cNvSpPr>
          <p:nvPr/>
        </p:nvSpPr>
        <p:spPr>
          <a:xfrm>
            <a:off x="283464" y="4709160"/>
            <a:ext cx="8577072" cy="0"/>
          </a:xfrm>
          <a:prstGeom prst="line">
            <a:avLst/>
          </a:prstGeom>
          <a:noFill/>
          <a:ln w="9525">
            <a:solidFill>
              <a:srgbClr val="BFBFBF"/>
            </a:solidFill>
            <a:prstDash val="solid"/>
          </a:ln>
        </p:spPr>
        <p:txBody>
          <a:bodyPr/>
          <a:lstStyle/>
          <a:p>
            <a:endParaRPr/>
          </a:p>
        </p:txBody>
      </p:sp>
      <p:sp>
        <p:nvSpPr>
          <p:cNvPr id="8" name="Text 5">
            <a:extLst>
              <a:ext uri="{FF2B5EF4-FFF2-40B4-BE49-F238E27FC236}">
                <a16:creationId xmlns:a16="http://schemas.microsoft.com/office/drawing/2014/main" id="{9380F4BF-AE32-45B3-A251-3F6A48481C41}"/>
              </a:ext>
            </a:extLst>
          </p:cNvPr>
          <p:cNvSpPr>
            <a:spLocks noGrp="1"/>
          </p:cNvSpPr>
          <p:nvPr/>
        </p:nvSpPr>
        <p:spPr>
          <a:xfrm>
            <a:off x="411480" y="4727448"/>
            <a:ext cx="5486400" cy="256032"/>
          </a:xfrm>
          <a:prstGeom prst="rect">
            <a:avLst/>
          </a:prstGeom>
          <a:noFill/>
        </p:spPr>
        <p:txBody>
          <a:bodyPr wrap="square" lIns="0" tIns="0" rIns="0" bIns="0" anchor="ctr"/>
          <a:lstStyle/>
          <a:p>
            <a:pPr marL="0" indent="0">
              <a:buNone/>
            </a:pPr>
            <a:r>
              <a:rPr sz="750" b="1">
                <a:solidFill>
                  <a:srgbClr val="3C3C3C"/>
                </a:solidFill>
                <a:latin typeface="Arial"/>
                <a:ea typeface="Arial"/>
                <a:cs typeface="Arial"/>
              </a:rPr>
              <a:t>Raul Veca   -   WEST UNIVERSITY OF TIMIȘOARA</a:t>
            </a:r>
            <a:endParaRPr sz="750"/>
          </a:p>
        </p:txBody>
      </p:sp>
      <p:sp>
        <p:nvSpPr>
          <p:cNvPr id="9" name="Text 6">
            <a:extLst>
              <a:ext uri="{FF2B5EF4-FFF2-40B4-BE49-F238E27FC236}">
                <a16:creationId xmlns:a16="http://schemas.microsoft.com/office/drawing/2014/main" id="{DF1CCBEE-F80E-45A5-83D9-4BC9239674E8}"/>
              </a:ext>
            </a:extLst>
          </p:cNvPr>
          <p:cNvSpPr>
            <a:spLocks noGrp="1"/>
          </p:cNvSpPr>
          <p:nvPr/>
        </p:nvSpPr>
        <p:spPr>
          <a:xfrm>
            <a:off x="7223760" y="4727448"/>
            <a:ext cx="1636776" cy="256032"/>
          </a:xfrm>
          <a:prstGeom prst="rect">
            <a:avLst/>
          </a:prstGeom>
          <a:noFill/>
        </p:spPr>
        <p:txBody>
          <a:bodyPr wrap="square" lIns="0" tIns="0" rIns="0" bIns="0" anchor="ctr"/>
          <a:lstStyle/>
          <a:p>
            <a:pPr marL="0" indent="0" algn="r">
              <a:buNone/>
            </a:pPr>
            <a:r>
              <a:rPr sz="750" b="1">
                <a:solidFill>
                  <a:srgbClr val="3C3C3C"/>
                </a:solidFill>
                <a:latin typeface="Arial"/>
                <a:ea typeface="Arial"/>
                <a:cs typeface="Arial"/>
              </a:rPr>
              <a:t>Page 1 / 6</a:t>
            </a:r>
            <a:endParaRPr sz="750"/>
          </a:p>
        </p:txBody>
      </p:sp>
      <p:sp>
        <p:nvSpPr>
          <p:cNvPr id="10" name="Text 7">
            <a:extLst>
              <a:ext uri="{FF2B5EF4-FFF2-40B4-BE49-F238E27FC236}">
                <a16:creationId xmlns:a16="http://schemas.microsoft.com/office/drawing/2014/main" id="{5EEBF62B-D48F-4E4B-9241-3FD210A59CD6}"/>
              </a:ext>
            </a:extLst>
          </p:cNvPr>
          <p:cNvSpPr>
            <a:spLocks noGrp="1"/>
          </p:cNvSpPr>
          <p:nvPr/>
        </p:nvSpPr>
        <p:spPr>
          <a:xfrm>
            <a:off x="411480" y="1051560"/>
            <a:ext cx="4892040" cy="914400"/>
          </a:xfrm>
          <a:prstGeom prst="rect">
            <a:avLst/>
          </a:prstGeom>
          <a:noFill/>
        </p:spPr>
        <p:txBody>
          <a:bodyPr wrap="square" lIns="0" tIns="0" rIns="0" bIns="0" anchor="ctr"/>
          <a:lstStyle/>
          <a:p>
            <a:pPr marL="0" indent="0">
              <a:lnSpc>
                <a:spcPct val="114000"/>
              </a:lnSpc>
              <a:buNone/>
            </a:pPr>
            <a:r>
              <a:rPr sz="1150" b="1">
                <a:solidFill>
                  <a:srgbClr val="1A1A1A"/>
                </a:solidFill>
                <a:latin typeface="Arial"/>
                <a:ea typeface="Arial"/>
                <a:cs typeface="Arial"/>
              </a:rPr>
              <a:t>The customer side.  </a:t>
            </a:r>
            <a:r>
              <a:rPr sz="1150">
                <a:solidFill>
                  <a:srgbClr val="1A1A1A"/>
                </a:solidFill>
                <a:latin typeface="Arial"/>
                <a:ea typeface="Arial"/>
                <a:cs typeface="Arial"/>
              </a:rPr>
              <a:t>Learners need a clear catalogue, trusted reviews, quick purchase and simple tutoring reservations.</a:t>
            </a:r>
            <a:endParaRPr sz="1150"/>
          </a:p>
        </p:txBody>
      </p:sp>
      <p:sp>
        <p:nvSpPr>
          <p:cNvPr id="11" name="Text 8">
            <a:extLst>
              <a:ext uri="{FF2B5EF4-FFF2-40B4-BE49-F238E27FC236}">
                <a16:creationId xmlns:a16="http://schemas.microsoft.com/office/drawing/2014/main" id="{6E183F87-2AE3-4272-94A9-918E487EAC61}"/>
              </a:ext>
            </a:extLst>
          </p:cNvPr>
          <p:cNvSpPr>
            <a:spLocks noGrp="1"/>
          </p:cNvSpPr>
          <p:nvPr/>
        </p:nvSpPr>
        <p:spPr>
          <a:xfrm>
            <a:off x="411480" y="2057400"/>
            <a:ext cx="4892040" cy="1143000"/>
          </a:xfrm>
          <a:prstGeom prst="rect">
            <a:avLst/>
          </a:prstGeom>
          <a:noFill/>
        </p:spPr>
        <p:txBody>
          <a:bodyPr wrap="square" lIns="0" tIns="0" rIns="0" bIns="0" anchor="ctr"/>
          <a:lstStyle/>
          <a:p>
            <a:pPr marL="0" indent="0">
              <a:lnSpc>
                <a:spcPct val="114000"/>
              </a:lnSpc>
              <a:buNone/>
            </a:pPr>
            <a:r>
              <a:rPr sz="1150" b="1">
                <a:solidFill>
                  <a:srgbClr val="1A1A1A"/>
                </a:solidFill>
                <a:latin typeface="Arial"/>
                <a:ea typeface="Arial"/>
                <a:cs typeface="Arial"/>
              </a:rPr>
              <a:t>The business side.  </a:t>
            </a:r>
            <a:r>
              <a:rPr sz="1150">
                <a:solidFill>
                  <a:srgbClr val="1A1A1A"/>
                </a:solidFill>
                <a:latin typeface="Arial"/>
                <a:ea typeface="Arial"/>
                <a:cs typeface="Arial"/>
              </a:rPr>
              <a:t>The company needs leads, purchases, invoices, analytics and corporate clients in one operational view.</a:t>
            </a:r>
            <a:endParaRPr sz="1150"/>
          </a:p>
        </p:txBody>
      </p:sp>
      <p:sp>
        <p:nvSpPr>
          <p:cNvPr id="12" name="Text 9">
            <a:extLst>
              <a:ext uri="{FF2B5EF4-FFF2-40B4-BE49-F238E27FC236}">
                <a16:creationId xmlns:a16="http://schemas.microsoft.com/office/drawing/2014/main" id="{157B89AA-4A71-4B67-85EA-66BA6E469432}"/>
              </a:ext>
            </a:extLst>
          </p:cNvPr>
          <p:cNvSpPr>
            <a:spLocks noGrp="1"/>
          </p:cNvSpPr>
          <p:nvPr/>
        </p:nvSpPr>
        <p:spPr>
          <a:xfrm>
            <a:off x="411480" y="3291840"/>
            <a:ext cx="4892040" cy="960120"/>
          </a:xfrm>
          <a:prstGeom prst="rect">
            <a:avLst/>
          </a:prstGeom>
          <a:noFill/>
        </p:spPr>
        <p:txBody>
          <a:bodyPr wrap="square" lIns="0" tIns="0" rIns="0" bIns="0" anchor="ctr"/>
          <a:lstStyle/>
          <a:p>
            <a:pPr marL="0" indent="0">
              <a:lnSpc>
                <a:spcPct val="114000"/>
              </a:lnSpc>
              <a:buNone/>
            </a:pPr>
            <a:r>
              <a:rPr sz="1150" b="1">
                <a:solidFill>
                  <a:srgbClr val="1A1A1A"/>
                </a:solidFill>
                <a:latin typeface="Arial"/>
                <a:ea typeface="Arial"/>
                <a:cs typeface="Arial"/>
              </a:rPr>
              <a:t>The integration gap.  </a:t>
            </a:r>
            <a:r>
              <a:rPr sz="1150">
                <a:solidFill>
                  <a:srgbClr val="1A1A1A"/>
                </a:solidFill>
                <a:latin typeface="Arial"/>
                <a:ea typeface="Arial"/>
                <a:cs typeface="Arial"/>
              </a:rPr>
              <a:t>Separate tools create duplicate or inconsistent data and require slow manual reconciliation.</a:t>
            </a:r>
            <a:endParaRPr sz="1150"/>
          </a:p>
        </p:txBody>
      </p:sp>
      <p:sp>
        <p:nvSpPr>
          <p:cNvPr id="13" name="Shape 10">
            <a:extLst>
              <a:ext uri="{FF2B5EF4-FFF2-40B4-BE49-F238E27FC236}">
                <a16:creationId xmlns:a16="http://schemas.microsoft.com/office/drawing/2014/main" id="{A2DC0BC8-8B82-416E-9FF5-D74A92A7EF23}"/>
              </a:ext>
            </a:extLst>
          </p:cNvPr>
          <p:cNvSpPr>
            <a:spLocks noGrp="1"/>
          </p:cNvSpPr>
          <p:nvPr/>
        </p:nvSpPr>
        <p:spPr>
          <a:xfrm>
            <a:off x="5532120" y="1051560"/>
            <a:ext cx="3200400" cy="329184"/>
          </a:xfrm>
          <a:prstGeom prst="rect">
            <a:avLst/>
          </a:prstGeom>
          <a:solidFill>
            <a:srgbClr val="E4AB26"/>
          </a:solidFill>
        </p:spPr>
        <p:txBody>
          <a:bodyPr/>
          <a:lstStyle/>
          <a:p>
            <a:endParaRPr/>
          </a:p>
        </p:txBody>
      </p:sp>
      <p:sp>
        <p:nvSpPr>
          <p:cNvPr id="14" name="Text 11">
            <a:extLst>
              <a:ext uri="{FF2B5EF4-FFF2-40B4-BE49-F238E27FC236}">
                <a16:creationId xmlns:a16="http://schemas.microsoft.com/office/drawing/2014/main" id="{B09D7DC0-795C-4E7B-9EC3-2A82821615B8}"/>
              </a:ext>
            </a:extLst>
          </p:cNvPr>
          <p:cNvSpPr>
            <a:spLocks noGrp="1"/>
          </p:cNvSpPr>
          <p:nvPr/>
        </p:nvSpPr>
        <p:spPr>
          <a:xfrm>
            <a:off x="5650992" y="1051560"/>
            <a:ext cx="2962656" cy="329184"/>
          </a:xfrm>
          <a:prstGeom prst="rect">
            <a:avLst/>
          </a:prstGeom>
          <a:noFill/>
        </p:spPr>
        <p:txBody>
          <a:bodyPr wrap="square" lIns="0" tIns="0" rIns="0" bIns="0" anchor="ctr"/>
          <a:lstStyle/>
          <a:p>
            <a:pPr marL="0" indent="0">
              <a:buNone/>
            </a:pPr>
            <a:r>
              <a:rPr sz="1300" b="1">
                <a:solidFill>
                  <a:srgbClr val="FFFFFF"/>
                </a:solidFill>
                <a:latin typeface="Arial"/>
                <a:ea typeface="Arial"/>
                <a:cs typeface="Arial"/>
              </a:rPr>
              <a:t>Problem statement</a:t>
            </a:r>
            <a:endParaRPr sz="1300"/>
          </a:p>
        </p:txBody>
      </p:sp>
      <p:sp>
        <p:nvSpPr>
          <p:cNvPr id="15" name="Shape 12">
            <a:extLst>
              <a:ext uri="{FF2B5EF4-FFF2-40B4-BE49-F238E27FC236}">
                <a16:creationId xmlns:a16="http://schemas.microsoft.com/office/drawing/2014/main" id="{3B5BAE06-7CB9-4BE2-96FD-8153990A7940}"/>
              </a:ext>
            </a:extLst>
          </p:cNvPr>
          <p:cNvSpPr>
            <a:spLocks noGrp="1"/>
          </p:cNvSpPr>
          <p:nvPr/>
        </p:nvSpPr>
        <p:spPr>
          <a:xfrm>
            <a:off x="5532120" y="1380744"/>
            <a:ext cx="3200400" cy="1664208"/>
          </a:xfrm>
          <a:prstGeom prst="rect">
            <a:avLst/>
          </a:prstGeom>
          <a:solidFill>
            <a:srgbClr val="FEF3F7"/>
          </a:solidFill>
        </p:spPr>
        <p:txBody>
          <a:bodyPr/>
          <a:lstStyle/>
          <a:p>
            <a:endParaRPr/>
          </a:p>
        </p:txBody>
      </p:sp>
      <p:sp>
        <p:nvSpPr>
          <p:cNvPr id="16" name="Text 13">
            <a:extLst>
              <a:ext uri="{FF2B5EF4-FFF2-40B4-BE49-F238E27FC236}">
                <a16:creationId xmlns:a16="http://schemas.microsoft.com/office/drawing/2014/main" id="{68201F8D-65D6-45F1-9B92-6E40FF898B83}"/>
              </a:ext>
            </a:extLst>
          </p:cNvPr>
          <p:cNvSpPr>
            <a:spLocks noGrp="1"/>
          </p:cNvSpPr>
          <p:nvPr/>
        </p:nvSpPr>
        <p:spPr>
          <a:xfrm>
            <a:off x="5678424" y="1426464"/>
            <a:ext cx="2907792" cy="1572768"/>
          </a:xfrm>
          <a:prstGeom prst="rect">
            <a:avLst/>
          </a:prstGeom>
          <a:noFill/>
        </p:spPr>
        <p:txBody>
          <a:bodyPr wrap="square" lIns="0" tIns="0" rIns="0" bIns="0" anchor="t"/>
          <a:lstStyle/>
          <a:p>
            <a:pPr marL="0" indent="0">
              <a:lnSpc>
                <a:spcPct val="112000"/>
              </a:lnSpc>
              <a:buNone/>
            </a:pPr>
            <a:r>
              <a:rPr sz="1100">
                <a:solidFill>
                  <a:srgbClr val="1A1A1A"/>
                </a:solidFill>
                <a:latin typeface="Arial"/>
                <a:ea typeface="Arial"/>
                <a:cs typeface="Arial"/>
              </a:rPr>
              <a:t>Use one application and one shared data model so each customer action is captured once and drives the relevant CRM processes automatically.</a:t>
            </a:r>
            <a:endParaRPr sz="1100"/>
          </a:p>
        </p:txBody>
      </p:sp>
      <p:sp>
        <p:nvSpPr>
          <p:cNvPr id="17" name="Shape 14">
            <a:extLst>
              <a:ext uri="{FF2B5EF4-FFF2-40B4-BE49-F238E27FC236}">
                <a16:creationId xmlns:a16="http://schemas.microsoft.com/office/drawing/2014/main" id="{68DC7C44-6C52-419B-8632-CF1442AAE42D}"/>
              </a:ext>
            </a:extLst>
          </p:cNvPr>
          <p:cNvSpPr>
            <a:spLocks noGrp="1"/>
          </p:cNvSpPr>
          <p:nvPr/>
        </p:nvSpPr>
        <p:spPr>
          <a:xfrm>
            <a:off x="5532120" y="2999232"/>
            <a:ext cx="3200400" cy="914400"/>
          </a:xfrm>
          <a:prstGeom prst="rect">
            <a:avLst/>
          </a:prstGeom>
          <a:solidFill>
            <a:srgbClr val="F0F7FF"/>
          </a:solidFill>
        </p:spPr>
        <p:txBody>
          <a:bodyPr/>
          <a:lstStyle/>
          <a:p>
            <a:endParaRPr/>
          </a:p>
        </p:txBody>
      </p:sp>
      <p:sp>
        <p:nvSpPr>
          <p:cNvPr id="18" name="Text 15">
            <a:extLst>
              <a:ext uri="{FF2B5EF4-FFF2-40B4-BE49-F238E27FC236}">
                <a16:creationId xmlns:a16="http://schemas.microsoft.com/office/drawing/2014/main" id="{889380F8-0B62-4373-A538-00219B12C968}"/>
              </a:ext>
            </a:extLst>
          </p:cNvPr>
          <p:cNvSpPr>
            <a:spLocks noGrp="1"/>
          </p:cNvSpPr>
          <p:nvPr/>
        </p:nvSpPr>
        <p:spPr>
          <a:xfrm>
            <a:off x="5678424" y="3035808"/>
            <a:ext cx="2907792" cy="841248"/>
          </a:xfrm>
          <a:prstGeom prst="rect">
            <a:avLst/>
          </a:prstGeom>
          <a:noFill/>
        </p:spPr>
        <p:txBody>
          <a:bodyPr wrap="square" lIns="0" tIns="0" rIns="0" bIns="0" anchor="ctr"/>
          <a:lstStyle/>
          <a:p>
            <a:pPr marL="0" indent="0" algn="l">
              <a:lnSpc>
                <a:spcPct val="112000"/>
              </a:lnSpc>
              <a:buNone/>
            </a:pPr>
            <a:r>
              <a:rPr sz="1050">
                <a:solidFill>
                  <a:srgbClr val="1A1A1A"/>
                </a:solidFill>
                <a:latin typeface="Arial"/>
                <a:ea typeface="Arial"/>
                <a:cs typeface="Arial"/>
              </a:rPr>
              <a:t>One system. Two role-based experiences. No manual reconciliation.</a:t>
            </a:r>
            <a:endParaRPr sz="1050"/>
          </a:p>
        </p:txBody>
      </p:sp>
    </p:spTree>
    <p:extLst>
      <p:ext uri="{BB962C8B-B14F-4D97-AF65-F5344CB8AC3E}">
        <p14:creationId xmlns:p14="http://schemas.microsoft.com/office/powerpoint/2010/main" val="318767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Image 0"/>
          <p:cNvPicPr>
            <a:picLocks noChangeAspect="1"/>
          </p:cNvPicPr>
          <p:nvPr/>
        </p:nvPicPr>
        <p:blipFill>
          <a:blip r:embed="rId3"/>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C6632FE3-6043-4E88-A82E-3DAEC8CCB248}"/>
              </a:ext>
            </a:extLst>
          </p:cNvPr>
          <p:cNvSpPr>
            <a:spLocks noGrp="1"/>
          </p:cNvSpPr>
          <p:nvPr/>
        </p:nvSpPr>
        <p:spPr>
          <a:xfrm>
            <a:off x="1261872" y="82296"/>
            <a:ext cx="7543800" cy="365760"/>
          </a:xfrm>
          <a:prstGeom prst="rect">
            <a:avLst/>
          </a:prstGeom>
          <a:noFill/>
        </p:spPr>
        <p:txBody>
          <a:bodyPr wrap="square" lIns="0" tIns="0" rIns="0" bIns="0" anchor="ctr"/>
          <a:lstStyle/>
          <a:p>
            <a:pPr marL="0" indent="0">
              <a:buNone/>
            </a:pPr>
            <a:r>
              <a:rPr sz="2100" b="1">
                <a:solidFill>
                  <a:srgbClr val="022461"/>
                </a:solidFill>
                <a:latin typeface="Arial"/>
                <a:ea typeface="Arial"/>
                <a:cs typeface="Arial"/>
              </a:rPr>
              <a:t>One Platform, Two Experiences</a:t>
            </a:r>
            <a:endParaRPr sz="2100"/>
          </a:p>
        </p:txBody>
      </p:sp>
      <p:sp>
        <p:nvSpPr>
          <p:cNvPr id="4" name="Text 1">
            <a:extLst>
              <a:ext uri="{FF2B5EF4-FFF2-40B4-BE49-F238E27FC236}">
                <a16:creationId xmlns:a16="http://schemas.microsoft.com/office/drawing/2014/main" id="{94AF8A5C-91E7-491A-AD36-C9D97FF93610}"/>
              </a:ext>
            </a:extLst>
          </p:cNvPr>
          <p:cNvSpPr>
            <a:spLocks noGrp="1"/>
          </p:cNvSpPr>
          <p:nvPr/>
        </p:nvSpPr>
        <p:spPr>
          <a:xfrm>
            <a:off x="1280160" y="457200"/>
            <a:ext cx="7543800" cy="274320"/>
          </a:xfrm>
          <a:prstGeom prst="rect">
            <a:avLst/>
          </a:prstGeom>
          <a:noFill/>
        </p:spPr>
        <p:txBody>
          <a:bodyPr wrap="square" lIns="0" tIns="0" rIns="0" bIns="0" anchor="ctr"/>
          <a:lstStyle/>
          <a:p>
            <a:pPr marL="0" indent="0">
              <a:buNone/>
            </a:pPr>
            <a:r>
              <a:rPr sz="1250">
                <a:solidFill>
                  <a:srgbClr val="2F5D8C"/>
                </a:solidFill>
                <a:latin typeface="Arial"/>
                <a:ea typeface="Arial"/>
                <a:cs typeface="Arial"/>
              </a:rPr>
              <a:t>The learner portal and the CRM share the same operational data</a:t>
            </a:r>
            <a:endParaRPr sz="1250"/>
          </a:p>
        </p:txBody>
      </p:sp>
      <p:sp>
        <p:nvSpPr>
          <p:cNvPr id="5" name="Shape 2">
            <a:extLst>
              <a:ext uri="{FF2B5EF4-FFF2-40B4-BE49-F238E27FC236}">
                <a16:creationId xmlns:a16="http://schemas.microsoft.com/office/drawing/2014/main" id="{BA2B8265-FB91-4620-81B3-A13A98AADB44}"/>
              </a:ext>
            </a:extLst>
          </p:cNvPr>
          <p:cNvSpPr>
            <a:spLocks noGrp="1"/>
          </p:cNvSpPr>
          <p:nvPr/>
        </p:nvSpPr>
        <p:spPr>
          <a:xfrm>
            <a:off x="0" y="5001768"/>
            <a:ext cx="9144000" cy="141732"/>
          </a:xfrm>
          <a:prstGeom prst="rect">
            <a:avLst/>
          </a:prstGeom>
          <a:solidFill>
            <a:srgbClr val="FEF3F7"/>
          </a:solidFill>
        </p:spPr>
        <p:txBody>
          <a:bodyPr/>
          <a:lstStyle/>
          <a:p>
            <a:endParaRPr/>
          </a:p>
        </p:txBody>
      </p:sp>
      <p:sp>
        <p:nvSpPr>
          <p:cNvPr id="6" name="Shape 3">
            <a:extLst>
              <a:ext uri="{FF2B5EF4-FFF2-40B4-BE49-F238E27FC236}">
                <a16:creationId xmlns:a16="http://schemas.microsoft.com/office/drawing/2014/main" id="{40EE9A1B-1994-4209-B403-AC10225A8C6B}"/>
              </a:ext>
            </a:extLst>
          </p:cNvPr>
          <p:cNvSpPr>
            <a:spLocks noGrp="1"/>
          </p:cNvSpPr>
          <p:nvPr/>
        </p:nvSpPr>
        <p:spPr>
          <a:xfrm>
            <a:off x="283464" y="4727448"/>
            <a:ext cx="7699248" cy="256032"/>
          </a:xfrm>
          <a:prstGeom prst="roundRect">
            <a:avLst>
              <a:gd name="adj" fmla="val 46429"/>
            </a:avLst>
          </a:prstGeom>
          <a:solidFill>
            <a:srgbClr val="FEF3F7"/>
          </a:solidFill>
        </p:spPr>
        <p:txBody>
          <a:bodyPr/>
          <a:lstStyle/>
          <a:p>
            <a:endParaRPr/>
          </a:p>
        </p:txBody>
      </p:sp>
      <p:sp>
        <p:nvSpPr>
          <p:cNvPr id="7" name="Shape 4">
            <a:extLst>
              <a:ext uri="{FF2B5EF4-FFF2-40B4-BE49-F238E27FC236}">
                <a16:creationId xmlns:a16="http://schemas.microsoft.com/office/drawing/2014/main" id="{91456E8E-C6A7-48A9-B35E-4F03F65DF3D0}"/>
              </a:ext>
            </a:extLst>
          </p:cNvPr>
          <p:cNvSpPr>
            <a:spLocks noGrp="1"/>
          </p:cNvSpPr>
          <p:nvPr/>
        </p:nvSpPr>
        <p:spPr>
          <a:xfrm>
            <a:off x="283464" y="4709160"/>
            <a:ext cx="8577072" cy="0"/>
          </a:xfrm>
          <a:prstGeom prst="line">
            <a:avLst/>
          </a:prstGeom>
          <a:noFill/>
          <a:ln w="9525">
            <a:solidFill>
              <a:srgbClr val="BFBFBF"/>
            </a:solidFill>
            <a:prstDash val="solid"/>
          </a:ln>
        </p:spPr>
        <p:txBody>
          <a:bodyPr/>
          <a:lstStyle/>
          <a:p>
            <a:endParaRPr/>
          </a:p>
        </p:txBody>
      </p:sp>
      <p:sp>
        <p:nvSpPr>
          <p:cNvPr id="8" name="Text 5">
            <a:extLst>
              <a:ext uri="{FF2B5EF4-FFF2-40B4-BE49-F238E27FC236}">
                <a16:creationId xmlns:a16="http://schemas.microsoft.com/office/drawing/2014/main" id="{DB2C6688-6CFA-4457-9829-14B2E487816B}"/>
              </a:ext>
            </a:extLst>
          </p:cNvPr>
          <p:cNvSpPr>
            <a:spLocks noGrp="1"/>
          </p:cNvSpPr>
          <p:nvPr/>
        </p:nvSpPr>
        <p:spPr>
          <a:xfrm>
            <a:off x="411480" y="4727448"/>
            <a:ext cx="5486400" cy="256032"/>
          </a:xfrm>
          <a:prstGeom prst="rect">
            <a:avLst/>
          </a:prstGeom>
          <a:noFill/>
        </p:spPr>
        <p:txBody>
          <a:bodyPr wrap="square" lIns="0" tIns="0" rIns="0" bIns="0" anchor="ctr"/>
          <a:lstStyle/>
          <a:p>
            <a:pPr marL="0" indent="0">
              <a:buNone/>
            </a:pPr>
            <a:r>
              <a:rPr sz="750" b="1">
                <a:solidFill>
                  <a:srgbClr val="3C3C3C"/>
                </a:solidFill>
                <a:latin typeface="Arial"/>
                <a:ea typeface="Arial"/>
                <a:cs typeface="Arial"/>
              </a:rPr>
              <a:t>Raul Veca   -   WEST UNIVERSITY OF TIMIȘOARA</a:t>
            </a:r>
            <a:endParaRPr sz="750"/>
          </a:p>
        </p:txBody>
      </p:sp>
      <p:sp>
        <p:nvSpPr>
          <p:cNvPr id="9" name="Text 6">
            <a:extLst>
              <a:ext uri="{FF2B5EF4-FFF2-40B4-BE49-F238E27FC236}">
                <a16:creationId xmlns:a16="http://schemas.microsoft.com/office/drawing/2014/main" id="{F77E64C7-C284-452D-90C7-66FD08B20E8B}"/>
              </a:ext>
            </a:extLst>
          </p:cNvPr>
          <p:cNvSpPr>
            <a:spLocks noGrp="1"/>
          </p:cNvSpPr>
          <p:nvPr/>
        </p:nvSpPr>
        <p:spPr>
          <a:xfrm>
            <a:off x="7223760" y="4727448"/>
            <a:ext cx="1636776" cy="256032"/>
          </a:xfrm>
          <a:prstGeom prst="rect">
            <a:avLst/>
          </a:prstGeom>
          <a:noFill/>
        </p:spPr>
        <p:txBody>
          <a:bodyPr wrap="square" lIns="0" tIns="0" rIns="0" bIns="0" anchor="ctr"/>
          <a:lstStyle/>
          <a:p>
            <a:pPr marL="0" indent="0" algn="r">
              <a:buNone/>
            </a:pPr>
            <a:r>
              <a:rPr sz="750" b="1">
                <a:solidFill>
                  <a:srgbClr val="3C3C3C"/>
                </a:solidFill>
                <a:latin typeface="Arial"/>
                <a:ea typeface="Arial"/>
                <a:cs typeface="Arial"/>
              </a:rPr>
              <a:t>Page 2 / 6</a:t>
            </a:r>
            <a:endParaRPr sz="750"/>
          </a:p>
        </p:txBody>
      </p:sp>
      <p:pic>
        <p:nvPicPr>
          <p:cNvPr id="23" name="Image 1"/>
          <p:cNvPicPr>
            <a:picLocks noChangeAspect="1"/>
          </p:cNvPicPr>
          <p:nvPr/>
        </p:nvPicPr>
        <p:blipFill>
          <a:blip r:embed="rId4"/>
          <a:stretch>
            <a:fillRect/>
          </a:stretch>
        </p:blipFill>
        <p:spPr>
          <a:xfrm>
            <a:off x="731520" y="1115568"/>
            <a:ext cx="7680960" cy="2345436"/>
          </a:xfrm>
          <a:prstGeom prst="rect">
            <a:avLst/>
          </a:prstGeom>
        </p:spPr>
      </p:pic>
      <p:sp>
        <p:nvSpPr>
          <p:cNvPr id="11" name="Shape 7">
            <a:extLst>
              <a:ext uri="{FF2B5EF4-FFF2-40B4-BE49-F238E27FC236}">
                <a16:creationId xmlns:a16="http://schemas.microsoft.com/office/drawing/2014/main" id="{E7323ACD-CB7F-4D08-98FD-70E35CBBF922}"/>
              </a:ext>
            </a:extLst>
          </p:cNvPr>
          <p:cNvSpPr>
            <a:spLocks noGrp="1"/>
          </p:cNvSpPr>
          <p:nvPr/>
        </p:nvSpPr>
        <p:spPr>
          <a:xfrm>
            <a:off x="731520" y="3657600"/>
            <a:ext cx="7680960" cy="603504"/>
          </a:xfrm>
          <a:prstGeom prst="rect">
            <a:avLst/>
          </a:prstGeom>
          <a:solidFill>
            <a:srgbClr val="FEF3F7"/>
          </a:solidFill>
        </p:spPr>
        <p:txBody>
          <a:bodyPr/>
          <a:lstStyle/>
          <a:p>
            <a:endParaRPr/>
          </a:p>
        </p:txBody>
      </p:sp>
      <p:sp>
        <p:nvSpPr>
          <p:cNvPr id="12" name="Text 8">
            <a:extLst>
              <a:ext uri="{FF2B5EF4-FFF2-40B4-BE49-F238E27FC236}">
                <a16:creationId xmlns:a16="http://schemas.microsoft.com/office/drawing/2014/main" id="{F632A6F8-6110-4CEE-BA20-FFC032EB0D47}"/>
              </a:ext>
            </a:extLst>
          </p:cNvPr>
          <p:cNvSpPr>
            <a:spLocks noGrp="1"/>
          </p:cNvSpPr>
          <p:nvPr/>
        </p:nvSpPr>
        <p:spPr>
          <a:xfrm>
            <a:off x="877824" y="3694176"/>
            <a:ext cx="7388352" cy="530352"/>
          </a:xfrm>
          <a:prstGeom prst="rect">
            <a:avLst/>
          </a:prstGeom>
          <a:noFill/>
        </p:spPr>
        <p:txBody>
          <a:bodyPr wrap="square" lIns="0" tIns="0" rIns="0" bIns="0" anchor="ctr"/>
          <a:lstStyle/>
          <a:p>
            <a:pPr marL="0" indent="0" algn="l">
              <a:lnSpc>
                <a:spcPct val="112000"/>
              </a:lnSpc>
              <a:buNone/>
            </a:pPr>
            <a:r>
              <a:rPr sz="1080">
                <a:solidFill>
                  <a:srgbClr val="1A1A1A"/>
                </a:solidFill>
                <a:latin typeface="Arial"/>
                <a:ea typeface="Arial"/>
                <a:cs typeface="Arial"/>
              </a:rPr>
              <a:t>Learners create business events; administrators immediately see the resulting contacts, purchases, invoices and issues. MariaDB stores both operational and CRM data; Claude remains optional.</a:t>
            </a:r>
            <a:endParaRPr sz="1080"/>
          </a:p>
        </p:txBody>
      </p:sp>
    </p:spTree>
    <p:extLst>
      <p:ext uri="{BB962C8B-B14F-4D97-AF65-F5344CB8AC3E}">
        <p14:creationId xmlns:p14="http://schemas.microsoft.com/office/powerpoint/2010/main" val="113356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Image 0"/>
          <p:cNvPicPr>
            <a:picLocks noChangeAspect="1"/>
          </p:cNvPicPr>
          <p:nvPr/>
        </p:nvPicPr>
        <p:blipFill>
          <a:blip r:embed="rId3"/>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AD3FE16A-267F-48EF-94B8-BD6C8D20232C}"/>
              </a:ext>
            </a:extLst>
          </p:cNvPr>
          <p:cNvSpPr>
            <a:spLocks noGrp="1"/>
          </p:cNvSpPr>
          <p:nvPr/>
        </p:nvSpPr>
        <p:spPr>
          <a:xfrm>
            <a:off x="1261872" y="82296"/>
            <a:ext cx="7543800" cy="365760"/>
          </a:xfrm>
          <a:prstGeom prst="rect">
            <a:avLst/>
          </a:prstGeom>
          <a:noFill/>
        </p:spPr>
        <p:txBody>
          <a:bodyPr wrap="square" lIns="0" tIns="0" rIns="0" bIns="0" anchor="ctr"/>
          <a:lstStyle/>
          <a:p>
            <a:pPr marL="0" indent="0">
              <a:buNone/>
            </a:pPr>
            <a:r>
              <a:rPr sz="2100" b="1">
                <a:solidFill>
                  <a:srgbClr val="022461"/>
                </a:solidFill>
                <a:latin typeface="Arial"/>
                <a:ea typeface="Arial"/>
                <a:cs typeface="Arial"/>
              </a:rPr>
              <a:t>Architecture in Four Layers</a:t>
            </a:r>
            <a:endParaRPr sz="2100"/>
          </a:p>
        </p:txBody>
      </p:sp>
      <p:sp>
        <p:nvSpPr>
          <p:cNvPr id="4" name="Text 1">
            <a:extLst>
              <a:ext uri="{FF2B5EF4-FFF2-40B4-BE49-F238E27FC236}">
                <a16:creationId xmlns:a16="http://schemas.microsoft.com/office/drawing/2014/main" id="{9676E998-6759-4EE1-BC25-9451C9C35CA1}"/>
              </a:ext>
            </a:extLst>
          </p:cNvPr>
          <p:cNvSpPr>
            <a:spLocks noGrp="1"/>
          </p:cNvSpPr>
          <p:nvPr/>
        </p:nvSpPr>
        <p:spPr>
          <a:xfrm>
            <a:off x="1280160" y="457200"/>
            <a:ext cx="7543800" cy="274320"/>
          </a:xfrm>
          <a:prstGeom prst="rect">
            <a:avLst/>
          </a:prstGeom>
          <a:noFill/>
        </p:spPr>
        <p:txBody>
          <a:bodyPr wrap="square" lIns="0" tIns="0" rIns="0" bIns="0" anchor="ctr"/>
          <a:lstStyle/>
          <a:p>
            <a:pPr marL="0" indent="0">
              <a:buNone/>
            </a:pPr>
            <a:r>
              <a:rPr sz="1250">
                <a:solidFill>
                  <a:srgbClr val="2F5D8C"/>
                </a:solidFill>
                <a:latin typeface="Arial"/>
                <a:ea typeface="Arial"/>
                <a:cs typeface="Arial"/>
              </a:rPr>
              <a:t>REST for commands, SSE for live statistics, EventBus for reactions</a:t>
            </a:r>
            <a:endParaRPr sz="1250"/>
          </a:p>
        </p:txBody>
      </p:sp>
      <p:sp>
        <p:nvSpPr>
          <p:cNvPr id="5" name="Shape 2">
            <a:extLst>
              <a:ext uri="{FF2B5EF4-FFF2-40B4-BE49-F238E27FC236}">
                <a16:creationId xmlns:a16="http://schemas.microsoft.com/office/drawing/2014/main" id="{3800D54E-0AD3-4AFB-829F-BDBC71F6433B}"/>
              </a:ext>
            </a:extLst>
          </p:cNvPr>
          <p:cNvSpPr>
            <a:spLocks noGrp="1"/>
          </p:cNvSpPr>
          <p:nvPr/>
        </p:nvSpPr>
        <p:spPr>
          <a:xfrm>
            <a:off x="0" y="5001768"/>
            <a:ext cx="9144000" cy="141732"/>
          </a:xfrm>
          <a:prstGeom prst="rect">
            <a:avLst/>
          </a:prstGeom>
          <a:solidFill>
            <a:srgbClr val="FEF3F7"/>
          </a:solidFill>
        </p:spPr>
        <p:txBody>
          <a:bodyPr/>
          <a:lstStyle/>
          <a:p>
            <a:endParaRPr/>
          </a:p>
        </p:txBody>
      </p:sp>
      <p:sp>
        <p:nvSpPr>
          <p:cNvPr id="6" name="Shape 3">
            <a:extLst>
              <a:ext uri="{FF2B5EF4-FFF2-40B4-BE49-F238E27FC236}">
                <a16:creationId xmlns:a16="http://schemas.microsoft.com/office/drawing/2014/main" id="{D82ABC09-93F7-4219-ADE5-94B7807682FC}"/>
              </a:ext>
            </a:extLst>
          </p:cNvPr>
          <p:cNvSpPr>
            <a:spLocks noGrp="1"/>
          </p:cNvSpPr>
          <p:nvPr/>
        </p:nvSpPr>
        <p:spPr>
          <a:xfrm>
            <a:off x="283464" y="4727448"/>
            <a:ext cx="7699248" cy="256032"/>
          </a:xfrm>
          <a:prstGeom prst="roundRect">
            <a:avLst>
              <a:gd name="adj" fmla="val 46429"/>
            </a:avLst>
          </a:prstGeom>
          <a:solidFill>
            <a:srgbClr val="FEF3F7"/>
          </a:solidFill>
        </p:spPr>
        <p:txBody>
          <a:bodyPr/>
          <a:lstStyle/>
          <a:p>
            <a:endParaRPr/>
          </a:p>
        </p:txBody>
      </p:sp>
      <p:sp>
        <p:nvSpPr>
          <p:cNvPr id="7" name="Shape 4">
            <a:extLst>
              <a:ext uri="{FF2B5EF4-FFF2-40B4-BE49-F238E27FC236}">
                <a16:creationId xmlns:a16="http://schemas.microsoft.com/office/drawing/2014/main" id="{78DA8E21-973E-44CA-9CBB-F71432F3C779}"/>
              </a:ext>
            </a:extLst>
          </p:cNvPr>
          <p:cNvSpPr>
            <a:spLocks noGrp="1"/>
          </p:cNvSpPr>
          <p:nvPr/>
        </p:nvSpPr>
        <p:spPr>
          <a:xfrm>
            <a:off x="283464" y="4709160"/>
            <a:ext cx="8577072" cy="0"/>
          </a:xfrm>
          <a:prstGeom prst="line">
            <a:avLst/>
          </a:prstGeom>
          <a:noFill/>
          <a:ln w="9525">
            <a:solidFill>
              <a:srgbClr val="BFBFBF"/>
            </a:solidFill>
            <a:prstDash val="solid"/>
          </a:ln>
        </p:spPr>
        <p:txBody>
          <a:bodyPr/>
          <a:lstStyle/>
          <a:p>
            <a:endParaRPr/>
          </a:p>
        </p:txBody>
      </p:sp>
      <p:sp>
        <p:nvSpPr>
          <p:cNvPr id="8" name="Text 5">
            <a:extLst>
              <a:ext uri="{FF2B5EF4-FFF2-40B4-BE49-F238E27FC236}">
                <a16:creationId xmlns:a16="http://schemas.microsoft.com/office/drawing/2014/main" id="{BABB83F1-9F4A-48EB-9785-D89B3D1865D2}"/>
              </a:ext>
            </a:extLst>
          </p:cNvPr>
          <p:cNvSpPr>
            <a:spLocks noGrp="1"/>
          </p:cNvSpPr>
          <p:nvPr/>
        </p:nvSpPr>
        <p:spPr>
          <a:xfrm>
            <a:off x="411480" y="4727448"/>
            <a:ext cx="5486400" cy="256032"/>
          </a:xfrm>
          <a:prstGeom prst="rect">
            <a:avLst/>
          </a:prstGeom>
          <a:noFill/>
        </p:spPr>
        <p:txBody>
          <a:bodyPr wrap="square" lIns="0" tIns="0" rIns="0" bIns="0" anchor="ctr"/>
          <a:lstStyle/>
          <a:p>
            <a:pPr marL="0" indent="0">
              <a:buNone/>
            </a:pPr>
            <a:r>
              <a:rPr sz="750" b="1">
                <a:solidFill>
                  <a:srgbClr val="3C3C3C"/>
                </a:solidFill>
                <a:latin typeface="Arial"/>
                <a:ea typeface="Arial"/>
                <a:cs typeface="Arial"/>
              </a:rPr>
              <a:t>Raul Veca   -   WEST UNIVERSITY OF TIMIȘOARA</a:t>
            </a:r>
            <a:endParaRPr sz="750"/>
          </a:p>
        </p:txBody>
      </p:sp>
      <p:sp>
        <p:nvSpPr>
          <p:cNvPr id="9" name="Text 6">
            <a:extLst>
              <a:ext uri="{FF2B5EF4-FFF2-40B4-BE49-F238E27FC236}">
                <a16:creationId xmlns:a16="http://schemas.microsoft.com/office/drawing/2014/main" id="{22C47F5A-5579-47DB-BD8E-7EFC72DB8CC6}"/>
              </a:ext>
            </a:extLst>
          </p:cNvPr>
          <p:cNvSpPr>
            <a:spLocks noGrp="1"/>
          </p:cNvSpPr>
          <p:nvPr/>
        </p:nvSpPr>
        <p:spPr>
          <a:xfrm>
            <a:off x="7223760" y="4727448"/>
            <a:ext cx="1636776" cy="256032"/>
          </a:xfrm>
          <a:prstGeom prst="rect">
            <a:avLst/>
          </a:prstGeom>
          <a:noFill/>
        </p:spPr>
        <p:txBody>
          <a:bodyPr wrap="square" lIns="0" tIns="0" rIns="0" bIns="0" anchor="ctr"/>
          <a:lstStyle/>
          <a:p>
            <a:pPr marL="0" indent="0" algn="r">
              <a:buNone/>
            </a:pPr>
            <a:r>
              <a:rPr sz="750" b="1">
                <a:solidFill>
                  <a:srgbClr val="3C3C3C"/>
                </a:solidFill>
                <a:latin typeface="Arial"/>
                <a:ea typeface="Arial"/>
                <a:cs typeface="Arial"/>
              </a:rPr>
              <a:t>Page 3 / 6</a:t>
            </a:r>
            <a:endParaRPr sz="750"/>
          </a:p>
        </p:txBody>
      </p:sp>
      <p:pic>
        <p:nvPicPr>
          <p:cNvPr id="29" name="Image 1"/>
          <p:cNvPicPr>
            <a:picLocks noChangeAspect="1"/>
          </p:cNvPicPr>
          <p:nvPr/>
        </p:nvPicPr>
        <p:blipFill>
          <a:blip r:embed="rId4"/>
          <a:stretch>
            <a:fillRect/>
          </a:stretch>
        </p:blipFill>
        <p:spPr>
          <a:xfrm>
            <a:off x="384048" y="1060704"/>
            <a:ext cx="3986784" cy="3218688"/>
          </a:xfrm>
          <a:prstGeom prst="rect">
            <a:avLst/>
          </a:prstGeom>
        </p:spPr>
      </p:pic>
      <p:sp>
        <p:nvSpPr>
          <p:cNvPr id="11" name="Shape 7">
            <a:extLst>
              <a:ext uri="{FF2B5EF4-FFF2-40B4-BE49-F238E27FC236}">
                <a16:creationId xmlns:a16="http://schemas.microsoft.com/office/drawing/2014/main" id="{823C730B-C830-4A22-A060-5B92CAE5D005}"/>
              </a:ext>
            </a:extLst>
          </p:cNvPr>
          <p:cNvSpPr>
            <a:spLocks noGrp="1"/>
          </p:cNvSpPr>
          <p:nvPr/>
        </p:nvSpPr>
        <p:spPr>
          <a:xfrm>
            <a:off x="4617720" y="1097280"/>
            <a:ext cx="4114800" cy="731520"/>
          </a:xfrm>
          <a:prstGeom prst="rect">
            <a:avLst/>
          </a:prstGeom>
          <a:solidFill>
            <a:srgbClr val="FEF3F7"/>
          </a:solidFill>
        </p:spPr>
        <p:txBody>
          <a:bodyPr/>
          <a:lstStyle/>
          <a:p>
            <a:endParaRPr/>
          </a:p>
        </p:txBody>
      </p:sp>
      <p:sp>
        <p:nvSpPr>
          <p:cNvPr id="12" name="Text 8">
            <a:extLst>
              <a:ext uri="{FF2B5EF4-FFF2-40B4-BE49-F238E27FC236}">
                <a16:creationId xmlns:a16="http://schemas.microsoft.com/office/drawing/2014/main" id="{183F7318-4EC8-4196-8DC5-DE478AADC687}"/>
              </a:ext>
            </a:extLst>
          </p:cNvPr>
          <p:cNvSpPr>
            <a:spLocks noGrp="1"/>
          </p:cNvSpPr>
          <p:nvPr/>
        </p:nvSpPr>
        <p:spPr>
          <a:xfrm>
            <a:off x="4745736" y="1133856"/>
            <a:ext cx="3858768" cy="658368"/>
          </a:xfrm>
          <a:prstGeom prst="rect">
            <a:avLst/>
          </a:prstGeom>
          <a:noFill/>
        </p:spPr>
        <p:txBody>
          <a:bodyPr wrap="square" lIns="0" tIns="0" rIns="0" bIns="0" anchor="ctr"/>
          <a:lstStyle/>
          <a:p>
            <a:pPr marL="0" indent="0">
              <a:lnSpc>
                <a:spcPct val="106000"/>
              </a:lnSpc>
              <a:buNone/>
            </a:pPr>
            <a:r>
              <a:rPr sz="1050" b="1">
                <a:solidFill>
                  <a:srgbClr val="022461"/>
                </a:solidFill>
                <a:latin typeface="Arial"/>
                <a:ea typeface="Arial"/>
                <a:cs typeface="Arial"/>
              </a:rPr>
              <a:t>Presentation - Next.js 16, React, Tailwind v4
</a:t>
            </a:r>
            <a:r>
              <a:rPr sz="980">
                <a:solidFill>
                  <a:srgbClr val="1A1A1A"/>
                </a:solidFill>
                <a:latin typeface="Arial"/>
                <a:ea typeface="Arial"/>
                <a:cs typeface="Arial"/>
              </a:rPr>
              <a:t>Role-based learner and administrator portals, a typed REST client and live statistics over SSE.</a:t>
            </a:r>
            <a:endParaRPr sz="1050"/>
          </a:p>
        </p:txBody>
      </p:sp>
      <p:sp>
        <p:nvSpPr>
          <p:cNvPr id="13" name="Shape 9">
            <a:extLst>
              <a:ext uri="{FF2B5EF4-FFF2-40B4-BE49-F238E27FC236}">
                <a16:creationId xmlns:a16="http://schemas.microsoft.com/office/drawing/2014/main" id="{B45D3137-6F0F-464D-9380-FF64988B8E4C}"/>
              </a:ext>
            </a:extLst>
          </p:cNvPr>
          <p:cNvSpPr>
            <a:spLocks noGrp="1"/>
          </p:cNvSpPr>
          <p:nvPr/>
        </p:nvSpPr>
        <p:spPr>
          <a:xfrm>
            <a:off x="4617720" y="1901952"/>
            <a:ext cx="4114800" cy="731520"/>
          </a:xfrm>
          <a:prstGeom prst="rect">
            <a:avLst/>
          </a:prstGeom>
          <a:solidFill>
            <a:srgbClr val="F0F7FF"/>
          </a:solidFill>
        </p:spPr>
        <p:txBody>
          <a:bodyPr/>
          <a:lstStyle/>
          <a:p>
            <a:endParaRPr/>
          </a:p>
        </p:txBody>
      </p:sp>
      <p:sp>
        <p:nvSpPr>
          <p:cNvPr id="14" name="Text 10">
            <a:extLst>
              <a:ext uri="{FF2B5EF4-FFF2-40B4-BE49-F238E27FC236}">
                <a16:creationId xmlns:a16="http://schemas.microsoft.com/office/drawing/2014/main" id="{20D08324-F244-4CE9-89A8-481A64B52372}"/>
              </a:ext>
            </a:extLst>
          </p:cNvPr>
          <p:cNvSpPr>
            <a:spLocks noGrp="1"/>
          </p:cNvSpPr>
          <p:nvPr/>
        </p:nvSpPr>
        <p:spPr>
          <a:xfrm>
            <a:off x="4745736" y="1938528"/>
            <a:ext cx="3858768" cy="658368"/>
          </a:xfrm>
          <a:prstGeom prst="rect">
            <a:avLst/>
          </a:prstGeom>
          <a:noFill/>
        </p:spPr>
        <p:txBody>
          <a:bodyPr wrap="square" lIns="0" tIns="0" rIns="0" bIns="0" anchor="ctr"/>
          <a:lstStyle/>
          <a:p>
            <a:pPr marL="0" indent="0">
              <a:lnSpc>
                <a:spcPct val="106000"/>
              </a:lnSpc>
              <a:buNone/>
            </a:pPr>
            <a:r>
              <a:rPr sz="1050" b="1">
                <a:solidFill>
                  <a:srgbClr val="022461"/>
                </a:solidFill>
                <a:latin typeface="Arial"/>
                <a:ea typeface="Arial"/>
                <a:cs typeface="Arial"/>
              </a:rPr>
              <a:t>Application - Spring Boot 3.5, Java 17
</a:t>
            </a:r>
            <a:r>
              <a:rPr sz="980">
                <a:solidFill>
                  <a:srgbClr val="1A1A1A"/>
                </a:solidFill>
                <a:latin typeface="Arial"/>
                <a:ea typeface="Arial"/>
                <a:cs typeface="Arial"/>
              </a:rPr>
              <a:t>REST controllers delegate to authentication, AI, trainer, reporting and statistics services.</a:t>
            </a:r>
            <a:endParaRPr sz="1050"/>
          </a:p>
        </p:txBody>
      </p:sp>
      <p:sp>
        <p:nvSpPr>
          <p:cNvPr id="15" name="Shape 11">
            <a:extLst>
              <a:ext uri="{FF2B5EF4-FFF2-40B4-BE49-F238E27FC236}">
                <a16:creationId xmlns:a16="http://schemas.microsoft.com/office/drawing/2014/main" id="{456A2A49-72CF-4D9C-B998-7837E17A3198}"/>
              </a:ext>
            </a:extLst>
          </p:cNvPr>
          <p:cNvSpPr>
            <a:spLocks noGrp="1"/>
          </p:cNvSpPr>
          <p:nvPr/>
        </p:nvSpPr>
        <p:spPr>
          <a:xfrm>
            <a:off x="4617720" y="2706624"/>
            <a:ext cx="4114800" cy="731520"/>
          </a:xfrm>
          <a:prstGeom prst="rect">
            <a:avLst/>
          </a:prstGeom>
          <a:solidFill>
            <a:srgbClr val="FEF3F7"/>
          </a:solidFill>
        </p:spPr>
        <p:txBody>
          <a:bodyPr/>
          <a:lstStyle/>
          <a:p>
            <a:endParaRPr/>
          </a:p>
        </p:txBody>
      </p:sp>
      <p:sp>
        <p:nvSpPr>
          <p:cNvPr id="16" name="Text 12">
            <a:extLst>
              <a:ext uri="{FF2B5EF4-FFF2-40B4-BE49-F238E27FC236}">
                <a16:creationId xmlns:a16="http://schemas.microsoft.com/office/drawing/2014/main" id="{65DBC3AE-5C4B-4AC0-99AF-B60436D98A45}"/>
              </a:ext>
            </a:extLst>
          </p:cNvPr>
          <p:cNvSpPr>
            <a:spLocks noGrp="1"/>
          </p:cNvSpPr>
          <p:nvPr/>
        </p:nvSpPr>
        <p:spPr>
          <a:xfrm>
            <a:off x="4745736" y="2743200"/>
            <a:ext cx="3858768" cy="658368"/>
          </a:xfrm>
          <a:prstGeom prst="rect">
            <a:avLst/>
          </a:prstGeom>
          <a:noFill/>
        </p:spPr>
        <p:txBody>
          <a:bodyPr wrap="square" lIns="0" tIns="0" rIns="0" bIns="0" anchor="ctr"/>
          <a:lstStyle/>
          <a:p>
            <a:pPr marL="0" indent="0">
              <a:lnSpc>
                <a:spcPct val="106000"/>
              </a:lnSpc>
              <a:buNone/>
            </a:pPr>
            <a:r>
              <a:rPr sz="1050" b="1">
                <a:solidFill>
                  <a:srgbClr val="022461"/>
                </a:solidFill>
                <a:latin typeface="Arial"/>
                <a:ea typeface="Arial"/>
                <a:cs typeface="Arial"/>
              </a:rPr>
              <a:t>Domain - plain Java
</a:t>
            </a:r>
            <a:r>
              <a:rPr sz="980">
                <a:solidFill>
                  <a:srgbClr val="1A1A1A"/>
                </a:solidFill>
                <a:latin typeface="Arial"/>
                <a:ea typeface="Arial"/>
                <a:cs typeface="Arial"/>
              </a:rPr>
              <a:t>Commands, services and EventBus observers implement the business rules behind one facade.</a:t>
            </a:r>
            <a:endParaRPr sz="1050"/>
          </a:p>
        </p:txBody>
      </p:sp>
      <p:sp>
        <p:nvSpPr>
          <p:cNvPr id="17" name="Shape 13">
            <a:extLst>
              <a:ext uri="{FF2B5EF4-FFF2-40B4-BE49-F238E27FC236}">
                <a16:creationId xmlns:a16="http://schemas.microsoft.com/office/drawing/2014/main" id="{A7E2D1EA-E104-457F-8997-CED7F12D9133}"/>
              </a:ext>
            </a:extLst>
          </p:cNvPr>
          <p:cNvSpPr>
            <a:spLocks noGrp="1"/>
          </p:cNvSpPr>
          <p:nvPr/>
        </p:nvSpPr>
        <p:spPr>
          <a:xfrm>
            <a:off x="4617720" y="3511296"/>
            <a:ext cx="4114800" cy="731520"/>
          </a:xfrm>
          <a:prstGeom prst="rect">
            <a:avLst/>
          </a:prstGeom>
          <a:solidFill>
            <a:srgbClr val="F0F7FF"/>
          </a:solidFill>
        </p:spPr>
        <p:txBody>
          <a:bodyPr/>
          <a:lstStyle/>
          <a:p>
            <a:endParaRPr/>
          </a:p>
        </p:txBody>
      </p:sp>
      <p:sp>
        <p:nvSpPr>
          <p:cNvPr id="18" name="Text 14">
            <a:extLst>
              <a:ext uri="{FF2B5EF4-FFF2-40B4-BE49-F238E27FC236}">
                <a16:creationId xmlns:a16="http://schemas.microsoft.com/office/drawing/2014/main" id="{69FA4574-B897-4C31-BBD8-1504EAEBA4CD}"/>
              </a:ext>
            </a:extLst>
          </p:cNvPr>
          <p:cNvSpPr>
            <a:spLocks noGrp="1"/>
          </p:cNvSpPr>
          <p:nvPr/>
        </p:nvSpPr>
        <p:spPr>
          <a:xfrm>
            <a:off x="4745736" y="3547872"/>
            <a:ext cx="3858768" cy="658368"/>
          </a:xfrm>
          <a:prstGeom prst="rect">
            <a:avLst/>
          </a:prstGeom>
          <a:noFill/>
        </p:spPr>
        <p:txBody>
          <a:bodyPr wrap="square" lIns="0" tIns="0" rIns="0" bIns="0" anchor="ctr"/>
          <a:lstStyle/>
          <a:p>
            <a:pPr marL="0" indent="0">
              <a:lnSpc>
                <a:spcPct val="106000"/>
              </a:lnSpc>
              <a:buNone/>
            </a:pPr>
            <a:r>
              <a:rPr sz="1050" b="1">
                <a:solidFill>
                  <a:srgbClr val="022461"/>
                </a:solidFill>
                <a:latin typeface="Arial"/>
                <a:ea typeface="Arial"/>
                <a:cs typeface="Arial"/>
              </a:rPr>
              <a:t>Persistence - MariaDB via JDBC and HikariCP
</a:t>
            </a:r>
            <a:r>
              <a:rPr sz="980">
                <a:solidFill>
                  <a:srgbClr val="1A1A1A"/>
                </a:solidFill>
                <a:latin typeface="Arial"/>
                <a:ea typeface="Arial"/>
                <a:cs typeface="Arial"/>
              </a:rPr>
              <a:t>JDBC and HikariCP persist both CRM and operational data in one relational schema.</a:t>
            </a:r>
            <a:endParaRPr sz="1050"/>
          </a:p>
        </p:txBody>
      </p:sp>
    </p:spTree>
    <p:extLst>
      <p:ext uri="{BB962C8B-B14F-4D97-AF65-F5344CB8AC3E}">
        <p14:creationId xmlns:p14="http://schemas.microsoft.com/office/powerpoint/2010/main" val="1993642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Image 0"/>
          <p:cNvPicPr>
            <a:picLocks noChangeAspect="1"/>
          </p:cNvPicPr>
          <p:nvPr/>
        </p:nvPicPr>
        <p:blipFill>
          <a:blip r:embed="rId3"/>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F6473442-852E-45B5-A624-844DA188B373}"/>
              </a:ext>
            </a:extLst>
          </p:cNvPr>
          <p:cNvSpPr>
            <a:spLocks noGrp="1"/>
          </p:cNvSpPr>
          <p:nvPr/>
        </p:nvSpPr>
        <p:spPr>
          <a:xfrm>
            <a:off x="1261872" y="82296"/>
            <a:ext cx="7543800" cy="365760"/>
          </a:xfrm>
          <a:prstGeom prst="rect">
            <a:avLst/>
          </a:prstGeom>
          <a:noFill/>
        </p:spPr>
        <p:txBody>
          <a:bodyPr wrap="square" lIns="0" tIns="0" rIns="0" bIns="0" anchor="ctr"/>
          <a:lstStyle/>
          <a:p>
            <a:pPr marL="0" indent="0">
              <a:buNone/>
            </a:pPr>
            <a:r>
              <a:rPr sz="2100" b="1">
                <a:solidFill>
                  <a:srgbClr val="022461"/>
                </a:solidFill>
                <a:latin typeface="Arial"/>
                <a:ea typeface="Arial"/>
                <a:cs typeface="Arial"/>
              </a:rPr>
              <a:t>One Click, Several Reactions</a:t>
            </a:r>
            <a:endParaRPr sz="2100"/>
          </a:p>
        </p:txBody>
      </p:sp>
      <p:sp>
        <p:nvSpPr>
          <p:cNvPr id="4" name="Text 1">
            <a:extLst>
              <a:ext uri="{FF2B5EF4-FFF2-40B4-BE49-F238E27FC236}">
                <a16:creationId xmlns:a16="http://schemas.microsoft.com/office/drawing/2014/main" id="{D607A1B5-5490-4D73-BAC3-564A58693610}"/>
              </a:ext>
            </a:extLst>
          </p:cNvPr>
          <p:cNvSpPr>
            <a:spLocks noGrp="1"/>
          </p:cNvSpPr>
          <p:nvPr/>
        </p:nvSpPr>
        <p:spPr>
          <a:xfrm>
            <a:off x="1280160" y="457200"/>
            <a:ext cx="7543800" cy="274320"/>
          </a:xfrm>
          <a:prstGeom prst="rect">
            <a:avLst/>
          </a:prstGeom>
          <a:noFill/>
        </p:spPr>
        <p:txBody>
          <a:bodyPr wrap="square" lIns="0" tIns="0" rIns="0" bIns="0" anchor="ctr"/>
          <a:lstStyle/>
          <a:p>
            <a:pPr marL="0" indent="0">
              <a:buNone/>
            </a:pPr>
            <a:r>
              <a:rPr sz="1250">
                <a:solidFill>
                  <a:srgbClr val="2F5D8C"/>
                </a:solidFill>
                <a:latin typeface="Arial"/>
                <a:ea typeface="Arial"/>
                <a:cs typeface="Arial"/>
              </a:rPr>
              <a:t>One purchase becomes enrollment, audit, CRM history and live statistics</a:t>
            </a:r>
            <a:endParaRPr sz="1250"/>
          </a:p>
        </p:txBody>
      </p:sp>
      <p:sp>
        <p:nvSpPr>
          <p:cNvPr id="5" name="Shape 2">
            <a:extLst>
              <a:ext uri="{FF2B5EF4-FFF2-40B4-BE49-F238E27FC236}">
                <a16:creationId xmlns:a16="http://schemas.microsoft.com/office/drawing/2014/main" id="{7BF12D77-832F-45E3-A67F-24B5D2A8A541}"/>
              </a:ext>
            </a:extLst>
          </p:cNvPr>
          <p:cNvSpPr>
            <a:spLocks noGrp="1"/>
          </p:cNvSpPr>
          <p:nvPr/>
        </p:nvSpPr>
        <p:spPr>
          <a:xfrm>
            <a:off x="0" y="5001768"/>
            <a:ext cx="9144000" cy="141732"/>
          </a:xfrm>
          <a:prstGeom prst="rect">
            <a:avLst/>
          </a:prstGeom>
          <a:solidFill>
            <a:srgbClr val="FEF3F7"/>
          </a:solidFill>
        </p:spPr>
        <p:txBody>
          <a:bodyPr/>
          <a:lstStyle/>
          <a:p>
            <a:endParaRPr/>
          </a:p>
        </p:txBody>
      </p:sp>
      <p:sp>
        <p:nvSpPr>
          <p:cNvPr id="6" name="Shape 3">
            <a:extLst>
              <a:ext uri="{FF2B5EF4-FFF2-40B4-BE49-F238E27FC236}">
                <a16:creationId xmlns:a16="http://schemas.microsoft.com/office/drawing/2014/main" id="{654F4C17-9626-4406-89BE-0D55D2A2A6A4}"/>
              </a:ext>
            </a:extLst>
          </p:cNvPr>
          <p:cNvSpPr>
            <a:spLocks noGrp="1"/>
          </p:cNvSpPr>
          <p:nvPr/>
        </p:nvSpPr>
        <p:spPr>
          <a:xfrm>
            <a:off x="283464" y="4727448"/>
            <a:ext cx="7699248" cy="256032"/>
          </a:xfrm>
          <a:prstGeom prst="roundRect">
            <a:avLst>
              <a:gd name="adj" fmla="val 46429"/>
            </a:avLst>
          </a:prstGeom>
          <a:solidFill>
            <a:srgbClr val="FEF3F7"/>
          </a:solidFill>
        </p:spPr>
        <p:txBody>
          <a:bodyPr/>
          <a:lstStyle/>
          <a:p>
            <a:endParaRPr/>
          </a:p>
        </p:txBody>
      </p:sp>
      <p:sp>
        <p:nvSpPr>
          <p:cNvPr id="7" name="Shape 4">
            <a:extLst>
              <a:ext uri="{FF2B5EF4-FFF2-40B4-BE49-F238E27FC236}">
                <a16:creationId xmlns:a16="http://schemas.microsoft.com/office/drawing/2014/main" id="{87CC976C-C5EF-4643-87FD-2650A3E21C94}"/>
              </a:ext>
            </a:extLst>
          </p:cNvPr>
          <p:cNvSpPr>
            <a:spLocks noGrp="1"/>
          </p:cNvSpPr>
          <p:nvPr/>
        </p:nvSpPr>
        <p:spPr>
          <a:xfrm>
            <a:off x="283464" y="4709160"/>
            <a:ext cx="8577072" cy="0"/>
          </a:xfrm>
          <a:prstGeom prst="line">
            <a:avLst/>
          </a:prstGeom>
          <a:noFill/>
          <a:ln w="9525">
            <a:solidFill>
              <a:srgbClr val="BFBFBF"/>
            </a:solidFill>
            <a:prstDash val="solid"/>
          </a:ln>
        </p:spPr>
        <p:txBody>
          <a:bodyPr/>
          <a:lstStyle/>
          <a:p>
            <a:endParaRPr/>
          </a:p>
        </p:txBody>
      </p:sp>
      <p:sp>
        <p:nvSpPr>
          <p:cNvPr id="8" name="Text 5">
            <a:extLst>
              <a:ext uri="{FF2B5EF4-FFF2-40B4-BE49-F238E27FC236}">
                <a16:creationId xmlns:a16="http://schemas.microsoft.com/office/drawing/2014/main" id="{3E925234-ED48-41D7-8AD6-BABED1D3708C}"/>
              </a:ext>
            </a:extLst>
          </p:cNvPr>
          <p:cNvSpPr>
            <a:spLocks noGrp="1"/>
          </p:cNvSpPr>
          <p:nvPr/>
        </p:nvSpPr>
        <p:spPr>
          <a:xfrm>
            <a:off x="411480" y="4727448"/>
            <a:ext cx="5486400" cy="256032"/>
          </a:xfrm>
          <a:prstGeom prst="rect">
            <a:avLst/>
          </a:prstGeom>
          <a:noFill/>
        </p:spPr>
        <p:txBody>
          <a:bodyPr wrap="square" lIns="0" tIns="0" rIns="0" bIns="0" anchor="ctr"/>
          <a:lstStyle/>
          <a:p>
            <a:pPr marL="0" indent="0">
              <a:buNone/>
            </a:pPr>
            <a:r>
              <a:rPr sz="750" b="1">
                <a:solidFill>
                  <a:srgbClr val="3C3C3C"/>
                </a:solidFill>
                <a:latin typeface="Arial"/>
                <a:ea typeface="Arial"/>
                <a:cs typeface="Arial"/>
              </a:rPr>
              <a:t>Raul Veca   -   WEST UNIVERSITY OF TIMIȘOARA</a:t>
            </a:r>
            <a:endParaRPr sz="750"/>
          </a:p>
        </p:txBody>
      </p:sp>
      <p:sp>
        <p:nvSpPr>
          <p:cNvPr id="9" name="Text 6">
            <a:extLst>
              <a:ext uri="{FF2B5EF4-FFF2-40B4-BE49-F238E27FC236}">
                <a16:creationId xmlns:a16="http://schemas.microsoft.com/office/drawing/2014/main" id="{E102D2E7-16CA-4A04-BB12-502D95A4B4CA}"/>
              </a:ext>
            </a:extLst>
          </p:cNvPr>
          <p:cNvSpPr>
            <a:spLocks noGrp="1"/>
          </p:cNvSpPr>
          <p:nvPr/>
        </p:nvSpPr>
        <p:spPr>
          <a:xfrm>
            <a:off x="7223760" y="4727448"/>
            <a:ext cx="1636776" cy="256032"/>
          </a:xfrm>
          <a:prstGeom prst="rect">
            <a:avLst/>
          </a:prstGeom>
          <a:noFill/>
        </p:spPr>
        <p:txBody>
          <a:bodyPr wrap="square" lIns="0" tIns="0" rIns="0" bIns="0" anchor="ctr"/>
          <a:lstStyle/>
          <a:p>
            <a:pPr marL="0" indent="0" algn="r">
              <a:buNone/>
            </a:pPr>
            <a:r>
              <a:rPr sz="750" b="1">
                <a:solidFill>
                  <a:srgbClr val="3C3C3C"/>
                </a:solidFill>
                <a:latin typeface="Arial"/>
                <a:ea typeface="Arial"/>
                <a:cs typeface="Arial"/>
              </a:rPr>
              <a:t>Page 4 / 6</a:t>
            </a:r>
            <a:endParaRPr sz="750"/>
          </a:p>
        </p:txBody>
      </p:sp>
      <p:pic>
        <p:nvPicPr>
          <p:cNvPr id="22" name="Image 1"/>
          <p:cNvPicPr>
            <a:picLocks noChangeAspect="1"/>
          </p:cNvPicPr>
          <p:nvPr/>
        </p:nvPicPr>
        <p:blipFill>
          <a:blip r:embed="rId4"/>
          <a:stretch>
            <a:fillRect/>
          </a:stretch>
        </p:blipFill>
        <p:spPr>
          <a:xfrm>
            <a:off x="1243584" y="969264"/>
            <a:ext cx="6656832" cy="3154680"/>
          </a:xfrm>
          <a:prstGeom prst="rect">
            <a:avLst/>
          </a:prstGeom>
        </p:spPr>
      </p:pic>
      <p:sp>
        <p:nvSpPr>
          <p:cNvPr id="11" name="Text 7">
            <a:extLst>
              <a:ext uri="{FF2B5EF4-FFF2-40B4-BE49-F238E27FC236}">
                <a16:creationId xmlns:a16="http://schemas.microsoft.com/office/drawing/2014/main" id="{955CE555-3418-455B-8B72-627B1A54E767}"/>
              </a:ext>
            </a:extLst>
          </p:cNvPr>
          <p:cNvSpPr>
            <a:spLocks noGrp="1"/>
          </p:cNvSpPr>
          <p:nvPr/>
        </p:nvSpPr>
        <p:spPr>
          <a:xfrm>
            <a:off x="502920" y="4187952"/>
            <a:ext cx="8138160" cy="420624"/>
          </a:xfrm>
          <a:prstGeom prst="rect">
            <a:avLst/>
          </a:prstGeom>
          <a:noFill/>
        </p:spPr>
        <p:txBody>
          <a:bodyPr wrap="square" lIns="0" tIns="0" rIns="0" bIns="0" anchor="ctr"/>
          <a:lstStyle/>
          <a:p>
            <a:pPr marL="0" indent="0" algn="ctr">
              <a:lnSpc>
                <a:spcPct val="110000"/>
              </a:lnSpc>
              <a:buNone/>
            </a:pPr>
            <a:r>
              <a:rPr sz="1020">
                <a:solidFill>
                  <a:srgbClr val="5A6472"/>
                </a:solidFill>
                <a:latin typeface="Arial"/>
                <a:ea typeface="Arial"/>
                <a:cs typeface="Arial"/>
              </a:rPr>
              <a:t>The purchase is saved once. Independent observers handle secondary reactions, so the main operation stays focused and the CRM updates without reconciliation.</a:t>
            </a:r>
            <a:endParaRPr sz="1020"/>
          </a:p>
        </p:txBody>
      </p:sp>
    </p:spTree>
    <p:extLst>
      <p:ext uri="{BB962C8B-B14F-4D97-AF65-F5344CB8AC3E}">
        <p14:creationId xmlns:p14="http://schemas.microsoft.com/office/powerpoint/2010/main" val="63667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 name="Image 0"/>
          <p:cNvPicPr>
            <a:picLocks noChangeAspect="1"/>
          </p:cNvPicPr>
          <p:nvPr/>
        </p:nvPicPr>
        <p:blipFill>
          <a:blip r:embed="rId3"/>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F71A0CE7-A48F-47CA-923B-BCB95610D478}"/>
              </a:ext>
            </a:extLst>
          </p:cNvPr>
          <p:cNvSpPr>
            <a:spLocks noGrp="1"/>
          </p:cNvSpPr>
          <p:nvPr/>
        </p:nvSpPr>
        <p:spPr>
          <a:xfrm>
            <a:off x="1261872" y="82296"/>
            <a:ext cx="7543800" cy="365760"/>
          </a:xfrm>
          <a:prstGeom prst="rect">
            <a:avLst/>
          </a:prstGeom>
          <a:noFill/>
        </p:spPr>
        <p:txBody>
          <a:bodyPr wrap="square" lIns="0" tIns="0" rIns="0" bIns="0" anchor="ctr"/>
          <a:lstStyle/>
          <a:p>
            <a:pPr marL="0" indent="0">
              <a:buNone/>
            </a:pPr>
            <a:r>
              <a:rPr sz="2100" b="1">
                <a:solidFill>
                  <a:srgbClr val="022461"/>
                </a:solidFill>
                <a:latin typeface="Arial"/>
                <a:ea typeface="Arial"/>
                <a:cs typeface="Arial"/>
              </a:rPr>
              <a:t>Application Demo</a:t>
            </a:r>
            <a:endParaRPr sz="2100"/>
          </a:p>
        </p:txBody>
      </p:sp>
      <p:sp>
        <p:nvSpPr>
          <p:cNvPr id="4" name="Text 1">
            <a:extLst>
              <a:ext uri="{FF2B5EF4-FFF2-40B4-BE49-F238E27FC236}">
                <a16:creationId xmlns:a16="http://schemas.microsoft.com/office/drawing/2014/main" id="{088A6E29-AF4C-4FA1-A8E9-93BCDA3631E2}"/>
              </a:ext>
            </a:extLst>
          </p:cNvPr>
          <p:cNvSpPr>
            <a:spLocks noGrp="1"/>
          </p:cNvSpPr>
          <p:nvPr/>
        </p:nvSpPr>
        <p:spPr>
          <a:xfrm>
            <a:off x="1280160" y="457200"/>
            <a:ext cx="7543800" cy="274320"/>
          </a:xfrm>
          <a:prstGeom prst="rect">
            <a:avLst/>
          </a:prstGeom>
          <a:noFill/>
        </p:spPr>
        <p:txBody>
          <a:bodyPr wrap="square" lIns="0" tIns="0" rIns="0" bIns="0" anchor="ctr"/>
          <a:lstStyle/>
          <a:p>
            <a:pPr marL="0" indent="0">
              <a:buNone/>
            </a:pPr>
            <a:r>
              <a:rPr sz="1250">
                <a:solidFill>
                  <a:srgbClr val="2F5D8C"/>
                </a:solidFill>
                <a:latin typeface="Arial"/>
                <a:ea typeface="Arial"/>
                <a:cs typeface="Arial"/>
              </a:rPr>
              <a:t>Three views of the same shared system</a:t>
            </a:r>
            <a:endParaRPr sz="1250"/>
          </a:p>
        </p:txBody>
      </p:sp>
      <p:sp>
        <p:nvSpPr>
          <p:cNvPr id="5" name="Shape 2">
            <a:extLst>
              <a:ext uri="{FF2B5EF4-FFF2-40B4-BE49-F238E27FC236}">
                <a16:creationId xmlns:a16="http://schemas.microsoft.com/office/drawing/2014/main" id="{D534D104-8755-453E-A2B5-78E1EF9E07E9}"/>
              </a:ext>
            </a:extLst>
          </p:cNvPr>
          <p:cNvSpPr>
            <a:spLocks noGrp="1"/>
          </p:cNvSpPr>
          <p:nvPr/>
        </p:nvSpPr>
        <p:spPr>
          <a:xfrm>
            <a:off x="0" y="5001768"/>
            <a:ext cx="9144000" cy="141732"/>
          </a:xfrm>
          <a:prstGeom prst="rect">
            <a:avLst/>
          </a:prstGeom>
          <a:solidFill>
            <a:srgbClr val="FEF3F7"/>
          </a:solidFill>
        </p:spPr>
        <p:txBody>
          <a:bodyPr/>
          <a:lstStyle/>
          <a:p>
            <a:endParaRPr/>
          </a:p>
        </p:txBody>
      </p:sp>
      <p:sp>
        <p:nvSpPr>
          <p:cNvPr id="6" name="Shape 3">
            <a:extLst>
              <a:ext uri="{FF2B5EF4-FFF2-40B4-BE49-F238E27FC236}">
                <a16:creationId xmlns:a16="http://schemas.microsoft.com/office/drawing/2014/main" id="{68BEFFBB-0A3B-4F35-892D-2350CCE61FCC}"/>
              </a:ext>
            </a:extLst>
          </p:cNvPr>
          <p:cNvSpPr>
            <a:spLocks noGrp="1"/>
          </p:cNvSpPr>
          <p:nvPr/>
        </p:nvSpPr>
        <p:spPr>
          <a:xfrm>
            <a:off x="283464" y="4727448"/>
            <a:ext cx="7699248" cy="256032"/>
          </a:xfrm>
          <a:prstGeom prst="roundRect">
            <a:avLst>
              <a:gd name="adj" fmla="val 46429"/>
            </a:avLst>
          </a:prstGeom>
          <a:solidFill>
            <a:srgbClr val="FEF3F7"/>
          </a:solidFill>
        </p:spPr>
        <p:txBody>
          <a:bodyPr/>
          <a:lstStyle/>
          <a:p>
            <a:endParaRPr/>
          </a:p>
        </p:txBody>
      </p:sp>
      <p:sp>
        <p:nvSpPr>
          <p:cNvPr id="7" name="Shape 4">
            <a:extLst>
              <a:ext uri="{FF2B5EF4-FFF2-40B4-BE49-F238E27FC236}">
                <a16:creationId xmlns:a16="http://schemas.microsoft.com/office/drawing/2014/main" id="{9CD4B0B6-CA15-403A-A1CA-751CBE82B1CD}"/>
              </a:ext>
            </a:extLst>
          </p:cNvPr>
          <p:cNvSpPr>
            <a:spLocks noGrp="1"/>
          </p:cNvSpPr>
          <p:nvPr/>
        </p:nvSpPr>
        <p:spPr>
          <a:xfrm>
            <a:off x="283464" y="4709160"/>
            <a:ext cx="8577072" cy="0"/>
          </a:xfrm>
          <a:prstGeom prst="line">
            <a:avLst/>
          </a:prstGeom>
          <a:noFill/>
          <a:ln w="9525">
            <a:solidFill>
              <a:srgbClr val="BFBFBF"/>
            </a:solidFill>
            <a:prstDash val="solid"/>
          </a:ln>
        </p:spPr>
        <p:txBody>
          <a:bodyPr/>
          <a:lstStyle/>
          <a:p>
            <a:endParaRPr/>
          </a:p>
        </p:txBody>
      </p:sp>
      <p:sp>
        <p:nvSpPr>
          <p:cNvPr id="8" name="Text 5">
            <a:extLst>
              <a:ext uri="{FF2B5EF4-FFF2-40B4-BE49-F238E27FC236}">
                <a16:creationId xmlns:a16="http://schemas.microsoft.com/office/drawing/2014/main" id="{D7FDDF33-BD8F-402C-8195-AFDF403B554A}"/>
              </a:ext>
            </a:extLst>
          </p:cNvPr>
          <p:cNvSpPr>
            <a:spLocks noGrp="1"/>
          </p:cNvSpPr>
          <p:nvPr/>
        </p:nvSpPr>
        <p:spPr>
          <a:xfrm>
            <a:off x="411480" y="4727448"/>
            <a:ext cx="5486400" cy="256032"/>
          </a:xfrm>
          <a:prstGeom prst="rect">
            <a:avLst/>
          </a:prstGeom>
          <a:noFill/>
        </p:spPr>
        <p:txBody>
          <a:bodyPr wrap="square" lIns="0" tIns="0" rIns="0" bIns="0" anchor="ctr"/>
          <a:lstStyle/>
          <a:p>
            <a:pPr marL="0" indent="0">
              <a:buNone/>
            </a:pPr>
            <a:r>
              <a:rPr sz="750" b="1">
                <a:solidFill>
                  <a:srgbClr val="3C3C3C"/>
                </a:solidFill>
                <a:latin typeface="Arial"/>
                <a:ea typeface="Arial"/>
                <a:cs typeface="Arial"/>
              </a:rPr>
              <a:t>Raul Veca   -   WEST UNIVERSITY OF TIMIȘOARA</a:t>
            </a:r>
            <a:endParaRPr sz="750"/>
          </a:p>
        </p:txBody>
      </p:sp>
      <p:sp>
        <p:nvSpPr>
          <p:cNvPr id="9" name="Text 6">
            <a:extLst>
              <a:ext uri="{FF2B5EF4-FFF2-40B4-BE49-F238E27FC236}">
                <a16:creationId xmlns:a16="http://schemas.microsoft.com/office/drawing/2014/main" id="{D7DBD0D6-A02B-4D0E-88D3-1828436500FB}"/>
              </a:ext>
            </a:extLst>
          </p:cNvPr>
          <p:cNvSpPr>
            <a:spLocks noGrp="1"/>
          </p:cNvSpPr>
          <p:nvPr/>
        </p:nvSpPr>
        <p:spPr>
          <a:xfrm>
            <a:off x="7223760" y="4727448"/>
            <a:ext cx="1636776" cy="256032"/>
          </a:xfrm>
          <a:prstGeom prst="rect">
            <a:avLst/>
          </a:prstGeom>
          <a:noFill/>
        </p:spPr>
        <p:txBody>
          <a:bodyPr wrap="square" lIns="0" tIns="0" rIns="0" bIns="0" anchor="ctr"/>
          <a:lstStyle/>
          <a:p>
            <a:pPr marL="0" indent="0" algn="r">
              <a:buNone/>
            </a:pPr>
            <a:r>
              <a:rPr sz="750" b="1">
                <a:solidFill>
                  <a:srgbClr val="3C3C3C"/>
                </a:solidFill>
                <a:latin typeface="Arial"/>
                <a:ea typeface="Arial"/>
                <a:cs typeface="Arial"/>
              </a:rPr>
              <a:t>Page 5 / 6</a:t>
            </a:r>
            <a:endParaRPr sz="750"/>
          </a:p>
        </p:txBody>
      </p:sp>
      <p:pic>
        <p:nvPicPr>
          <p:cNvPr id="33" name="Image 1"/>
          <p:cNvPicPr>
            <a:picLocks noChangeAspect="1"/>
          </p:cNvPicPr>
          <p:nvPr/>
        </p:nvPicPr>
        <p:blipFill>
          <a:blip r:embed="rId4"/>
          <a:stretch>
            <a:fillRect/>
          </a:stretch>
        </p:blipFill>
        <p:spPr>
          <a:xfrm>
            <a:off x="384048" y="1115568"/>
            <a:ext cx="2706624" cy="1691640"/>
          </a:xfrm>
          <a:prstGeom prst="rect">
            <a:avLst/>
          </a:prstGeom>
        </p:spPr>
      </p:pic>
      <p:sp>
        <p:nvSpPr>
          <p:cNvPr id="11" name="Shape 7">
            <a:extLst>
              <a:ext uri="{FF2B5EF4-FFF2-40B4-BE49-F238E27FC236}">
                <a16:creationId xmlns:a16="http://schemas.microsoft.com/office/drawing/2014/main" id="{8705EC86-FCFF-4814-812C-066A3D5F7FEB}"/>
              </a:ext>
            </a:extLst>
          </p:cNvPr>
          <p:cNvSpPr>
            <a:spLocks noGrp="1"/>
          </p:cNvSpPr>
          <p:nvPr/>
        </p:nvSpPr>
        <p:spPr>
          <a:xfrm>
            <a:off x="384048" y="1115568"/>
            <a:ext cx="2706624" cy="1691640"/>
          </a:xfrm>
          <a:prstGeom prst="rect">
            <a:avLst/>
          </a:prstGeom>
          <a:ln w="9525">
            <a:solidFill>
              <a:srgbClr val="D9DEE6"/>
            </a:solidFill>
            <a:prstDash val="solid"/>
          </a:ln>
        </p:spPr>
        <p:txBody>
          <a:bodyPr/>
          <a:lstStyle/>
          <a:p>
            <a:endParaRPr/>
          </a:p>
        </p:txBody>
      </p:sp>
      <p:sp>
        <p:nvSpPr>
          <p:cNvPr id="12" name="Text 8">
            <a:extLst>
              <a:ext uri="{FF2B5EF4-FFF2-40B4-BE49-F238E27FC236}">
                <a16:creationId xmlns:a16="http://schemas.microsoft.com/office/drawing/2014/main" id="{0E818FA6-8B30-4B8C-8AD8-176F8907585B}"/>
              </a:ext>
            </a:extLst>
          </p:cNvPr>
          <p:cNvSpPr>
            <a:spLocks noGrp="1"/>
          </p:cNvSpPr>
          <p:nvPr/>
        </p:nvSpPr>
        <p:spPr>
          <a:xfrm>
            <a:off x="384048" y="2889504"/>
            <a:ext cx="2706624" cy="603504"/>
          </a:xfrm>
          <a:prstGeom prst="rect">
            <a:avLst/>
          </a:prstGeom>
          <a:noFill/>
        </p:spPr>
        <p:txBody>
          <a:bodyPr wrap="square" lIns="0" tIns="0" rIns="0" bIns="0" anchor="ctr"/>
          <a:lstStyle/>
          <a:p>
            <a:pPr marL="0" indent="0">
              <a:lnSpc>
                <a:spcPct val="108000"/>
              </a:lnSpc>
              <a:buNone/>
            </a:pPr>
            <a:r>
              <a:rPr sz="1050" b="1">
                <a:solidFill>
                  <a:srgbClr val="022461"/>
                </a:solidFill>
                <a:latin typeface="Arial"/>
                <a:ea typeface="Arial"/>
                <a:cs typeface="Arial"/>
              </a:rPr>
              <a:t>Authenticated learner home
</a:t>
            </a:r>
            <a:r>
              <a:rPr sz="950">
                <a:solidFill>
                  <a:srgbClr val="5A6472"/>
                </a:solidFill>
                <a:latin typeface="Arial"/>
                <a:ea typeface="Arial"/>
                <a:cs typeface="Arial"/>
              </a:rPr>
              <a:t>Personalised greeting and live catalogue statistics over SSE</a:t>
            </a:r>
            <a:endParaRPr sz="1050"/>
          </a:p>
        </p:txBody>
      </p:sp>
      <p:pic>
        <p:nvPicPr>
          <p:cNvPr id="36" name="Image 2"/>
          <p:cNvPicPr>
            <a:picLocks noChangeAspect="1"/>
          </p:cNvPicPr>
          <p:nvPr/>
        </p:nvPicPr>
        <p:blipFill>
          <a:blip r:embed="rId5"/>
          <a:stretch>
            <a:fillRect/>
          </a:stretch>
        </p:blipFill>
        <p:spPr>
          <a:xfrm>
            <a:off x="3218688" y="1115568"/>
            <a:ext cx="2706624" cy="1691640"/>
          </a:xfrm>
          <a:prstGeom prst="rect">
            <a:avLst/>
          </a:prstGeom>
        </p:spPr>
      </p:pic>
      <p:sp>
        <p:nvSpPr>
          <p:cNvPr id="14" name="Shape 9">
            <a:extLst>
              <a:ext uri="{FF2B5EF4-FFF2-40B4-BE49-F238E27FC236}">
                <a16:creationId xmlns:a16="http://schemas.microsoft.com/office/drawing/2014/main" id="{0F1E2273-1128-4C24-A9D9-7EE08B6BF711}"/>
              </a:ext>
            </a:extLst>
          </p:cNvPr>
          <p:cNvSpPr>
            <a:spLocks noGrp="1"/>
          </p:cNvSpPr>
          <p:nvPr/>
        </p:nvSpPr>
        <p:spPr>
          <a:xfrm>
            <a:off x="3218688" y="1115568"/>
            <a:ext cx="2706624" cy="1691640"/>
          </a:xfrm>
          <a:prstGeom prst="rect">
            <a:avLst/>
          </a:prstGeom>
          <a:ln w="9525">
            <a:solidFill>
              <a:srgbClr val="D9DEE6"/>
            </a:solidFill>
            <a:prstDash val="solid"/>
          </a:ln>
        </p:spPr>
        <p:txBody>
          <a:bodyPr/>
          <a:lstStyle/>
          <a:p>
            <a:endParaRPr/>
          </a:p>
        </p:txBody>
      </p:sp>
      <p:sp>
        <p:nvSpPr>
          <p:cNvPr id="15" name="Text 10">
            <a:extLst>
              <a:ext uri="{FF2B5EF4-FFF2-40B4-BE49-F238E27FC236}">
                <a16:creationId xmlns:a16="http://schemas.microsoft.com/office/drawing/2014/main" id="{59DF031D-41ED-4B9E-BC96-E2CD401B5718}"/>
              </a:ext>
            </a:extLst>
          </p:cNvPr>
          <p:cNvSpPr>
            <a:spLocks noGrp="1"/>
          </p:cNvSpPr>
          <p:nvPr/>
        </p:nvSpPr>
        <p:spPr>
          <a:xfrm>
            <a:off x="3218688" y="2889504"/>
            <a:ext cx="2706624" cy="603504"/>
          </a:xfrm>
          <a:prstGeom prst="rect">
            <a:avLst/>
          </a:prstGeom>
          <a:noFill/>
        </p:spPr>
        <p:txBody>
          <a:bodyPr wrap="square" lIns="0" tIns="0" rIns="0" bIns="0" anchor="ctr"/>
          <a:lstStyle/>
          <a:p>
            <a:pPr marL="0" indent="0">
              <a:lnSpc>
                <a:spcPct val="108000"/>
              </a:lnSpc>
              <a:buNone/>
            </a:pPr>
            <a:r>
              <a:rPr sz="1050" b="1">
                <a:solidFill>
                  <a:srgbClr val="022461"/>
                </a:solidFill>
                <a:latin typeface="Arial"/>
                <a:ea typeface="Arial"/>
                <a:cs typeface="Arial"/>
              </a:rPr>
              <a:t>Course catalogue
</a:t>
            </a:r>
            <a:r>
              <a:rPr sz="950">
                <a:solidFill>
                  <a:srgbClr val="5A6472"/>
                </a:solidFill>
                <a:latin typeface="Arial"/>
                <a:ea typeface="Arial"/>
                <a:cs typeface="Arial"/>
              </a:rPr>
              <a:t>Category filters; each card counts an impression and a click for CTR</a:t>
            </a:r>
            <a:endParaRPr sz="1050"/>
          </a:p>
        </p:txBody>
      </p:sp>
      <p:pic>
        <p:nvPicPr>
          <p:cNvPr id="39" name="Image 3"/>
          <p:cNvPicPr>
            <a:picLocks noChangeAspect="1"/>
          </p:cNvPicPr>
          <p:nvPr/>
        </p:nvPicPr>
        <p:blipFill>
          <a:blip r:embed="rId6"/>
          <a:stretch>
            <a:fillRect/>
          </a:stretch>
        </p:blipFill>
        <p:spPr>
          <a:xfrm>
            <a:off x="6053328" y="1115568"/>
            <a:ext cx="2706624" cy="1691640"/>
          </a:xfrm>
          <a:prstGeom prst="rect">
            <a:avLst/>
          </a:prstGeom>
        </p:spPr>
      </p:pic>
      <p:sp>
        <p:nvSpPr>
          <p:cNvPr id="17" name="Shape 11">
            <a:extLst>
              <a:ext uri="{FF2B5EF4-FFF2-40B4-BE49-F238E27FC236}">
                <a16:creationId xmlns:a16="http://schemas.microsoft.com/office/drawing/2014/main" id="{5C4D4D2B-F710-4104-9537-03AA0EDB895E}"/>
              </a:ext>
            </a:extLst>
          </p:cNvPr>
          <p:cNvSpPr>
            <a:spLocks noGrp="1"/>
          </p:cNvSpPr>
          <p:nvPr/>
        </p:nvSpPr>
        <p:spPr>
          <a:xfrm>
            <a:off x="6053328" y="1115568"/>
            <a:ext cx="2706624" cy="1691640"/>
          </a:xfrm>
          <a:prstGeom prst="rect">
            <a:avLst/>
          </a:prstGeom>
          <a:ln w="9525">
            <a:solidFill>
              <a:srgbClr val="D9DEE6"/>
            </a:solidFill>
            <a:prstDash val="solid"/>
          </a:ln>
        </p:spPr>
        <p:txBody>
          <a:bodyPr/>
          <a:lstStyle/>
          <a:p>
            <a:endParaRPr/>
          </a:p>
        </p:txBody>
      </p:sp>
      <p:sp>
        <p:nvSpPr>
          <p:cNvPr id="18" name="Text 12">
            <a:extLst>
              <a:ext uri="{FF2B5EF4-FFF2-40B4-BE49-F238E27FC236}">
                <a16:creationId xmlns:a16="http://schemas.microsoft.com/office/drawing/2014/main" id="{F27FA536-48DC-4625-BE1D-A69FB6DC384B}"/>
              </a:ext>
            </a:extLst>
          </p:cNvPr>
          <p:cNvSpPr>
            <a:spLocks noGrp="1"/>
          </p:cNvSpPr>
          <p:nvPr/>
        </p:nvSpPr>
        <p:spPr>
          <a:xfrm>
            <a:off x="6053328" y="2889504"/>
            <a:ext cx="2706624" cy="603504"/>
          </a:xfrm>
          <a:prstGeom prst="rect">
            <a:avLst/>
          </a:prstGeom>
          <a:noFill/>
        </p:spPr>
        <p:txBody>
          <a:bodyPr wrap="square" lIns="0" tIns="0" rIns="0" bIns="0" anchor="ctr"/>
          <a:lstStyle/>
          <a:p>
            <a:pPr marL="0" indent="0">
              <a:lnSpc>
                <a:spcPct val="108000"/>
              </a:lnSpc>
              <a:buNone/>
            </a:pPr>
            <a:r>
              <a:rPr sz="1050" b="1">
                <a:solidFill>
                  <a:srgbClr val="022461"/>
                </a:solidFill>
                <a:latin typeface="Arial"/>
                <a:ea typeface="Arial"/>
                <a:cs typeface="Arial"/>
              </a:rPr>
              <a:t>Administrator · Employees
</a:t>
            </a:r>
            <a:r>
              <a:rPr sz="950">
                <a:solidFill>
                  <a:srgbClr val="5A6472"/>
                </a:solidFill>
                <a:latin typeface="Arial"/>
                <a:ea typeface="Arial"/>
                <a:cs typeface="Arial"/>
              </a:rPr>
              <a:t>Company teams, Excel import and AI course recommendations</a:t>
            </a:r>
            <a:endParaRPr sz="1050"/>
          </a:p>
        </p:txBody>
      </p:sp>
      <p:sp>
        <p:nvSpPr>
          <p:cNvPr id="19" name="Shape 13">
            <a:extLst>
              <a:ext uri="{FF2B5EF4-FFF2-40B4-BE49-F238E27FC236}">
                <a16:creationId xmlns:a16="http://schemas.microsoft.com/office/drawing/2014/main" id="{1BB66CBA-6230-4CD1-9D88-FD9310ADBBD5}"/>
              </a:ext>
            </a:extLst>
          </p:cNvPr>
          <p:cNvSpPr>
            <a:spLocks noGrp="1"/>
          </p:cNvSpPr>
          <p:nvPr/>
        </p:nvSpPr>
        <p:spPr>
          <a:xfrm>
            <a:off x="384048" y="3639312"/>
            <a:ext cx="8375904" cy="621792"/>
          </a:xfrm>
          <a:prstGeom prst="rect">
            <a:avLst/>
          </a:prstGeom>
          <a:solidFill>
            <a:srgbClr val="FEF3F7"/>
          </a:solidFill>
        </p:spPr>
        <p:txBody>
          <a:bodyPr/>
          <a:lstStyle/>
          <a:p>
            <a:endParaRPr/>
          </a:p>
        </p:txBody>
      </p:sp>
      <p:sp>
        <p:nvSpPr>
          <p:cNvPr id="20" name="Text 14">
            <a:extLst>
              <a:ext uri="{FF2B5EF4-FFF2-40B4-BE49-F238E27FC236}">
                <a16:creationId xmlns:a16="http://schemas.microsoft.com/office/drawing/2014/main" id="{2F9A07D4-F8DB-4704-92A3-2CA880844E1C}"/>
              </a:ext>
            </a:extLst>
          </p:cNvPr>
          <p:cNvSpPr>
            <a:spLocks noGrp="1"/>
          </p:cNvSpPr>
          <p:nvPr/>
        </p:nvSpPr>
        <p:spPr>
          <a:xfrm>
            <a:off x="530352" y="3675888"/>
            <a:ext cx="8083296" cy="548640"/>
          </a:xfrm>
          <a:prstGeom prst="rect">
            <a:avLst/>
          </a:prstGeom>
          <a:noFill/>
        </p:spPr>
        <p:txBody>
          <a:bodyPr wrap="square" lIns="0" tIns="0" rIns="0" bIns="0" anchor="ctr"/>
          <a:lstStyle/>
          <a:p>
            <a:pPr marL="0" indent="0" algn="ctr">
              <a:lnSpc>
                <a:spcPct val="112000"/>
              </a:lnSpc>
              <a:buNone/>
            </a:pPr>
            <a:r>
              <a:rPr sz="1080">
                <a:solidFill>
                  <a:srgbClr val="1A1A1A"/>
                </a:solidFill>
                <a:latin typeface="Arial"/>
                <a:ea typeface="Arial"/>
                <a:cs typeface="Arial"/>
              </a:rPr>
              <a:t>A learner action appears immediately in the administrator portal, while live statistics and CRM records update from the same data.</a:t>
            </a:r>
            <a:endParaRPr sz="1080"/>
          </a:p>
        </p:txBody>
      </p:sp>
    </p:spTree>
    <p:extLst>
      <p:ext uri="{BB962C8B-B14F-4D97-AF65-F5344CB8AC3E}">
        <p14:creationId xmlns:p14="http://schemas.microsoft.com/office/powerpoint/2010/main" val="1089517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Image 0"/>
          <p:cNvPicPr>
            <a:picLocks noChangeAspect="1"/>
          </p:cNvPicPr>
          <p:nvPr/>
        </p:nvPicPr>
        <p:blipFill>
          <a:blip r:embed="rId3"/>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7D65B376-E1BE-46E4-AB08-55C2491CA88E}"/>
              </a:ext>
            </a:extLst>
          </p:cNvPr>
          <p:cNvSpPr>
            <a:spLocks noGrp="1"/>
          </p:cNvSpPr>
          <p:nvPr/>
        </p:nvSpPr>
        <p:spPr>
          <a:xfrm>
            <a:off x="1261872" y="82296"/>
            <a:ext cx="7543800" cy="365760"/>
          </a:xfrm>
          <a:prstGeom prst="rect">
            <a:avLst/>
          </a:prstGeom>
          <a:noFill/>
        </p:spPr>
        <p:txBody>
          <a:bodyPr wrap="square" lIns="0" tIns="0" rIns="0" bIns="0" anchor="ctr"/>
          <a:lstStyle/>
          <a:p>
            <a:pPr marL="0" indent="0">
              <a:buNone/>
            </a:pPr>
            <a:r>
              <a:rPr sz="2100" b="1" dirty="0">
                <a:solidFill>
                  <a:srgbClr val="022461"/>
                </a:solidFill>
                <a:latin typeface="Arial"/>
                <a:ea typeface="Arial"/>
                <a:cs typeface="Arial"/>
              </a:rPr>
              <a:t>Conclusion</a:t>
            </a:r>
            <a:r>
              <a:rPr lang="en-US" sz="2100" b="1" dirty="0">
                <a:solidFill>
                  <a:srgbClr val="022461"/>
                </a:solidFill>
                <a:latin typeface="Arial"/>
                <a:ea typeface="Arial"/>
                <a:cs typeface="Arial"/>
              </a:rPr>
              <a:t> and Future Work</a:t>
            </a:r>
            <a:endParaRPr sz="2100" dirty="0"/>
          </a:p>
        </p:txBody>
      </p:sp>
      <p:sp>
        <p:nvSpPr>
          <p:cNvPr id="4" name="Text 1">
            <a:extLst>
              <a:ext uri="{FF2B5EF4-FFF2-40B4-BE49-F238E27FC236}">
                <a16:creationId xmlns:a16="http://schemas.microsoft.com/office/drawing/2014/main" id="{AB41FE52-BA53-4D2B-888A-B8C1E0544710}"/>
              </a:ext>
            </a:extLst>
          </p:cNvPr>
          <p:cNvSpPr>
            <a:spLocks noGrp="1"/>
          </p:cNvSpPr>
          <p:nvPr/>
        </p:nvSpPr>
        <p:spPr>
          <a:xfrm>
            <a:off x="1280160" y="457200"/>
            <a:ext cx="7543800" cy="274320"/>
          </a:xfrm>
          <a:prstGeom prst="rect">
            <a:avLst/>
          </a:prstGeom>
          <a:noFill/>
        </p:spPr>
        <p:txBody>
          <a:bodyPr wrap="square" lIns="0" tIns="0" rIns="0" bIns="0" anchor="ctr"/>
          <a:lstStyle/>
          <a:p>
            <a:pPr marL="0" indent="0">
              <a:buNone/>
            </a:pPr>
            <a:r>
              <a:rPr sz="1250">
                <a:solidFill>
                  <a:srgbClr val="2F5D8C"/>
                </a:solidFill>
                <a:latin typeface="Arial"/>
                <a:ea typeface="Arial"/>
                <a:cs typeface="Arial"/>
              </a:rPr>
              <a:t>TrainingIT demonstrates one coherent storefront and CRM</a:t>
            </a:r>
            <a:endParaRPr sz="1250"/>
          </a:p>
        </p:txBody>
      </p:sp>
      <p:sp>
        <p:nvSpPr>
          <p:cNvPr id="5" name="Shape 2">
            <a:extLst>
              <a:ext uri="{FF2B5EF4-FFF2-40B4-BE49-F238E27FC236}">
                <a16:creationId xmlns:a16="http://schemas.microsoft.com/office/drawing/2014/main" id="{96FAE1D3-DE64-4C31-A19A-8751123F4E42}"/>
              </a:ext>
            </a:extLst>
          </p:cNvPr>
          <p:cNvSpPr>
            <a:spLocks noGrp="1"/>
          </p:cNvSpPr>
          <p:nvPr/>
        </p:nvSpPr>
        <p:spPr>
          <a:xfrm>
            <a:off x="0" y="5001768"/>
            <a:ext cx="9144000" cy="141732"/>
          </a:xfrm>
          <a:prstGeom prst="rect">
            <a:avLst/>
          </a:prstGeom>
          <a:solidFill>
            <a:srgbClr val="FEF3F7"/>
          </a:solidFill>
        </p:spPr>
        <p:txBody>
          <a:bodyPr/>
          <a:lstStyle/>
          <a:p>
            <a:endParaRPr/>
          </a:p>
        </p:txBody>
      </p:sp>
      <p:sp>
        <p:nvSpPr>
          <p:cNvPr id="6" name="Shape 3">
            <a:extLst>
              <a:ext uri="{FF2B5EF4-FFF2-40B4-BE49-F238E27FC236}">
                <a16:creationId xmlns:a16="http://schemas.microsoft.com/office/drawing/2014/main" id="{C93FD3D6-09A0-436D-B86E-641F4E0CB457}"/>
              </a:ext>
            </a:extLst>
          </p:cNvPr>
          <p:cNvSpPr>
            <a:spLocks noGrp="1"/>
          </p:cNvSpPr>
          <p:nvPr/>
        </p:nvSpPr>
        <p:spPr>
          <a:xfrm>
            <a:off x="283464" y="4727448"/>
            <a:ext cx="7699248" cy="256032"/>
          </a:xfrm>
          <a:prstGeom prst="roundRect">
            <a:avLst>
              <a:gd name="adj" fmla="val 46429"/>
            </a:avLst>
          </a:prstGeom>
          <a:solidFill>
            <a:srgbClr val="FEF3F7"/>
          </a:solidFill>
        </p:spPr>
        <p:txBody>
          <a:bodyPr/>
          <a:lstStyle/>
          <a:p>
            <a:endParaRPr/>
          </a:p>
        </p:txBody>
      </p:sp>
      <p:sp>
        <p:nvSpPr>
          <p:cNvPr id="7" name="Shape 4">
            <a:extLst>
              <a:ext uri="{FF2B5EF4-FFF2-40B4-BE49-F238E27FC236}">
                <a16:creationId xmlns:a16="http://schemas.microsoft.com/office/drawing/2014/main" id="{1FCF58E4-94A5-4250-A2CD-A20037966222}"/>
              </a:ext>
            </a:extLst>
          </p:cNvPr>
          <p:cNvSpPr>
            <a:spLocks noGrp="1"/>
          </p:cNvSpPr>
          <p:nvPr/>
        </p:nvSpPr>
        <p:spPr>
          <a:xfrm>
            <a:off x="283464" y="4709160"/>
            <a:ext cx="8577072" cy="0"/>
          </a:xfrm>
          <a:prstGeom prst="line">
            <a:avLst/>
          </a:prstGeom>
          <a:noFill/>
          <a:ln w="9525">
            <a:solidFill>
              <a:srgbClr val="BFBFBF"/>
            </a:solidFill>
            <a:prstDash val="solid"/>
          </a:ln>
        </p:spPr>
        <p:txBody>
          <a:bodyPr/>
          <a:lstStyle/>
          <a:p>
            <a:endParaRPr/>
          </a:p>
        </p:txBody>
      </p:sp>
      <p:sp>
        <p:nvSpPr>
          <p:cNvPr id="8" name="Text 5">
            <a:extLst>
              <a:ext uri="{FF2B5EF4-FFF2-40B4-BE49-F238E27FC236}">
                <a16:creationId xmlns:a16="http://schemas.microsoft.com/office/drawing/2014/main" id="{A327F7BB-C3AB-4E16-B6C5-269553FAF95E}"/>
              </a:ext>
            </a:extLst>
          </p:cNvPr>
          <p:cNvSpPr>
            <a:spLocks noGrp="1"/>
          </p:cNvSpPr>
          <p:nvPr/>
        </p:nvSpPr>
        <p:spPr>
          <a:xfrm>
            <a:off x="411480" y="4727448"/>
            <a:ext cx="5486400" cy="256032"/>
          </a:xfrm>
          <a:prstGeom prst="rect">
            <a:avLst/>
          </a:prstGeom>
          <a:noFill/>
        </p:spPr>
        <p:txBody>
          <a:bodyPr wrap="square" lIns="0" tIns="0" rIns="0" bIns="0" anchor="ctr"/>
          <a:lstStyle/>
          <a:p>
            <a:pPr marL="0" indent="0">
              <a:buNone/>
            </a:pPr>
            <a:r>
              <a:rPr sz="750" b="1">
                <a:solidFill>
                  <a:srgbClr val="3C3C3C"/>
                </a:solidFill>
                <a:latin typeface="Arial"/>
                <a:ea typeface="Arial"/>
                <a:cs typeface="Arial"/>
              </a:rPr>
              <a:t>Raul Veca   -   WEST UNIVERSITY OF TIMIȘOARA</a:t>
            </a:r>
            <a:endParaRPr sz="750"/>
          </a:p>
        </p:txBody>
      </p:sp>
      <p:sp>
        <p:nvSpPr>
          <p:cNvPr id="9" name="Text 6">
            <a:extLst>
              <a:ext uri="{FF2B5EF4-FFF2-40B4-BE49-F238E27FC236}">
                <a16:creationId xmlns:a16="http://schemas.microsoft.com/office/drawing/2014/main" id="{2CB1D2E0-0F0F-480F-AE8D-D42C865D27C5}"/>
              </a:ext>
            </a:extLst>
          </p:cNvPr>
          <p:cNvSpPr>
            <a:spLocks noGrp="1"/>
          </p:cNvSpPr>
          <p:nvPr/>
        </p:nvSpPr>
        <p:spPr>
          <a:xfrm>
            <a:off x="7223760" y="4727448"/>
            <a:ext cx="1636776" cy="256032"/>
          </a:xfrm>
          <a:prstGeom prst="rect">
            <a:avLst/>
          </a:prstGeom>
          <a:noFill/>
        </p:spPr>
        <p:txBody>
          <a:bodyPr wrap="square" lIns="0" tIns="0" rIns="0" bIns="0" anchor="ctr"/>
          <a:lstStyle/>
          <a:p>
            <a:pPr marL="0" indent="0" algn="r">
              <a:buNone/>
            </a:pPr>
            <a:r>
              <a:rPr sz="750" b="1">
                <a:solidFill>
                  <a:srgbClr val="3C3C3C"/>
                </a:solidFill>
                <a:latin typeface="Arial"/>
                <a:ea typeface="Arial"/>
                <a:cs typeface="Arial"/>
              </a:rPr>
              <a:t>Page 6 / 6</a:t>
            </a:r>
            <a:endParaRPr sz="750"/>
          </a:p>
        </p:txBody>
      </p:sp>
      <p:sp>
        <p:nvSpPr>
          <p:cNvPr id="10" name="Shape 7">
            <a:extLst>
              <a:ext uri="{FF2B5EF4-FFF2-40B4-BE49-F238E27FC236}">
                <a16:creationId xmlns:a16="http://schemas.microsoft.com/office/drawing/2014/main" id="{AF85038C-DC06-4E96-AA9A-A743BC1D1BCD}"/>
              </a:ext>
            </a:extLst>
          </p:cNvPr>
          <p:cNvSpPr>
            <a:spLocks noGrp="1"/>
          </p:cNvSpPr>
          <p:nvPr/>
        </p:nvSpPr>
        <p:spPr>
          <a:xfrm>
            <a:off x="384048" y="1042416"/>
            <a:ext cx="4160520" cy="310896"/>
          </a:xfrm>
          <a:prstGeom prst="rect">
            <a:avLst/>
          </a:prstGeom>
          <a:solidFill>
            <a:srgbClr val="022461"/>
          </a:solidFill>
        </p:spPr>
        <p:txBody>
          <a:bodyPr/>
          <a:lstStyle/>
          <a:p>
            <a:endParaRPr/>
          </a:p>
        </p:txBody>
      </p:sp>
      <p:sp>
        <p:nvSpPr>
          <p:cNvPr id="11" name="Text 8">
            <a:extLst>
              <a:ext uri="{FF2B5EF4-FFF2-40B4-BE49-F238E27FC236}">
                <a16:creationId xmlns:a16="http://schemas.microsoft.com/office/drawing/2014/main" id="{E6D5E0C8-9DEF-47A3-9D62-F8BF773E8CE3}"/>
              </a:ext>
            </a:extLst>
          </p:cNvPr>
          <p:cNvSpPr>
            <a:spLocks noGrp="1"/>
          </p:cNvSpPr>
          <p:nvPr/>
        </p:nvSpPr>
        <p:spPr>
          <a:xfrm>
            <a:off x="502920" y="1042416"/>
            <a:ext cx="3922776" cy="310896"/>
          </a:xfrm>
          <a:prstGeom prst="rect">
            <a:avLst/>
          </a:prstGeom>
          <a:noFill/>
        </p:spPr>
        <p:txBody>
          <a:bodyPr wrap="square" lIns="0" tIns="0" rIns="0" bIns="0" anchor="ctr"/>
          <a:lstStyle/>
          <a:p>
            <a:pPr marL="0" indent="0">
              <a:buNone/>
            </a:pPr>
            <a:r>
              <a:rPr sz="1300" b="1">
                <a:solidFill>
                  <a:srgbClr val="FFFFFF"/>
                </a:solidFill>
                <a:latin typeface="Arial"/>
                <a:ea typeface="Arial"/>
                <a:cs typeface="Arial"/>
              </a:rPr>
              <a:t>Implemented</a:t>
            </a:r>
            <a:endParaRPr sz="1300"/>
          </a:p>
        </p:txBody>
      </p:sp>
      <p:sp>
        <p:nvSpPr>
          <p:cNvPr id="12" name="Shape 9">
            <a:extLst>
              <a:ext uri="{FF2B5EF4-FFF2-40B4-BE49-F238E27FC236}">
                <a16:creationId xmlns:a16="http://schemas.microsoft.com/office/drawing/2014/main" id="{190F24E0-6556-490A-9EEC-8A689522BA65}"/>
              </a:ext>
            </a:extLst>
          </p:cNvPr>
          <p:cNvSpPr>
            <a:spLocks noGrp="1"/>
          </p:cNvSpPr>
          <p:nvPr/>
        </p:nvSpPr>
        <p:spPr>
          <a:xfrm>
            <a:off x="384048" y="1353312"/>
            <a:ext cx="4160520" cy="2761488"/>
          </a:xfrm>
          <a:prstGeom prst="rect">
            <a:avLst/>
          </a:prstGeom>
          <a:solidFill>
            <a:srgbClr val="FEF3F7"/>
          </a:solidFill>
        </p:spPr>
        <p:txBody>
          <a:bodyPr/>
          <a:lstStyle/>
          <a:p>
            <a:endParaRPr/>
          </a:p>
        </p:txBody>
      </p:sp>
      <p:sp>
        <p:nvSpPr>
          <p:cNvPr id="13" name="Text 10">
            <a:extLst>
              <a:ext uri="{FF2B5EF4-FFF2-40B4-BE49-F238E27FC236}">
                <a16:creationId xmlns:a16="http://schemas.microsoft.com/office/drawing/2014/main" id="{138DE53A-5020-4432-85F2-B3DD5A4E7F6E}"/>
              </a:ext>
            </a:extLst>
          </p:cNvPr>
          <p:cNvSpPr>
            <a:spLocks noGrp="1"/>
          </p:cNvSpPr>
          <p:nvPr/>
        </p:nvSpPr>
        <p:spPr>
          <a:xfrm>
            <a:off x="530352" y="1417320"/>
            <a:ext cx="3867912" cy="2633472"/>
          </a:xfrm>
          <a:prstGeom prst="rect">
            <a:avLst/>
          </a:prstGeom>
          <a:noFill/>
        </p:spPr>
        <p:txBody>
          <a:bodyPr wrap="square" lIns="0" tIns="0" rIns="0" bIns="0" anchor="t"/>
          <a:lstStyle/>
          <a:p>
            <a:pPr marL="177800" indent="-177800">
              <a:lnSpc>
                <a:spcPct val="110000"/>
              </a:lnSpc>
              <a:spcAft>
                <a:spcPts val="400"/>
              </a:spcAft>
              <a:buSzPct val="100000"/>
              <a:buChar char="○"/>
            </a:pPr>
            <a:r>
              <a:rPr sz="980">
                <a:solidFill>
                  <a:srgbClr val="1A1A1A"/>
                </a:solidFill>
                <a:latin typeface="Arial"/>
                <a:ea typeface="Arial"/>
                <a:cs typeface="Arial"/>
              </a:rPr>
              <a:t>Learner portal: catalogue, purchase, reviews and tutoring.</a:t>
            </a:r>
            <a:endParaRPr sz="980"/>
          </a:p>
          <a:p>
            <a:pPr marL="177800" indent="-177800">
              <a:lnSpc>
                <a:spcPct val="110000"/>
              </a:lnSpc>
              <a:spcAft>
                <a:spcPts val="400"/>
              </a:spcAft>
              <a:buSzPct val="100000"/>
              <a:buChar char="○"/>
            </a:pPr>
            <a:r>
              <a:rPr sz="980">
                <a:solidFill>
                  <a:srgbClr val="1A1A1A"/>
                </a:solidFill>
                <a:latin typeface="Arial"/>
                <a:ea typeface="Arial"/>
                <a:cs typeface="Arial"/>
              </a:rPr>
              <a:t>CRM portal: contacts, purchases, invoices, analytics and issues.</a:t>
            </a:r>
            <a:endParaRPr sz="980"/>
          </a:p>
          <a:p>
            <a:pPr marL="177800" indent="-177800">
              <a:lnSpc>
                <a:spcPct val="110000"/>
              </a:lnSpc>
              <a:spcAft>
                <a:spcPts val="400"/>
              </a:spcAft>
              <a:buSzPct val="100000"/>
              <a:buChar char="○"/>
            </a:pPr>
            <a:r>
              <a:rPr sz="980">
                <a:solidFill>
                  <a:srgbClr val="1A1A1A"/>
                </a:solidFill>
                <a:latin typeface="Arial"/>
                <a:ea typeface="Arial"/>
                <a:cs typeface="Arial"/>
              </a:rPr>
              <a:t>Event-driven domain: automated lead scoring and invoicing.</a:t>
            </a:r>
            <a:endParaRPr sz="980"/>
          </a:p>
          <a:p>
            <a:pPr marL="177800" indent="-177800">
              <a:lnSpc>
                <a:spcPct val="110000"/>
              </a:lnSpc>
              <a:spcAft>
                <a:spcPts val="400"/>
              </a:spcAft>
              <a:buSzPct val="100000"/>
              <a:buChar char="○"/>
            </a:pPr>
            <a:r>
              <a:rPr sz="980">
                <a:solidFill>
                  <a:srgbClr val="1A1A1A"/>
                </a:solidFill>
                <a:latin typeface="Arial"/>
                <a:ea typeface="Arial"/>
                <a:cs typeface="Arial"/>
              </a:rPr>
              <a:t>Live SSE statistics, imports and multi-format exports.</a:t>
            </a:r>
            <a:endParaRPr sz="980"/>
          </a:p>
          <a:p>
            <a:pPr marL="177800" indent="-177800">
              <a:lnSpc>
                <a:spcPct val="110000"/>
              </a:lnSpc>
              <a:spcAft>
                <a:spcPts val="400"/>
              </a:spcAft>
              <a:buSzPct val="100000"/>
              <a:buChar char="○"/>
            </a:pPr>
            <a:r>
              <a:rPr sz="980">
                <a:solidFill>
                  <a:srgbClr val="1A1A1A"/>
                </a:solidFill>
                <a:latin typeface="Arial"/>
                <a:ea typeface="Arial"/>
                <a:cs typeface="Arial"/>
              </a:rPr>
              <a:t>Optional Claude assistant, recommendations and translation.</a:t>
            </a:r>
            <a:endParaRPr sz="980"/>
          </a:p>
        </p:txBody>
      </p:sp>
      <p:sp>
        <p:nvSpPr>
          <p:cNvPr id="14" name="Shape 11">
            <a:extLst>
              <a:ext uri="{FF2B5EF4-FFF2-40B4-BE49-F238E27FC236}">
                <a16:creationId xmlns:a16="http://schemas.microsoft.com/office/drawing/2014/main" id="{BF1F1DD3-F394-4312-BD66-F5BF6137296F}"/>
              </a:ext>
            </a:extLst>
          </p:cNvPr>
          <p:cNvSpPr>
            <a:spLocks noGrp="1"/>
          </p:cNvSpPr>
          <p:nvPr/>
        </p:nvSpPr>
        <p:spPr>
          <a:xfrm>
            <a:off x="4599432" y="1042416"/>
            <a:ext cx="4160520" cy="310896"/>
          </a:xfrm>
          <a:prstGeom prst="rect">
            <a:avLst/>
          </a:prstGeom>
          <a:solidFill>
            <a:srgbClr val="E4AB26"/>
          </a:solidFill>
        </p:spPr>
        <p:txBody>
          <a:bodyPr/>
          <a:lstStyle/>
          <a:p>
            <a:endParaRPr/>
          </a:p>
        </p:txBody>
      </p:sp>
      <p:sp>
        <p:nvSpPr>
          <p:cNvPr id="15" name="Text 12">
            <a:extLst>
              <a:ext uri="{FF2B5EF4-FFF2-40B4-BE49-F238E27FC236}">
                <a16:creationId xmlns:a16="http://schemas.microsoft.com/office/drawing/2014/main" id="{5AE8F365-30E5-468B-8470-1D33458147CD}"/>
              </a:ext>
            </a:extLst>
          </p:cNvPr>
          <p:cNvSpPr>
            <a:spLocks noGrp="1"/>
          </p:cNvSpPr>
          <p:nvPr/>
        </p:nvSpPr>
        <p:spPr>
          <a:xfrm>
            <a:off x="4718304" y="1042416"/>
            <a:ext cx="3922776" cy="310896"/>
          </a:xfrm>
          <a:prstGeom prst="rect">
            <a:avLst/>
          </a:prstGeom>
          <a:noFill/>
        </p:spPr>
        <p:txBody>
          <a:bodyPr wrap="square" lIns="0" tIns="0" rIns="0" bIns="0" anchor="ctr"/>
          <a:lstStyle/>
          <a:p>
            <a:pPr marL="0" indent="0">
              <a:buNone/>
            </a:pPr>
            <a:r>
              <a:rPr sz="1300" b="1">
                <a:solidFill>
                  <a:srgbClr val="FFFFFF"/>
                </a:solidFill>
                <a:latin typeface="Arial"/>
                <a:ea typeface="Arial"/>
                <a:cs typeface="Arial"/>
              </a:rPr>
              <a:t>Validated and next steps</a:t>
            </a:r>
            <a:endParaRPr sz="1300"/>
          </a:p>
        </p:txBody>
      </p:sp>
      <p:sp>
        <p:nvSpPr>
          <p:cNvPr id="16" name="Shape 13">
            <a:extLst>
              <a:ext uri="{FF2B5EF4-FFF2-40B4-BE49-F238E27FC236}">
                <a16:creationId xmlns:a16="http://schemas.microsoft.com/office/drawing/2014/main" id="{C93EF342-A280-478B-89B9-DE52C3161592}"/>
              </a:ext>
            </a:extLst>
          </p:cNvPr>
          <p:cNvSpPr>
            <a:spLocks noGrp="1"/>
          </p:cNvSpPr>
          <p:nvPr/>
        </p:nvSpPr>
        <p:spPr>
          <a:xfrm>
            <a:off x="4599432" y="1353312"/>
            <a:ext cx="4160520" cy="2761488"/>
          </a:xfrm>
          <a:prstGeom prst="rect">
            <a:avLst/>
          </a:prstGeom>
          <a:solidFill>
            <a:srgbClr val="FEF3F7"/>
          </a:solidFill>
        </p:spPr>
        <p:txBody>
          <a:bodyPr/>
          <a:lstStyle/>
          <a:p>
            <a:endParaRPr/>
          </a:p>
        </p:txBody>
      </p:sp>
      <p:sp>
        <p:nvSpPr>
          <p:cNvPr id="17" name="Text 14">
            <a:extLst>
              <a:ext uri="{FF2B5EF4-FFF2-40B4-BE49-F238E27FC236}">
                <a16:creationId xmlns:a16="http://schemas.microsoft.com/office/drawing/2014/main" id="{D030EC76-A3B2-4B4B-A064-F4CAF9D8EDB4}"/>
              </a:ext>
            </a:extLst>
          </p:cNvPr>
          <p:cNvSpPr>
            <a:spLocks noGrp="1"/>
          </p:cNvSpPr>
          <p:nvPr/>
        </p:nvSpPr>
        <p:spPr>
          <a:xfrm>
            <a:off x="4745736" y="1417320"/>
            <a:ext cx="3867912" cy="2633472"/>
          </a:xfrm>
          <a:prstGeom prst="rect">
            <a:avLst/>
          </a:prstGeom>
          <a:noFill/>
        </p:spPr>
        <p:txBody>
          <a:bodyPr wrap="square" lIns="0" tIns="0" rIns="0" bIns="0" anchor="t"/>
          <a:lstStyle/>
          <a:p>
            <a:pPr marL="177800" indent="-177800">
              <a:lnSpc>
                <a:spcPct val="110000"/>
              </a:lnSpc>
              <a:spcAft>
                <a:spcPts val="400"/>
              </a:spcAft>
              <a:buSzPct val="100000"/>
              <a:buChar char="○"/>
            </a:pPr>
            <a:r>
              <a:rPr sz="980">
                <a:solidFill>
                  <a:srgbClr val="1A1A1A"/>
                </a:solidFill>
                <a:latin typeface="Arial"/>
                <a:ea typeface="Arial"/>
                <a:cs typeface="Arial"/>
              </a:rPr>
              <a:t>End-to-end flows verified against a real MariaDB instance.</a:t>
            </a:r>
            <a:endParaRPr sz="980"/>
          </a:p>
          <a:p>
            <a:pPr marL="177800" indent="-177800">
              <a:lnSpc>
                <a:spcPct val="110000"/>
              </a:lnSpc>
              <a:spcAft>
                <a:spcPts val="400"/>
              </a:spcAft>
              <a:buSzPct val="100000"/>
              <a:buChar char="○"/>
            </a:pPr>
            <a:r>
              <a:rPr sz="980">
                <a:solidFill>
                  <a:srgbClr val="1A1A1A"/>
                </a:solidFill>
                <a:latin typeface="Arial"/>
                <a:ea typeface="Arial"/>
                <a:cs typeface="Arial"/>
              </a:rPr>
              <a:t>Duplicate invoices prevented through idempotent processing.</a:t>
            </a:r>
            <a:endParaRPr sz="980"/>
          </a:p>
          <a:p>
            <a:pPr marL="177800" indent="-177800">
              <a:lnSpc>
                <a:spcPct val="110000"/>
              </a:lnSpc>
              <a:spcAft>
                <a:spcPts val="400"/>
              </a:spcAft>
              <a:buSzPct val="100000"/>
              <a:buChar char="○"/>
            </a:pPr>
            <a:r>
              <a:rPr sz="980">
                <a:solidFill>
                  <a:srgbClr val="1A1A1A"/>
                </a:solidFill>
                <a:latin typeface="Arial"/>
                <a:ea typeface="Arial"/>
                <a:cs typeface="Arial"/>
              </a:rPr>
              <a:t>Observer failures are isolated; optional AI degrades safely.</a:t>
            </a:r>
            <a:endParaRPr sz="980"/>
          </a:p>
          <a:p>
            <a:pPr marL="177800" indent="-177800">
              <a:lnSpc>
                <a:spcPct val="110000"/>
              </a:lnSpc>
              <a:spcAft>
                <a:spcPts val="400"/>
              </a:spcAft>
              <a:buSzPct val="100000"/>
              <a:buChar char="○"/>
            </a:pPr>
            <a:r>
              <a:rPr sz="980">
                <a:solidFill>
                  <a:srgbClr val="1A1A1A"/>
                </a:solidFill>
                <a:latin typeface="Arial"/>
                <a:ea typeface="Arial"/>
                <a:cs typeface="Arial"/>
              </a:rPr>
              <a:t>Next: automated tests and production-grade authentication.</a:t>
            </a:r>
            <a:endParaRPr sz="980"/>
          </a:p>
          <a:p>
            <a:pPr marL="177800" indent="-177800">
              <a:lnSpc>
                <a:spcPct val="110000"/>
              </a:lnSpc>
              <a:spcAft>
                <a:spcPts val="400"/>
              </a:spcAft>
              <a:buSzPct val="100000"/>
              <a:buChar char="○"/>
            </a:pPr>
            <a:r>
              <a:rPr sz="980">
                <a:solidFill>
                  <a:srgbClr val="1A1A1A"/>
                </a:solidFill>
                <a:latin typeface="Arial"/>
                <a:ea typeface="Arial"/>
                <a:cs typeface="Arial"/>
              </a:rPr>
              <a:t>Next: richer analytics and cloud deployment.</a:t>
            </a:r>
            <a:endParaRPr sz="980"/>
          </a:p>
        </p:txBody>
      </p:sp>
      <p:sp>
        <p:nvSpPr>
          <p:cNvPr id="18" name="Shape 15">
            <a:extLst>
              <a:ext uri="{FF2B5EF4-FFF2-40B4-BE49-F238E27FC236}">
                <a16:creationId xmlns:a16="http://schemas.microsoft.com/office/drawing/2014/main" id="{BD69727E-DCAA-45C6-89E5-C534A4143866}"/>
              </a:ext>
            </a:extLst>
          </p:cNvPr>
          <p:cNvSpPr>
            <a:spLocks noGrp="1"/>
          </p:cNvSpPr>
          <p:nvPr/>
        </p:nvSpPr>
        <p:spPr>
          <a:xfrm>
            <a:off x="384048" y="3913632"/>
            <a:ext cx="8375904" cy="548640"/>
          </a:xfrm>
          <a:prstGeom prst="rect">
            <a:avLst/>
          </a:prstGeom>
          <a:solidFill>
            <a:srgbClr val="F0F7FF"/>
          </a:solidFill>
        </p:spPr>
        <p:txBody>
          <a:bodyPr/>
          <a:lstStyle/>
          <a:p>
            <a:endParaRPr/>
          </a:p>
        </p:txBody>
      </p:sp>
      <p:sp>
        <p:nvSpPr>
          <p:cNvPr id="19" name="Text 16">
            <a:extLst>
              <a:ext uri="{FF2B5EF4-FFF2-40B4-BE49-F238E27FC236}">
                <a16:creationId xmlns:a16="http://schemas.microsoft.com/office/drawing/2014/main" id="{6A346125-F990-4C2F-A330-9788DD9B0F8D}"/>
              </a:ext>
            </a:extLst>
          </p:cNvPr>
          <p:cNvSpPr>
            <a:spLocks noGrp="1"/>
          </p:cNvSpPr>
          <p:nvPr/>
        </p:nvSpPr>
        <p:spPr>
          <a:xfrm>
            <a:off x="530352" y="3950208"/>
            <a:ext cx="8083296" cy="475488"/>
          </a:xfrm>
          <a:prstGeom prst="rect">
            <a:avLst/>
          </a:prstGeom>
          <a:noFill/>
        </p:spPr>
        <p:txBody>
          <a:bodyPr wrap="square" lIns="0" tIns="0" rIns="0" bIns="0" anchor="ctr"/>
          <a:lstStyle/>
          <a:p>
            <a:pPr marL="0" indent="0" algn="ctr">
              <a:lnSpc>
                <a:spcPct val="112000"/>
              </a:lnSpc>
              <a:buNone/>
            </a:pPr>
            <a:r>
              <a:rPr sz="1080">
                <a:solidFill>
                  <a:srgbClr val="1A1A1A"/>
                </a:solidFill>
                <a:latin typeface="Arial"/>
                <a:ea typeface="Arial"/>
                <a:cs typeface="Arial"/>
              </a:rPr>
              <a:t>Each customer action is recorded once and becomes immediately available to the business.</a:t>
            </a:r>
            <a:endParaRPr sz="1080"/>
          </a:p>
        </p:txBody>
      </p:sp>
    </p:spTree>
    <p:extLst>
      <p:ext uri="{BB962C8B-B14F-4D97-AF65-F5344CB8AC3E}">
        <p14:creationId xmlns:p14="http://schemas.microsoft.com/office/powerpoint/2010/main" val="883763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1325</Words>
  <Application>Microsoft Office PowerPoint</Application>
  <DocSecurity>0</DocSecurity>
  <PresentationFormat>On-screen Show (16:9)</PresentationFormat>
  <Paragraphs>103</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Raul Veca</cp:lastModifiedBy>
  <cp:revision>1</cp:revision>
  <dcterms:created xsi:type="dcterms:W3CDTF">2026-08-31T16:37:40Z</dcterms:created>
  <dcterms:modified xsi:type="dcterms:W3CDTF">2026-08-31T23:23:29Z</dcterms:modified>
</cp:coreProperties>
</file>