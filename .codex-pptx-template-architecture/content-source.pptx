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" y="0"/>
            <a:ext cx="859536" cy="85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8BCD47E-62A9-43BE-B567-70C70E0F4FB2}"/>
              </a:ext>
            </a:extLst>
          </p:cNvPr>
          <p:cNvSpPr>
            <a:spLocks noGrp="1"/>
          </p:cNvSpPr>
          <p:nvPr/>
        </p:nvSpPr>
        <p:spPr>
          <a:xfrm>
            <a:off x="4754880" y="146304"/>
            <a:ext cx="41056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 b="1" spc="60">
                <a:solidFill>
                  <a:srgbClr val="AFC0DA"/>
                </a:solidFill>
                <a:latin typeface="Arial"/>
                <a:ea typeface="Arial"/>
                <a:cs typeface="Arial"/>
              </a:rPr>
              <a:t>WEST UNIVERSITY OF TIMIȘOARA</a:t>
            </a:r>
            <a:endParaRPr sz="105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5784892-3249-4781-8F3B-BFD161838B1D}"/>
              </a:ext>
            </a:extLst>
          </p:cNvPr>
          <p:cNvSpPr>
            <a:spLocks noGrp="1"/>
          </p:cNvSpPr>
          <p:nvPr/>
        </p:nvSpPr>
        <p:spPr>
          <a:xfrm>
            <a:off x="548640" y="1389888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</a:t>
            </a:r>
            <a:endParaRPr sz="3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BB20CC1-4ED3-42E0-855D-17158ECAD8F6}"/>
              </a:ext>
            </a:extLst>
          </p:cNvPr>
          <p:cNvSpPr>
            <a:spLocks noGrp="1"/>
          </p:cNvSpPr>
          <p:nvPr/>
        </p:nvSpPr>
        <p:spPr>
          <a:xfrm>
            <a:off x="548640" y="1938528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Web-Based Application for Selling Programming Courses</a:t>
            </a:r>
            <a:endParaRPr sz="17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CA3F8A3-0E1A-4E42-BA77-32F42E28AEB8}"/>
              </a:ext>
            </a:extLst>
          </p:cNvPr>
          <p:cNvSpPr>
            <a:spLocks noGrp="1"/>
          </p:cNvSpPr>
          <p:nvPr/>
        </p:nvSpPr>
        <p:spPr>
          <a:xfrm>
            <a:off x="548640" y="2542032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Veca</a:t>
            </a:r>
            <a:endParaRPr sz="15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9DEBD2A-658C-44F3-89EC-32F648C86AE1}"/>
              </a:ext>
            </a:extLst>
          </p:cNvPr>
          <p:cNvSpPr>
            <a:spLocks noGrp="1"/>
          </p:cNvSpPr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Supervisor: Lect. Dr. Sebastian Ștefăniga</a:t>
            </a:r>
            <a:endParaRPr sz="12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1059EE7-3E39-40EA-8820-AB3D84D1F2AD}"/>
              </a:ext>
            </a:extLst>
          </p:cNvPr>
          <p:cNvSpPr>
            <a:spLocks noGrp="1"/>
          </p:cNvSpPr>
          <p:nvPr/>
        </p:nvSpPr>
        <p:spPr>
          <a:xfrm>
            <a:off x="548640" y="317296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Faculty of Computer Science  ·  Bachelor Thesis Defense, 2026</a:t>
            </a:r>
            <a:endParaRPr sz="1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A61AB54-2CEF-440F-A653-8184766B9B28}"/>
              </a:ext>
            </a:extLst>
          </p:cNvPr>
          <p:cNvSpPr>
            <a:spLocks noGrp="1"/>
          </p:cNvSpPr>
          <p:nvPr/>
        </p:nvSpPr>
        <p:spPr>
          <a:xfrm>
            <a:off x="411480" y="46634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7E93B8"/>
                </a:solidFill>
                <a:latin typeface="Arial"/>
                <a:ea typeface="Arial"/>
                <a:cs typeface="Arial"/>
              </a:rPr>
              <a:t>www.uvt.ro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4731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0"/>
            <a:ext cx="859536" cy="85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B685FA4-565D-45B0-8E2F-DE84F479F13D}"/>
              </a:ext>
            </a:extLst>
          </p:cNvPr>
          <p:cNvSpPr>
            <a:spLocks noGrp="1"/>
          </p:cNvSpPr>
          <p:nvPr/>
        </p:nvSpPr>
        <p:spPr>
          <a:xfrm>
            <a:off x="1261872" y="82296"/>
            <a:ext cx="7543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Problem and Motivation</a:t>
            </a:r>
            <a:endParaRPr sz="2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76CB270-EE20-42E1-A773-3B47F22A3BF3}"/>
              </a:ext>
            </a:extLst>
          </p:cNvPr>
          <p:cNvSpPr>
            <a:spLocks noGrp="1"/>
          </p:cNvSpPr>
          <p:nvPr/>
        </p:nvSpPr>
        <p:spPr>
          <a:xfrm>
            <a:off x="1280160" y="457200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storefront and a CRM should not depend on fragile synchronization</a:t>
            </a:r>
            <a:endParaRPr sz="125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C2EF545-8A68-4B57-A6E0-C48CC34474C0}"/>
              </a:ext>
            </a:extLst>
          </p:cNvPr>
          <p:cNvSpPr>
            <a:spLocks noGrp="1"/>
          </p:cNvSpPr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E5F7218-37F7-4C51-87E9-E19FF0684E51}"/>
              </a:ext>
            </a:extLst>
          </p:cNvPr>
          <p:cNvSpPr>
            <a:spLocks noGrp="1"/>
          </p:cNvSpPr>
          <p:nvPr/>
        </p:nvSpPr>
        <p:spPr>
          <a:xfrm>
            <a:off x="283464" y="4727448"/>
            <a:ext cx="7699248" cy="256032"/>
          </a:xfrm>
          <a:prstGeom prst="roundRect">
            <a:avLst>
              <a:gd name="adj" fmla="val 46429"/>
            </a:avLst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254C690-2F1B-4CAC-A572-715B10E681D4}"/>
              </a:ext>
            </a:extLst>
          </p:cNvPr>
          <p:cNvSpPr>
            <a:spLocks noGrp="1"/>
          </p:cNvSpPr>
          <p:nvPr/>
        </p:nvSpPr>
        <p:spPr>
          <a:xfrm>
            <a:off x="283464" y="4709160"/>
            <a:ext cx="857707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9385B98-5111-413A-80E8-EAEE43F404D9}"/>
              </a:ext>
            </a:extLst>
          </p:cNvPr>
          <p:cNvSpPr>
            <a:spLocks noGrp="1"/>
          </p:cNvSpPr>
          <p:nvPr/>
        </p:nvSpPr>
        <p:spPr>
          <a:xfrm>
            <a:off x="411480" y="47274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C39CA11-429B-428A-9298-C856D721AA0F}"/>
              </a:ext>
            </a:extLst>
          </p:cNvPr>
          <p:cNvSpPr>
            <a:spLocks noGrp="1"/>
          </p:cNvSpPr>
          <p:nvPr/>
        </p:nvSpPr>
        <p:spPr>
          <a:xfrm>
            <a:off x="7223760" y="4727448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1 / 7</a:t>
            </a:r>
            <a:endParaRPr sz="7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1BEC467-AAE3-47A8-A0EF-842DCF2791D3}"/>
              </a:ext>
            </a:extLst>
          </p:cNvPr>
          <p:cNvSpPr>
            <a:spLocks noGrp="1"/>
          </p:cNvSpPr>
          <p:nvPr/>
        </p:nvSpPr>
        <p:spPr>
          <a:xfrm>
            <a:off x="411480" y="105156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customer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Learners need a clear catalogue, trusted reviews, quick purchase and simple tutoring reservations.</a:t>
            </a:r>
            <a:endParaRPr sz="11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0A45968-90F2-48FE-A2B3-B46AA4450DB5}"/>
              </a:ext>
            </a:extLst>
          </p:cNvPr>
          <p:cNvSpPr>
            <a:spLocks noGrp="1"/>
          </p:cNvSpPr>
          <p:nvPr/>
        </p:nvSpPr>
        <p:spPr>
          <a:xfrm>
            <a:off x="411480" y="205740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business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company needs leads, purchases, invoices, analytics and corporate clients in one operational view.</a:t>
            </a:r>
            <a:endParaRPr sz="11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013C427-69EB-4F2E-AC85-F82D7749A33A}"/>
              </a:ext>
            </a:extLst>
          </p:cNvPr>
          <p:cNvSpPr>
            <a:spLocks noGrp="1"/>
          </p:cNvSpPr>
          <p:nvPr/>
        </p:nvSpPr>
        <p:spPr>
          <a:xfrm>
            <a:off x="411480" y="3291840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integration gap.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Separate tools create duplicate or inconsistent data and require slow manual reconciliation.</a:t>
            </a:r>
            <a:endParaRPr sz="11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A6810FB-9C9B-4B19-9984-2E4E74A06691}"/>
              </a:ext>
            </a:extLst>
          </p:cNvPr>
          <p:cNvSpPr>
            <a:spLocks noGrp="1"/>
          </p:cNvSpPr>
          <p:nvPr/>
        </p:nvSpPr>
        <p:spPr>
          <a:xfrm>
            <a:off x="5532120" y="1051560"/>
            <a:ext cx="3200400" cy="329184"/>
          </a:xfrm>
          <a:prstGeom prst="rect">
            <a:avLst/>
          </a:prstGeom>
          <a:solidFill>
            <a:srgbClr val="E4AB26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9984CEA-1F52-4515-9AA9-C35D26F5FBB1}"/>
              </a:ext>
            </a:extLst>
          </p:cNvPr>
          <p:cNvSpPr>
            <a:spLocks noGrp="1"/>
          </p:cNvSpPr>
          <p:nvPr/>
        </p:nvSpPr>
        <p:spPr>
          <a:xfrm>
            <a:off x="5650992" y="1051560"/>
            <a:ext cx="2962656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  <a:endParaRPr sz="13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BB80CA4-78A4-4E1C-97F3-76DB316CF9E8}"/>
              </a:ext>
            </a:extLst>
          </p:cNvPr>
          <p:cNvSpPr>
            <a:spLocks noGrp="1"/>
          </p:cNvSpPr>
          <p:nvPr/>
        </p:nvSpPr>
        <p:spPr>
          <a:xfrm>
            <a:off x="5532120" y="1380744"/>
            <a:ext cx="3200400" cy="1664208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511ABE2-9F74-4213-A108-3D606632F6CA}"/>
              </a:ext>
            </a:extLst>
          </p:cNvPr>
          <p:cNvSpPr>
            <a:spLocks noGrp="1"/>
          </p:cNvSpPr>
          <p:nvPr/>
        </p:nvSpPr>
        <p:spPr>
          <a:xfrm>
            <a:off x="5678424" y="1426464"/>
            <a:ext cx="2907792" cy="15727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Use one application and one shared data model so each customer action is captured once and drives the relevant CRM processes automatically.</a:t>
            </a:r>
            <a:endParaRPr sz="11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2B46F3E-E88B-42FD-900E-AB519ED447CE}"/>
              </a:ext>
            </a:extLst>
          </p:cNvPr>
          <p:cNvSpPr>
            <a:spLocks noGrp="1"/>
          </p:cNvSpPr>
          <p:nvPr/>
        </p:nvSpPr>
        <p:spPr>
          <a:xfrm>
            <a:off x="5532120" y="2999232"/>
            <a:ext cx="3200400" cy="914400"/>
          </a:xfrm>
          <a:prstGeom prst="rect">
            <a:avLst/>
          </a:prstGeom>
          <a:solidFill>
            <a:srgbClr val="F0F7FF"/>
          </a:solidFill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8614951-AC17-4FA8-AA26-C82223043144}"/>
              </a:ext>
            </a:extLst>
          </p:cNvPr>
          <p:cNvSpPr>
            <a:spLocks noGrp="1"/>
          </p:cNvSpPr>
          <p:nvPr/>
        </p:nvSpPr>
        <p:spPr>
          <a:xfrm>
            <a:off x="5678424" y="3035808"/>
            <a:ext cx="2907792" cy="8412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system. Two role-based experiences. No manual reconciliation.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832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0"/>
            <a:ext cx="859536" cy="85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76FCBAF-3D2E-4809-A619-60B9C0BCA24A}"/>
              </a:ext>
            </a:extLst>
          </p:cNvPr>
          <p:cNvSpPr>
            <a:spLocks noGrp="1"/>
          </p:cNvSpPr>
          <p:nvPr/>
        </p:nvSpPr>
        <p:spPr>
          <a:xfrm>
            <a:off x="1261872" y="82296"/>
            <a:ext cx="7543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Related Work</a:t>
            </a:r>
            <a:endParaRPr sz="2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5448BBE-B548-4D0A-A95E-B0C23AF6726F}"/>
              </a:ext>
            </a:extLst>
          </p:cNvPr>
          <p:cNvSpPr>
            <a:spLocks noGrp="1"/>
          </p:cNvSpPr>
          <p:nvPr/>
        </p:nvSpPr>
        <p:spPr>
          <a:xfrm>
            <a:off x="1280160" y="457200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Existing tools solve parts of the problem, not the whole workflow</a:t>
            </a:r>
            <a:endParaRPr sz="125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B68EC9F-EC37-4214-9F3E-59FB3913075C}"/>
              </a:ext>
            </a:extLst>
          </p:cNvPr>
          <p:cNvSpPr>
            <a:spLocks noGrp="1"/>
          </p:cNvSpPr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771C921-EB12-4C65-A6E9-C524DABE3F1B}"/>
              </a:ext>
            </a:extLst>
          </p:cNvPr>
          <p:cNvSpPr>
            <a:spLocks noGrp="1"/>
          </p:cNvSpPr>
          <p:nvPr/>
        </p:nvSpPr>
        <p:spPr>
          <a:xfrm>
            <a:off x="283464" y="4727448"/>
            <a:ext cx="7699248" cy="256032"/>
          </a:xfrm>
          <a:prstGeom prst="roundRect">
            <a:avLst>
              <a:gd name="adj" fmla="val 46429"/>
            </a:avLst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0428692-0E4D-4EBA-9388-C0A97B576CD3}"/>
              </a:ext>
            </a:extLst>
          </p:cNvPr>
          <p:cNvSpPr>
            <a:spLocks noGrp="1"/>
          </p:cNvSpPr>
          <p:nvPr/>
        </p:nvSpPr>
        <p:spPr>
          <a:xfrm>
            <a:off x="283464" y="4709160"/>
            <a:ext cx="857707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D28BBE6-427B-4C1B-8055-5277B0039365}"/>
              </a:ext>
            </a:extLst>
          </p:cNvPr>
          <p:cNvSpPr>
            <a:spLocks noGrp="1"/>
          </p:cNvSpPr>
          <p:nvPr/>
        </p:nvSpPr>
        <p:spPr>
          <a:xfrm>
            <a:off x="411480" y="47274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66FACC-4FE1-4F33-AEF4-690A30D7D6F8}"/>
              </a:ext>
            </a:extLst>
          </p:cNvPr>
          <p:cNvSpPr>
            <a:spLocks noGrp="1"/>
          </p:cNvSpPr>
          <p:nvPr/>
        </p:nvSpPr>
        <p:spPr>
          <a:xfrm>
            <a:off x="7223760" y="4727448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2 / 7</a:t>
            </a:r>
            <a:endParaRPr sz="7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1A991D9-1BC4-45E7-BF23-D2CAA7E24B55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family of tools covers one side well; none unifies a course storefront and a CRM in a single product.</a:t>
            </a:r>
            <a:endParaRPr sz="1100"/>
          </a:p>
        </p:txBody>
      </p:sp>
      <p:graphicFrame>
        <p:nvGraphicFramePr>
          <p:cNvPr id="25" name="Table 0"/>
          <p:cNvGraphicFramePr/>
          <p:nvPr/>
        </p:nvGraphicFramePr>
        <p:xfrm>
          <a:off x="411480" y="1335024"/>
          <a:ext cx="8321040" cy="228600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family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Course marketplaces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Udemy, Coursera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Excellent storefront, catalogue, reviews and checkout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Aggregators: the provider owns no customer relationship and has no integrated CRM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Learning management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Moodle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Strong at delivering and tracking course content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Built around content, not selling; commerce and CRM are plug-ins bolted 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CRM platforms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Salesforce, HubSpot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Powerful contacts, pipelines, lead scoring and reporting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Generic: no course catalogue, trainer calendar or public storefront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E-commerce engines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WooCommerce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Self-hosted and able to sell anything, including courses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 course is just a product: no lead stages, tutoring sessions or corporate training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>
            <a:extLst>
              <a:ext uri="{FF2B5EF4-FFF2-40B4-BE49-F238E27FC236}">
                <a16:creationId xmlns:a16="http://schemas.microsoft.com/office/drawing/2014/main" id="{3707C931-91D0-4161-BC14-38D4F28E4CD6}"/>
              </a:ext>
            </a:extLst>
          </p:cNvPr>
          <p:cNvSpPr>
            <a:spLocks noGrp="1"/>
          </p:cNvSpPr>
          <p:nvPr/>
        </p:nvSpPr>
        <p:spPr>
          <a:xfrm>
            <a:off x="411480" y="3877056"/>
            <a:ext cx="8321040" cy="658368"/>
          </a:xfrm>
          <a:prstGeom prst="rect">
            <a:avLst/>
          </a:prstGeom>
          <a:solidFill>
            <a:srgbClr val="022461"/>
          </a:solidFill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B4E9A36-4998-424B-A3E9-44AAD6A2B16F}"/>
              </a:ext>
            </a:extLst>
          </p:cNvPr>
          <p:cNvSpPr>
            <a:spLocks noGrp="1"/>
          </p:cNvSpPr>
          <p:nvPr/>
        </p:nvSpPr>
        <p:spPr>
          <a:xfrm>
            <a:off x="557784" y="3913632"/>
            <a:ext cx="802843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 unifies both sides in one application built on one shared data model, and specialises the generic CRM notions for the training domain: course sessions, trainer calendars, per-hour tutoring with employee discounts, and course-level click-through analytics.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9474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0"/>
            <a:ext cx="859536" cy="85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15A84AA-236C-4ACA-89BF-E25C39C364CA}"/>
              </a:ext>
            </a:extLst>
          </p:cNvPr>
          <p:cNvSpPr>
            <a:spLocks noGrp="1"/>
          </p:cNvSpPr>
          <p:nvPr/>
        </p:nvSpPr>
        <p:spPr>
          <a:xfrm>
            <a:off x="1261872" y="82296"/>
            <a:ext cx="7543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Contribution</a:t>
            </a:r>
            <a:endParaRPr sz="2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6B7BE7B-AC15-4D4F-B82D-481A8A9861E3}"/>
              </a:ext>
            </a:extLst>
          </p:cNvPr>
          <p:cNvSpPr>
            <a:spLocks noGrp="1"/>
          </p:cNvSpPr>
          <p:nvPr/>
        </p:nvSpPr>
        <p:spPr>
          <a:xfrm>
            <a:off x="1280160" y="457200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working product, not a prototype: storefront and CRM as one system</a:t>
            </a:r>
            <a:endParaRPr sz="125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3D093B6-CC0D-4711-BBD4-06FC9D0A390C}"/>
              </a:ext>
            </a:extLst>
          </p:cNvPr>
          <p:cNvSpPr>
            <a:spLocks noGrp="1"/>
          </p:cNvSpPr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842590B-488A-417D-903D-AD363BEF095E}"/>
              </a:ext>
            </a:extLst>
          </p:cNvPr>
          <p:cNvSpPr>
            <a:spLocks noGrp="1"/>
          </p:cNvSpPr>
          <p:nvPr/>
        </p:nvSpPr>
        <p:spPr>
          <a:xfrm>
            <a:off x="283464" y="4727448"/>
            <a:ext cx="7699248" cy="256032"/>
          </a:xfrm>
          <a:prstGeom prst="roundRect">
            <a:avLst>
              <a:gd name="adj" fmla="val 46429"/>
            </a:avLst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1F12FF5-AC1B-43AA-91D0-0C26939A5567}"/>
              </a:ext>
            </a:extLst>
          </p:cNvPr>
          <p:cNvSpPr>
            <a:spLocks noGrp="1"/>
          </p:cNvSpPr>
          <p:nvPr/>
        </p:nvSpPr>
        <p:spPr>
          <a:xfrm>
            <a:off x="283464" y="4709160"/>
            <a:ext cx="857707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7C89ACB-E327-4060-B660-A08C173D9063}"/>
              </a:ext>
            </a:extLst>
          </p:cNvPr>
          <p:cNvSpPr>
            <a:spLocks noGrp="1"/>
          </p:cNvSpPr>
          <p:nvPr/>
        </p:nvSpPr>
        <p:spPr>
          <a:xfrm>
            <a:off x="411480" y="47274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5FA4E08-6ED6-4C61-A0C2-A2035160F70A}"/>
              </a:ext>
            </a:extLst>
          </p:cNvPr>
          <p:cNvSpPr>
            <a:spLocks noGrp="1"/>
          </p:cNvSpPr>
          <p:nvPr/>
        </p:nvSpPr>
        <p:spPr>
          <a:xfrm>
            <a:off x="7223760" y="4727448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3 / 7</a:t>
            </a:r>
            <a:endParaRPr sz="7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23CECC1-64CC-4591-90CD-26E0A8AC68E9}"/>
              </a:ext>
            </a:extLst>
          </p:cNvPr>
          <p:cNvSpPr>
            <a:spLocks noGrp="1"/>
          </p:cNvSpPr>
          <p:nvPr/>
        </p:nvSpPr>
        <p:spPr>
          <a:xfrm>
            <a:off x="411480" y="1024128"/>
            <a:ext cx="8321040" cy="329184"/>
          </a:xfrm>
          <a:prstGeom prst="rect">
            <a:avLst/>
          </a:prstGeom>
          <a:solidFill>
            <a:srgbClr val="022461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307174-5F91-4709-B9CD-1860906182C2}"/>
              </a:ext>
            </a:extLst>
          </p:cNvPr>
          <p:cNvSpPr>
            <a:spLocks noGrp="1"/>
          </p:cNvSpPr>
          <p:nvPr/>
        </p:nvSpPr>
        <p:spPr>
          <a:xfrm>
            <a:off x="530352" y="1024128"/>
            <a:ext cx="8083296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contribution</a:t>
            </a:r>
            <a:endParaRPr sz="13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0C10BCF-CC6E-4729-9C4A-56379C024AE2}"/>
              </a:ext>
            </a:extLst>
          </p:cNvPr>
          <p:cNvSpPr>
            <a:spLocks noGrp="1"/>
          </p:cNvSpPr>
          <p:nvPr/>
        </p:nvSpPr>
        <p:spPr>
          <a:xfrm>
            <a:off x="411480" y="1353312"/>
            <a:ext cx="8321040" cy="658368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1E3210C-784C-472A-BFB3-CFFBFE06BF57}"/>
              </a:ext>
            </a:extLst>
          </p:cNvPr>
          <p:cNvSpPr>
            <a:spLocks noGrp="1"/>
          </p:cNvSpPr>
          <p:nvPr/>
        </p:nvSpPr>
        <p:spPr>
          <a:xfrm>
            <a:off x="557784" y="1399032"/>
            <a:ext cx="802843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combines a course marketplace and CRM in one Java web application. Each customer action is stored once and drives event-based workflows; the Claude AI layer remains optional.</a:t>
            </a:r>
            <a:endParaRPr sz="11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D45381F-7172-4901-9ECE-A11537C867DF}"/>
              </a:ext>
            </a:extLst>
          </p:cNvPr>
          <p:cNvSpPr>
            <a:spLocks noGrp="1"/>
          </p:cNvSpPr>
          <p:nvPr/>
        </p:nvSpPr>
        <p:spPr>
          <a:xfrm>
            <a:off x="411480" y="2084832"/>
            <a:ext cx="4069080" cy="329184"/>
          </a:xfrm>
          <a:prstGeom prst="rect">
            <a:avLst/>
          </a:prstGeom>
          <a:solidFill>
            <a:srgbClr val="2588E6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95E2495-B21B-4BC1-8D76-C356D7A6AADF}"/>
              </a:ext>
            </a:extLst>
          </p:cNvPr>
          <p:cNvSpPr>
            <a:spLocks noGrp="1"/>
          </p:cNvSpPr>
          <p:nvPr/>
        </p:nvSpPr>
        <p:spPr>
          <a:xfrm>
            <a:off x="530352" y="2084832"/>
            <a:ext cx="3831336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  <a:endParaRPr sz="13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727C62C-0809-4559-91DB-E1CD7C694D18}"/>
              </a:ext>
            </a:extLst>
          </p:cNvPr>
          <p:cNvSpPr>
            <a:spLocks noGrp="1"/>
          </p:cNvSpPr>
          <p:nvPr/>
        </p:nvSpPr>
        <p:spPr>
          <a:xfrm>
            <a:off x="411480" y="2414016"/>
            <a:ext cx="4069080" cy="1938528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C2185EA-B927-4E74-8595-B4CFA8D6DBD8}"/>
              </a:ext>
            </a:extLst>
          </p:cNvPr>
          <p:cNvSpPr>
            <a:spLocks noGrp="1"/>
          </p:cNvSpPr>
          <p:nvPr/>
        </p:nvSpPr>
        <p:spPr>
          <a:xfrm>
            <a:off x="557784" y="2478024"/>
            <a:ext cx="3776472" cy="18105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 portal: browse, buy, review and book tutoring.</a:t>
            </a:r>
            <a:endParaRPr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Admin portal with seven management tabs.</a:t>
            </a:r>
            <a:endParaRPr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Event-driven domain automation.</a:t>
            </a:r>
            <a:endParaRPr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Optional, fault-tolerant AI assistant.</a:t>
            </a:r>
            <a:endParaRPr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Operational and CRM data in MariaDB.</a:t>
            </a:r>
            <a:endParaRPr sz="10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3C37865-3653-44A8-B201-BBCFAB5EB20F}"/>
              </a:ext>
            </a:extLst>
          </p:cNvPr>
          <p:cNvSpPr>
            <a:spLocks noGrp="1"/>
          </p:cNvSpPr>
          <p:nvPr/>
        </p:nvSpPr>
        <p:spPr>
          <a:xfrm>
            <a:off x="4663440" y="2084832"/>
            <a:ext cx="4069080" cy="329184"/>
          </a:xfrm>
          <a:prstGeom prst="rect">
            <a:avLst/>
          </a:prstGeom>
          <a:solidFill>
            <a:srgbClr val="E4AB26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0A6C0C9-6325-42FF-AB01-F671E913C3AB}"/>
              </a:ext>
            </a:extLst>
          </p:cNvPr>
          <p:cNvSpPr>
            <a:spLocks noGrp="1"/>
          </p:cNvSpPr>
          <p:nvPr/>
        </p:nvSpPr>
        <p:spPr>
          <a:xfrm>
            <a:off x="4782312" y="2084832"/>
            <a:ext cx="3831336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boundary</a:t>
            </a:r>
            <a:endParaRPr sz="13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0757C56-3A1F-416A-A5CD-9A99A74B3C86}"/>
              </a:ext>
            </a:extLst>
          </p:cNvPr>
          <p:cNvSpPr>
            <a:spLocks noGrp="1"/>
          </p:cNvSpPr>
          <p:nvPr/>
        </p:nvSpPr>
        <p:spPr>
          <a:xfrm>
            <a:off x="4663440" y="2414016"/>
            <a:ext cx="4069080" cy="1938528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EC4C66A-FA2C-4F42-A751-6E2C60C2D254}"/>
              </a:ext>
            </a:extLst>
          </p:cNvPr>
          <p:cNvSpPr>
            <a:spLocks noGrp="1"/>
          </p:cNvSpPr>
          <p:nvPr/>
        </p:nvSpPr>
        <p:spPr>
          <a:xfrm>
            <a:off x="4809744" y="2459736"/>
            <a:ext cx="3776472" cy="18470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Not a general-purpose e-commerce platform or CRM.</a:t>
            </a:r>
            <a:endParaRPr sz="1050"/>
          </a:p>
          <a:p>
            <a:pPr marL="0" indent="0">
              <a:lnSpc>
                <a:spcPct val="112000"/>
              </a:lnSpc>
              <a:buNone/>
            </a:pPr>
            <a:endParaRPr sz="1050"/>
          </a:p>
          <a:p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focused training-company system: learner storefront plus a CRM a small team can run, with AI strictly additive.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49408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0"/>
            <a:ext cx="859536" cy="85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C246A7D-B01F-4F79-9D25-668AB3768F89}"/>
              </a:ext>
            </a:extLst>
          </p:cNvPr>
          <p:cNvSpPr>
            <a:spLocks noGrp="1"/>
          </p:cNvSpPr>
          <p:nvPr/>
        </p:nvSpPr>
        <p:spPr>
          <a:xfrm>
            <a:off x="1261872" y="82296"/>
            <a:ext cx="7543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System Architecture</a:t>
            </a:r>
            <a:endParaRPr sz="2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BE07EC-D54E-40F1-9C4E-CD765A3F9C63}"/>
              </a:ext>
            </a:extLst>
          </p:cNvPr>
          <p:cNvSpPr>
            <a:spLocks noGrp="1"/>
          </p:cNvSpPr>
          <p:nvPr/>
        </p:nvSpPr>
        <p:spPr>
          <a:xfrm>
            <a:off x="1280160" y="457200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Four layers behind one REST API and a real-time event stream</a:t>
            </a:r>
            <a:endParaRPr sz="125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EA2E2E2-84A7-4EE9-8DF7-C854B6CA8A09}"/>
              </a:ext>
            </a:extLst>
          </p:cNvPr>
          <p:cNvSpPr>
            <a:spLocks noGrp="1"/>
          </p:cNvSpPr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32E8035-4713-480E-A0DD-970696A89552}"/>
              </a:ext>
            </a:extLst>
          </p:cNvPr>
          <p:cNvSpPr>
            <a:spLocks noGrp="1"/>
          </p:cNvSpPr>
          <p:nvPr/>
        </p:nvSpPr>
        <p:spPr>
          <a:xfrm>
            <a:off x="283464" y="4727448"/>
            <a:ext cx="7699248" cy="256032"/>
          </a:xfrm>
          <a:prstGeom prst="roundRect">
            <a:avLst>
              <a:gd name="adj" fmla="val 46429"/>
            </a:avLst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6C6FA67-A1A1-4F44-B2CA-22882CC8BCFA}"/>
              </a:ext>
            </a:extLst>
          </p:cNvPr>
          <p:cNvSpPr>
            <a:spLocks noGrp="1"/>
          </p:cNvSpPr>
          <p:nvPr/>
        </p:nvSpPr>
        <p:spPr>
          <a:xfrm>
            <a:off x="283464" y="4709160"/>
            <a:ext cx="857707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8D30708-C90E-4D9D-91B3-1EDD60BB6197}"/>
              </a:ext>
            </a:extLst>
          </p:cNvPr>
          <p:cNvSpPr>
            <a:spLocks noGrp="1"/>
          </p:cNvSpPr>
          <p:nvPr/>
        </p:nvSpPr>
        <p:spPr>
          <a:xfrm>
            <a:off x="411480" y="47274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A1A2BC1-CCAC-4FAB-8811-44096CD521BA}"/>
              </a:ext>
            </a:extLst>
          </p:cNvPr>
          <p:cNvSpPr>
            <a:spLocks noGrp="1"/>
          </p:cNvSpPr>
          <p:nvPr/>
        </p:nvSpPr>
        <p:spPr>
          <a:xfrm>
            <a:off x="7223760" y="4727448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4 / 7</a:t>
            </a:r>
            <a:endParaRPr sz="750"/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714" y="726342"/>
            <a:ext cx="5441370" cy="395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8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0"/>
            <a:ext cx="859536" cy="85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C8E71BC-F6B7-49EA-9BB7-3C10F6CD5352}"/>
              </a:ext>
            </a:extLst>
          </p:cNvPr>
          <p:cNvSpPr>
            <a:spLocks noGrp="1"/>
          </p:cNvSpPr>
          <p:nvPr/>
        </p:nvSpPr>
        <p:spPr>
          <a:xfrm>
            <a:off x="1261872" y="82296"/>
            <a:ext cx="7543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The AI Layer</a:t>
            </a:r>
            <a:endParaRPr sz="2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3456033-C247-41AB-820F-C8A50D7A9F9B}"/>
              </a:ext>
            </a:extLst>
          </p:cNvPr>
          <p:cNvSpPr>
            <a:spLocks noGrp="1"/>
          </p:cNvSpPr>
          <p:nvPr/>
        </p:nvSpPr>
        <p:spPr>
          <a:xfrm>
            <a:off x="1280160" y="457200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Optional intelligence, powered by the Anthropic Claude API</a:t>
            </a:r>
            <a:endParaRPr sz="125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92C9F6A-740A-42B7-A138-00DFCFFD9A3B}"/>
              </a:ext>
            </a:extLst>
          </p:cNvPr>
          <p:cNvSpPr>
            <a:spLocks noGrp="1"/>
          </p:cNvSpPr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9A9F68F-7D16-4670-9CC7-747DB270573D}"/>
              </a:ext>
            </a:extLst>
          </p:cNvPr>
          <p:cNvSpPr>
            <a:spLocks noGrp="1"/>
          </p:cNvSpPr>
          <p:nvPr/>
        </p:nvSpPr>
        <p:spPr>
          <a:xfrm>
            <a:off x="283464" y="4727448"/>
            <a:ext cx="7699248" cy="256032"/>
          </a:xfrm>
          <a:prstGeom prst="roundRect">
            <a:avLst>
              <a:gd name="adj" fmla="val 46429"/>
            </a:avLst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60A12E2-A854-4BE6-8679-9834678E0F1D}"/>
              </a:ext>
            </a:extLst>
          </p:cNvPr>
          <p:cNvSpPr>
            <a:spLocks noGrp="1"/>
          </p:cNvSpPr>
          <p:nvPr/>
        </p:nvSpPr>
        <p:spPr>
          <a:xfrm>
            <a:off x="283464" y="4709160"/>
            <a:ext cx="857707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8E4E19B-189A-46FC-B2E5-DBF0ED80A66C}"/>
              </a:ext>
            </a:extLst>
          </p:cNvPr>
          <p:cNvSpPr>
            <a:spLocks noGrp="1"/>
          </p:cNvSpPr>
          <p:nvPr/>
        </p:nvSpPr>
        <p:spPr>
          <a:xfrm>
            <a:off x="411480" y="47274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0B0EEAB-671F-41F2-BDBE-C0FB679F4962}"/>
              </a:ext>
            </a:extLst>
          </p:cNvPr>
          <p:cNvSpPr>
            <a:spLocks noGrp="1"/>
          </p:cNvSpPr>
          <p:nvPr/>
        </p:nvSpPr>
        <p:spPr>
          <a:xfrm>
            <a:off x="7223760" y="4727448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5 / 7</a:t>
            </a:r>
            <a:endParaRPr sz="7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94BF2A2-F9F1-4B06-95F0-F5BE9ACA9760}"/>
              </a:ext>
            </a:extLst>
          </p:cNvPr>
          <p:cNvSpPr>
            <a:spLocks noGrp="1"/>
          </p:cNvSpPr>
          <p:nvPr/>
        </p:nvSpPr>
        <p:spPr>
          <a:xfrm>
            <a:off x="411480" y="1078992"/>
            <a:ext cx="4572000" cy="7132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6FF6AE0-A929-48F8-B6A4-A6B3E8A970A3}"/>
              </a:ext>
            </a:extLst>
          </p:cNvPr>
          <p:cNvSpPr>
            <a:spLocks noGrp="1"/>
          </p:cNvSpPr>
          <p:nvPr/>
        </p:nvSpPr>
        <p:spPr>
          <a:xfrm>
            <a:off x="539496" y="1115568"/>
            <a:ext cx="4315968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Conversational assistant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/api/ai/chat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Answers questions about courses, enrolment and corporate training, using the live catalogue as context.</a:t>
            </a:r>
            <a:endParaRPr sz="108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272372E-CD5B-4039-8F7A-572854FF4122}"/>
              </a:ext>
            </a:extLst>
          </p:cNvPr>
          <p:cNvSpPr>
            <a:spLocks noGrp="1"/>
          </p:cNvSpPr>
          <p:nvPr/>
        </p:nvSpPr>
        <p:spPr>
          <a:xfrm>
            <a:off x="411480" y="1865376"/>
            <a:ext cx="4572000" cy="713232"/>
          </a:xfrm>
          <a:prstGeom prst="rect">
            <a:avLst/>
          </a:prstGeom>
          <a:solidFill>
            <a:srgbClr val="F0F7FF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F50E2EF-1B62-4995-8275-8787AEF8CB03}"/>
              </a:ext>
            </a:extLst>
          </p:cNvPr>
          <p:cNvSpPr>
            <a:spLocks noGrp="1"/>
          </p:cNvSpPr>
          <p:nvPr/>
        </p:nvSpPr>
        <p:spPr>
          <a:xfrm>
            <a:off x="539496" y="1901952"/>
            <a:ext cx="4315968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Recommendation quiz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/api/ai/recommendations/visitor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Matches a visitor's interests, level and goal to courses, each with a fit score and a reason.</a:t>
            </a:r>
            <a:endParaRPr sz="108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F804CBE-F92D-455A-977F-1F7ECD803A4F}"/>
              </a:ext>
            </a:extLst>
          </p:cNvPr>
          <p:cNvSpPr>
            <a:spLocks noGrp="1"/>
          </p:cNvSpPr>
          <p:nvPr/>
        </p:nvSpPr>
        <p:spPr>
          <a:xfrm>
            <a:off x="411480" y="2651760"/>
            <a:ext cx="4572000" cy="7132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659BFE7-BB99-4558-8786-F6D9CC428BB6}"/>
              </a:ext>
            </a:extLst>
          </p:cNvPr>
          <p:cNvSpPr>
            <a:spLocks noGrp="1"/>
          </p:cNvSpPr>
          <p:nvPr/>
        </p:nvSpPr>
        <p:spPr>
          <a:xfrm>
            <a:off x="539496" y="2688336"/>
            <a:ext cx="4315968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Per-company recommendations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/api/ai/recommendations/company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Analyses employee roles and interests to propose a training programme for a whole team.</a:t>
            </a:r>
            <a:endParaRPr sz="108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74B32C8-584C-4649-9B42-90ED6FE23568}"/>
              </a:ext>
            </a:extLst>
          </p:cNvPr>
          <p:cNvSpPr>
            <a:spLocks noGrp="1"/>
          </p:cNvSpPr>
          <p:nvPr/>
        </p:nvSpPr>
        <p:spPr>
          <a:xfrm>
            <a:off x="411480" y="3438144"/>
            <a:ext cx="4572000" cy="713232"/>
          </a:xfrm>
          <a:prstGeom prst="rect">
            <a:avLst/>
          </a:prstGeom>
          <a:solidFill>
            <a:srgbClr val="F0F7FF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425344E-FE1D-48F7-9B9B-D0F89F4D11F9}"/>
              </a:ext>
            </a:extLst>
          </p:cNvPr>
          <p:cNvSpPr>
            <a:spLocks noGrp="1"/>
          </p:cNvSpPr>
          <p:nvPr/>
        </p:nvSpPr>
        <p:spPr>
          <a:xfrm>
            <a:off x="539496" y="3474720"/>
            <a:ext cx="4315968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Live page translation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/api/ai/translate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Translates the interface into any language, preserving brand names, people, e-mails and numbers.</a:t>
            </a:r>
            <a:endParaRPr sz="108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97CEC19-9D2E-4E0A-A63C-192CF343F77D}"/>
              </a:ext>
            </a:extLst>
          </p:cNvPr>
          <p:cNvSpPr>
            <a:spLocks noGrp="1"/>
          </p:cNvSpPr>
          <p:nvPr/>
        </p:nvSpPr>
        <p:spPr>
          <a:xfrm>
            <a:off x="411480" y="4224528"/>
            <a:ext cx="4572000" cy="310896"/>
          </a:xfrm>
          <a:prstGeom prst="rect">
            <a:avLst/>
          </a:prstGeom>
          <a:solidFill>
            <a:srgbClr val="022461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43DCC68-ED23-434B-AB6A-5D172B6E7F0D}"/>
              </a:ext>
            </a:extLst>
          </p:cNvPr>
          <p:cNvSpPr>
            <a:spLocks noGrp="1"/>
          </p:cNvSpPr>
          <p:nvPr/>
        </p:nvSpPr>
        <p:spPr>
          <a:xfrm>
            <a:off x="530352" y="4224528"/>
            <a:ext cx="433425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Strictly additive: with no API key the buttons disappear</a:t>
            </a:r>
            <a:endParaRPr sz="10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42A7CB2-50F8-453D-AAA5-C76C664CB12E}"/>
              </a:ext>
            </a:extLst>
          </p:cNvPr>
          <p:cNvSpPr>
            <a:spLocks noGrp="1"/>
          </p:cNvSpPr>
          <p:nvPr/>
        </p:nvSpPr>
        <p:spPr>
          <a:xfrm>
            <a:off x="411480" y="4535424"/>
            <a:ext cx="4572000" cy="0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pic>
        <p:nvPicPr>
          <p:cNvPr id="45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115568"/>
            <a:ext cx="3502152" cy="2185416"/>
          </a:xfrm>
          <a:prstGeom prst="rect">
            <a:avLst/>
          </a:prstGeom>
        </p:spPr>
      </p:pic>
      <p:sp>
        <p:nvSpPr>
          <p:cNvPr id="22" name="Shape 18">
            <a:extLst>
              <a:ext uri="{FF2B5EF4-FFF2-40B4-BE49-F238E27FC236}">
                <a16:creationId xmlns:a16="http://schemas.microsoft.com/office/drawing/2014/main" id="{51CB07D1-D1C9-4290-937E-30462CCE1830}"/>
              </a:ext>
            </a:extLst>
          </p:cNvPr>
          <p:cNvSpPr>
            <a:spLocks noGrp="1"/>
          </p:cNvSpPr>
          <p:nvPr/>
        </p:nvSpPr>
        <p:spPr>
          <a:xfrm>
            <a:off x="5230368" y="3419856"/>
            <a:ext cx="3502152" cy="1115568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6FD0085-BC31-49BE-94A6-43E9352851C8}"/>
              </a:ext>
            </a:extLst>
          </p:cNvPr>
          <p:cNvSpPr>
            <a:spLocks noGrp="1"/>
          </p:cNvSpPr>
          <p:nvPr/>
        </p:nvSpPr>
        <p:spPr>
          <a:xfrm>
            <a:off x="5376672" y="3456432"/>
            <a:ext cx="3209544" cy="10424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sz="100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four features share one Claude client and one API key. I implemented the prompts, the REST endpoints, the structured JSON response handling and the matching interfaces - and made sure the rest of the application stays fully operational when AI is not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512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0"/>
            <a:ext cx="859536" cy="85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E34A00B-2C45-C3A7-554E-CC4F3A0A7E09}"/>
              </a:ext>
            </a:extLst>
          </p:cNvPr>
          <p:cNvSpPr>
            <a:spLocks noGrp="1"/>
          </p:cNvSpPr>
          <p:nvPr/>
        </p:nvSpPr>
        <p:spPr>
          <a:xfrm>
            <a:off x="1261872" y="82296"/>
            <a:ext cx="7543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Application Demo</a:t>
            </a:r>
            <a:endParaRPr sz="2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2814A06-A334-7F73-92D2-94CAA0AAE750}"/>
              </a:ext>
            </a:extLst>
          </p:cNvPr>
          <p:cNvSpPr>
            <a:spLocks noGrp="1"/>
          </p:cNvSpPr>
          <p:nvPr/>
        </p:nvSpPr>
        <p:spPr>
          <a:xfrm>
            <a:off x="1280160" y="457200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Video</a:t>
            </a:r>
            <a:endParaRPr sz="125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39D863B-5FD8-4EA5-D889-C2DAE3EA8FC4}"/>
              </a:ext>
            </a:extLst>
          </p:cNvPr>
          <p:cNvSpPr>
            <a:spLocks noGrp="1"/>
          </p:cNvSpPr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BAA0535-8956-6FC8-77B6-97D1EF35F62E}"/>
              </a:ext>
            </a:extLst>
          </p:cNvPr>
          <p:cNvSpPr>
            <a:spLocks noGrp="1"/>
          </p:cNvSpPr>
          <p:nvPr/>
        </p:nvSpPr>
        <p:spPr>
          <a:xfrm>
            <a:off x="283464" y="4727448"/>
            <a:ext cx="7699248" cy="256032"/>
          </a:xfrm>
          <a:prstGeom prst="roundRect">
            <a:avLst>
              <a:gd name="adj" fmla="val 46429"/>
            </a:avLst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CBBADE4-CD4E-65AA-B355-198AF6D3CA72}"/>
              </a:ext>
            </a:extLst>
          </p:cNvPr>
          <p:cNvSpPr>
            <a:spLocks noGrp="1"/>
          </p:cNvSpPr>
          <p:nvPr/>
        </p:nvSpPr>
        <p:spPr>
          <a:xfrm>
            <a:off x="283464" y="4709160"/>
            <a:ext cx="857707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004D50-2FFC-150E-31B1-380D046274C4}"/>
              </a:ext>
            </a:extLst>
          </p:cNvPr>
          <p:cNvSpPr>
            <a:spLocks noGrp="1"/>
          </p:cNvSpPr>
          <p:nvPr/>
        </p:nvSpPr>
        <p:spPr>
          <a:xfrm>
            <a:off x="411480" y="47274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3AE2192-0D52-37FB-B2E3-CCBF1C1A59C6}"/>
              </a:ext>
            </a:extLst>
          </p:cNvPr>
          <p:cNvSpPr>
            <a:spLocks noGrp="1"/>
          </p:cNvSpPr>
          <p:nvPr/>
        </p:nvSpPr>
        <p:spPr>
          <a:xfrm>
            <a:off x="7223760" y="4727448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6 / 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38262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0"/>
            <a:ext cx="859536" cy="85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D65B376-E1BE-46E4-AB08-55C2491CA88E}"/>
              </a:ext>
            </a:extLst>
          </p:cNvPr>
          <p:cNvSpPr>
            <a:spLocks noGrp="1"/>
          </p:cNvSpPr>
          <p:nvPr/>
        </p:nvSpPr>
        <p:spPr>
          <a:xfrm>
            <a:off x="1261872" y="82296"/>
            <a:ext cx="7543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Conclusion</a:t>
            </a:r>
            <a:endParaRPr sz="2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B41FE52-BA53-4D2B-888A-B8C1E0544710}"/>
              </a:ext>
            </a:extLst>
          </p:cNvPr>
          <p:cNvSpPr>
            <a:spLocks noGrp="1"/>
          </p:cNvSpPr>
          <p:nvPr/>
        </p:nvSpPr>
        <p:spPr>
          <a:xfrm>
            <a:off x="1280160" y="457200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TrainingIT demonstrates one coherent storefront and CRM</a:t>
            </a:r>
            <a:endParaRPr sz="125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6FAE1D3-DE64-4C31-A19A-8751123F4E42}"/>
              </a:ext>
            </a:extLst>
          </p:cNvPr>
          <p:cNvSpPr>
            <a:spLocks noGrp="1"/>
          </p:cNvSpPr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93FD3D6-09A0-436D-B86E-641F4E0CB457}"/>
              </a:ext>
            </a:extLst>
          </p:cNvPr>
          <p:cNvSpPr>
            <a:spLocks noGrp="1"/>
          </p:cNvSpPr>
          <p:nvPr/>
        </p:nvSpPr>
        <p:spPr>
          <a:xfrm>
            <a:off x="283464" y="4727448"/>
            <a:ext cx="7699248" cy="256032"/>
          </a:xfrm>
          <a:prstGeom prst="roundRect">
            <a:avLst>
              <a:gd name="adj" fmla="val 46429"/>
            </a:avLst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FCF58E4-94A5-4250-A2CD-A20037966222}"/>
              </a:ext>
            </a:extLst>
          </p:cNvPr>
          <p:cNvSpPr>
            <a:spLocks noGrp="1"/>
          </p:cNvSpPr>
          <p:nvPr/>
        </p:nvSpPr>
        <p:spPr>
          <a:xfrm>
            <a:off x="283464" y="4709160"/>
            <a:ext cx="857707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327F7BB-C3AB-4E16-B6C5-269553FAF95E}"/>
              </a:ext>
            </a:extLst>
          </p:cNvPr>
          <p:cNvSpPr>
            <a:spLocks noGrp="1"/>
          </p:cNvSpPr>
          <p:nvPr/>
        </p:nvSpPr>
        <p:spPr>
          <a:xfrm>
            <a:off x="411480" y="47274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CB1D2E0-0F0F-480F-AE8D-D42C865D27C5}"/>
              </a:ext>
            </a:extLst>
          </p:cNvPr>
          <p:cNvSpPr>
            <a:spLocks noGrp="1"/>
          </p:cNvSpPr>
          <p:nvPr/>
        </p:nvSpPr>
        <p:spPr>
          <a:xfrm>
            <a:off x="7223760" y="4727448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7 / 7</a:t>
            </a:r>
            <a:endParaRPr sz="7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F85038C-DC06-4E96-AA9A-A743BC1D1BCD}"/>
              </a:ext>
            </a:extLst>
          </p:cNvPr>
          <p:cNvSpPr>
            <a:spLocks noGrp="1"/>
          </p:cNvSpPr>
          <p:nvPr/>
        </p:nvSpPr>
        <p:spPr>
          <a:xfrm>
            <a:off x="384048" y="1042416"/>
            <a:ext cx="4160520" cy="310896"/>
          </a:xfrm>
          <a:prstGeom prst="rect">
            <a:avLst/>
          </a:prstGeom>
          <a:solidFill>
            <a:srgbClr val="022461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6D5E0C8-9DEF-47A3-9D62-F8BF773E8CE3}"/>
              </a:ext>
            </a:extLst>
          </p:cNvPr>
          <p:cNvSpPr>
            <a:spLocks noGrp="1"/>
          </p:cNvSpPr>
          <p:nvPr/>
        </p:nvSpPr>
        <p:spPr>
          <a:xfrm>
            <a:off x="502920" y="1042416"/>
            <a:ext cx="392277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  <a:endParaRPr sz="13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90F24E0-6556-490A-9EEC-8A689522BA65}"/>
              </a:ext>
            </a:extLst>
          </p:cNvPr>
          <p:cNvSpPr>
            <a:spLocks noGrp="1"/>
          </p:cNvSpPr>
          <p:nvPr/>
        </p:nvSpPr>
        <p:spPr>
          <a:xfrm>
            <a:off x="384048" y="1353312"/>
            <a:ext cx="4160520" cy="2761488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38DE53A-5020-4432-85F2-B3DD5A4E7F6E}"/>
              </a:ext>
            </a:extLst>
          </p:cNvPr>
          <p:cNvSpPr>
            <a:spLocks noGrp="1"/>
          </p:cNvSpPr>
          <p:nvPr/>
        </p:nvSpPr>
        <p:spPr>
          <a:xfrm>
            <a:off x="530352" y="1417320"/>
            <a:ext cx="3867912" cy="2633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 portal: catalogue, purchase, reviews and tutoring.</a:t>
            </a:r>
            <a:endParaRPr sz="98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CRM portal: contacts, purchases, invoices, analytics and issues.</a:t>
            </a:r>
            <a:endParaRPr sz="98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Event-driven domain: automated lead scoring and invoicing.</a:t>
            </a:r>
            <a:endParaRPr sz="98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Live SSE statistics, imports and multi-format exports.</a:t>
            </a:r>
            <a:endParaRPr sz="98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Optional Claude assistant, recommendations and translation.</a:t>
            </a:r>
            <a:endParaRPr sz="98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F1F1DD3-F394-4312-BD66-F5BF6137296F}"/>
              </a:ext>
            </a:extLst>
          </p:cNvPr>
          <p:cNvSpPr>
            <a:spLocks noGrp="1"/>
          </p:cNvSpPr>
          <p:nvPr/>
        </p:nvSpPr>
        <p:spPr>
          <a:xfrm>
            <a:off x="4599432" y="1042416"/>
            <a:ext cx="4160520" cy="310896"/>
          </a:xfrm>
          <a:prstGeom prst="rect">
            <a:avLst/>
          </a:prstGeom>
          <a:solidFill>
            <a:srgbClr val="E4AB26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AE8F365-30E5-468B-8470-1D33458147CD}"/>
              </a:ext>
            </a:extLst>
          </p:cNvPr>
          <p:cNvSpPr>
            <a:spLocks noGrp="1"/>
          </p:cNvSpPr>
          <p:nvPr/>
        </p:nvSpPr>
        <p:spPr>
          <a:xfrm>
            <a:off x="4718304" y="1042416"/>
            <a:ext cx="392277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and next steps</a:t>
            </a:r>
            <a:endParaRPr sz="13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93EF342-A280-478B-89B9-DE52C3161592}"/>
              </a:ext>
            </a:extLst>
          </p:cNvPr>
          <p:cNvSpPr>
            <a:spLocks noGrp="1"/>
          </p:cNvSpPr>
          <p:nvPr/>
        </p:nvSpPr>
        <p:spPr>
          <a:xfrm>
            <a:off x="4599432" y="1353312"/>
            <a:ext cx="4160520" cy="2761488"/>
          </a:xfrm>
          <a:prstGeom prst="rect">
            <a:avLst/>
          </a:prstGeom>
          <a:solidFill>
            <a:srgbClr val="FEF3F7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030EC76-A3B2-4B4B-A064-F4CAF9D8EDB4}"/>
              </a:ext>
            </a:extLst>
          </p:cNvPr>
          <p:cNvSpPr>
            <a:spLocks noGrp="1"/>
          </p:cNvSpPr>
          <p:nvPr/>
        </p:nvSpPr>
        <p:spPr>
          <a:xfrm>
            <a:off x="4745736" y="1417320"/>
            <a:ext cx="3867912" cy="2633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End-to-end flows verified against a real MariaDB instance.</a:t>
            </a:r>
            <a:endParaRPr sz="98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Duplicate invoices prevented through idempotent processing.</a:t>
            </a:r>
            <a:endParaRPr sz="98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Observer failures are isolated; optional AI degrades safely.</a:t>
            </a:r>
            <a:endParaRPr sz="98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automated tests and production-grade authentication.</a:t>
            </a:r>
            <a:endParaRPr sz="98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richer analytics and cloud deployment.</a:t>
            </a:r>
            <a:endParaRPr sz="98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D69727E-DCAA-45C6-89E5-C534A4143866}"/>
              </a:ext>
            </a:extLst>
          </p:cNvPr>
          <p:cNvSpPr>
            <a:spLocks noGrp="1"/>
          </p:cNvSpPr>
          <p:nvPr/>
        </p:nvSpPr>
        <p:spPr>
          <a:xfrm>
            <a:off x="384048" y="3913632"/>
            <a:ext cx="8375904" cy="548640"/>
          </a:xfrm>
          <a:prstGeom prst="rect">
            <a:avLst/>
          </a:prstGeom>
          <a:solidFill>
            <a:srgbClr val="F0F7FF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A346125-F990-4C2F-A330-9788DD9B0F8D}"/>
              </a:ext>
            </a:extLst>
          </p:cNvPr>
          <p:cNvSpPr>
            <a:spLocks noGrp="1"/>
          </p:cNvSpPr>
          <p:nvPr/>
        </p:nvSpPr>
        <p:spPr>
          <a:xfrm>
            <a:off x="530352" y="3950208"/>
            <a:ext cx="8083296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sz="1080">
                <a:solidFill>
                  <a:srgbClr val="1A1A1A"/>
                </a:solidFill>
                <a:latin typeface="Arial"/>
                <a:ea typeface="Arial"/>
                <a:cs typeface="Arial"/>
              </a:rPr>
              <a:t>Each customer action is recorded once and becomes immediately available to the business.</a:t>
            </a:r>
            <a:endParaRPr sz="1080"/>
          </a:p>
        </p:txBody>
      </p:sp>
    </p:spTree>
    <p:extLst>
      <p:ext uri="{BB962C8B-B14F-4D97-AF65-F5344CB8AC3E}">
        <p14:creationId xmlns:p14="http://schemas.microsoft.com/office/powerpoint/2010/main" val="2058083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Application>Microsoft Office PowerPoint</Application>
  <DocSecurity>0</DocSecurity>
  <PresentationFormat>On-screen Show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Raul Veca</cp:lastModifiedBy>
  <cp:revision>1</cp:revision>
  <dcterms:created xsi:type="dcterms:W3CDTF">2026-08-31T23:39:45Z</dcterms:created>
  <dcterms:modified xsi:type="dcterms:W3CDTF">2026-08-31T23:48:51Z</dcterms:modified>
</cp:coreProperties>
</file>