
<file path=[Content_Types].xml><?xml version="1.0" encoding="utf-8"?>
<Types xmlns="http://schemas.openxmlformats.org/package/2006/content-types">
  <Default Extension="xml" ContentType="application/vnd.openxmlformats-package.core-properties+xml"/>
  <Default Extension="dat" ContentType="application/x-fontdata"/>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ee14b7e39294cb9" /><Relationship Type="http://schemas.openxmlformats.org/officeDocument/2006/relationships/extended-properties" Target="/docProps/app.xml" Id="Rb6dc9531c7bd4039" /><Relationship Type="http://schemas.openxmlformats.org/officeDocument/2006/relationships/officeDocument" Target="/ppt/presentation.xml" Id="Re77d3dcb19964cf8"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7b76c47714b24f81"/>
  </p:sldMasterIdLst>
  <p:notesMasterIdLst>
    <p:notesMasterId xmlns:r="http://schemas.openxmlformats.org/officeDocument/2006/relationships" r:id="Rd1c89d03058b433d"/>
  </p:notesMasterIdLst>
  <p:sldIdLst>
    <p:sldId xmlns:r="http://schemas.openxmlformats.org/officeDocument/2006/relationships" id="256" r:id="Rf5cff5a25d554ba1"/>
    <p:sldId xmlns:r="http://schemas.openxmlformats.org/officeDocument/2006/relationships" id="257" r:id="R28e538fc37c04042"/>
    <p:sldId xmlns:r="http://schemas.openxmlformats.org/officeDocument/2006/relationships" id="258" r:id="R874dad678d7e421b"/>
    <p:sldId xmlns:r="http://schemas.openxmlformats.org/officeDocument/2006/relationships" id="259" r:id="Rb62e3f7ff8e64a59"/>
    <p:sldId xmlns:r="http://schemas.openxmlformats.org/officeDocument/2006/relationships" id="260" r:id="R788e46667bcd4f9f"/>
    <p:sldId xmlns:r="http://schemas.openxmlformats.org/officeDocument/2006/relationships" id="261" r:id="R1872e23a484542bc"/>
    <p:sldId xmlns:r="http://schemas.openxmlformats.org/officeDocument/2006/relationships" id="262" r:id="R65660738c7f34019"/>
    <p:sldId xmlns:r="http://schemas.openxmlformats.org/officeDocument/2006/relationships" id="263" r:id="Rd00bbfeff0224e0a"/>
  </p:sldIdLst>
  <p:sldSz cx="18288000" cy="10287000"/>
  <p:notesSz cx="6858000" cy="9144000"/>
  <p:embeddedFontLst>
    <p:embeddedFont>
      <p:font typeface="Helvetica Now Display Bold"/>
      <p:regular xmlns:r="http://schemas.openxmlformats.org/officeDocument/2006/relationships" r:id="R607ed3ede3974d1d"/>
    </p:embeddedFont>
    <p:embeddedFont>
      <p:font typeface="Bebas Neue Bold"/>
      <p:regular xmlns:r="http://schemas.openxmlformats.org/officeDocument/2006/relationships" r:id="R56f24b722b944539"/>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66e28009ae34280" /><Relationship Type="http://schemas.openxmlformats.org/officeDocument/2006/relationships/slideMaster" Target="/ppt/slideMasters/slideMaster1.xml" Id="R7b76c47714b24f81" /><Relationship Type="http://schemas.openxmlformats.org/officeDocument/2006/relationships/notesMaster" Target="/ppt/notesMasters/notesMaster1.xml" Id="Rd1c89d03058b433d" /><Relationship Type="http://schemas.openxmlformats.org/officeDocument/2006/relationships/presProps" Target="/ppt/presProps.xml" Id="Rae0bef836bcd4b56" /><Relationship Type="http://schemas.openxmlformats.org/officeDocument/2006/relationships/viewProps" Target="/ppt/viewProps.xml" Id="Rc2271a81d4224d85" /><Relationship Type="http://schemas.openxmlformats.org/officeDocument/2006/relationships/tableStyles" Target="/ppt/tableStyles.xml" Id="Rc8f4e3b13c6a4576" /><Relationship Type="http://schemas.openxmlformats.org/officeDocument/2006/relationships/font" Target="/ppt/fonts/font.dat" Id="R607ed3ede3974d1d" /><Relationship Type="http://schemas.openxmlformats.org/officeDocument/2006/relationships/font" Target="/ppt/fonts/font2.dat" Id="R56f24b722b944539" /><Relationship Type="http://schemas.openxmlformats.org/officeDocument/2006/relationships/slide" Target="/ppt/slides/slide1.xml" Id="Rf5cff5a25d554ba1" /><Relationship Type="http://schemas.openxmlformats.org/officeDocument/2006/relationships/slide" Target="/ppt/slides/slide2.xml" Id="R28e538fc37c04042" /><Relationship Type="http://schemas.openxmlformats.org/officeDocument/2006/relationships/slide" Target="/ppt/slides/slide3.xml" Id="R874dad678d7e421b" /><Relationship Type="http://schemas.openxmlformats.org/officeDocument/2006/relationships/slide" Target="/ppt/slides/slide4.xml" Id="Rb62e3f7ff8e64a59" /><Relationship Type="http://schemas.openxmlformats.org/officeDocument/2006/relationships/slide" Target="/ppt/slides/slide5.xml" Id="R788e46667bcd4f9f" /><Relationship Type="http://schemas.openxmlformats.org/officeDocument/2006/relationships/slide" Target="/ppt/slides/slide6.xml" Id="R1872e23a484542bc" /><Relationship Type="http://schemas.openxmlformats.org/officeDocument/2006/relationships/slide" Target="/ppt/slides/slide7.xml" Id="R65660738c7f34019" /><Relationship Type="http://schemas.openxmlformats.org/officeDocument/2006/relationships/slide" Target="/ppt/slides/slide8.xml" Id="Rd00bbfeff0224e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f79c53d526a4be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e52f8274a3d40b8" /><Relationship Type="http://schemas.openxmlformats.org/officeDocument/2006/relationships/notesMaster" Target="/ppt/notesMasters/notesMaster1.xml" Id="R76c23864b14747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c0a90d2c064850" /><Relationship Type="http://schemas.openxmlformats.org/officeDocument/2006/relationships/notesMaster" Target="/ppt/notesMasters/notesMaster1.xml" Id="R60af30db4c0048b3" /></Relationships>
</file>

<file path=ppt/notesSlides/_rels/notesSlide3.xml.rels>&#65279;<?xml version="1.0" encoding="utf-8"?><Relationships xmlns="http://schemas.openxmlformats.org/package/2006/relationships"><Relationship Type="http://schemas.openxmlformats.org/officeDocument/2006/relationships/slide" Target="/ppt/slides/slide3.xml" Id="Rf00ea1340834463d" /><Relationship Type="http://schemas.openxmlformats.org/officeDocument/2006/relationships/notesMaster" Target="/ppt/notesMasters/notesMaster1.xml" Id="R4fafc7323600475c"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4b9c5afc394f8c" /><Relationship Type="http://schemas.openxmlformats.org/officeDocument/2006/relationships/notesMaster" Target="/ppt/notesMasters/notesMaster1.xml" Id="Rb6ea4b095f714d63" /></Relationships>
</file>

<file path=ppt/notesSlides/_rels/notesSlide5.xml.rels>&#65279;<?xml version="1.0" encoding="utf-8"?><Relationships xmlns="http://schemas.openxmlformats.org/package/2006/relationships"><Relationship Type="http://schemas.openxmlformats.org/officeDocument/2006/relationships/slide" Target="/ppt/slides/slide5.xml" Id="R97e000f902b5477e" /><Relationship Type="http://schemas.openxmlformats.org/officeDocument/2006/relationships/notesMaster" Target="/ppt/notesMasters/notesMaster1.xml" Id="R0c3757a1db7c4914" /></Relationships>
</file>

<file path=ppt/notesSlides/_rels/notesSlide6.xml.rels>&#65279;<?xml version="1.0" encoding="utf-8"?><Relationships xmlns="http://schemas.openxmlformats.org/package/2006/relationships"><Relationship Type="http://schemas.openxmlformats.org/officeDocument/2006/relationships/slide" Target="/ppt/slides/slide6.xml" Id="Rdc5eaa748bd94521" /><Relationship Type="http://schemas.openxmlformats.org/officeDocument/2006/relationships/notesMaster" Target="/ppt/notesMasters/notesMaster1.xml" Id="Rc0e48e12e5ba43d0" /></Relationships>
</file>

<file path=ppt/notesSlides/_rels/notesSlide7.xml.rels>&#65279;<?xml version="1.0" encoding="utf-8"?><Relationships xmlns="http://schemas.openxmlformats.org/package/2006/relationships"><Relationship Type="http://schemas.openxmlformats.org/officeDocument/2006/relationships/slide" Target="/ppt/slides/slide7.xml" Id="R52cde96623e3426f" /><Relationship Type="http://schemas.openxmlformats.org/officeDocument/2006/relationships/notesMaster" Target="/ppt/notesMasters/notesMaster1.xml" Id="R51820cbbe0f54b56" /></Relationships>
</file>

<file path=ppt/notesSlides/_rels/notesSlide8.xml.rels>&#65279;<?xml version="1.0" encoding="utf-8"?><Relationships xmlns="http://schemas.openxmlformats.org/package/2006/relationships"><Relationship Type="http://schemas.openxmlformats.org/officeDocument/2006/relationships/slide" Target="/ppt/slides/slide8.xml" Id="Rc91fc9c5f80f42c4" /><Relationship Type="http://schemas.openxmlformats.org/officeDocument/2006/relationships/notesMaster" Target="/ppt/notesMasters/notesMaster1.xml" Id="R2c33cc5d8dad455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58ef7cc5ce481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a9f90226f4f45f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948f9579fac437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4c38e18c8424a6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67aceaf49704fb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c4ded8e62a948b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deea189597e401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603139d3bb849b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d400c84ff2c48b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8843e5d2b85439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9ca4956feba4b65"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F9559C-4042-48DC-A004-655DD72E33B9}"/>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7C0A3284-B567-4E8F-8126-D61A9878D00E}"/>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06FD0665-44F2-417C-BC81-5CF67C29FCC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776B5248-882E-4A3E-BED8-AB3EDBC13B3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5D02650-03D7-46D4-AD3D-0BFDA9F75DA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B3BB12D-3D5B-4074-B4DD-ED0A495E3FA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886F42FE-3695-4A14-9044-26F6BB2122FF}"/>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114C14DE-8FF2-4903-9FA2-A3FAFCD3F23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C103F591-3684-4987-8E04-E791B383270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82180B9-3D9B-4615-AD1B-ADA2AA713A9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7A24F82-C98E-4A10-B96E-6530C7FC5B61}"/>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1877B4D7-6F81-4676-9B7E-1A77C9A6A3B5}"/>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E22D6B12-7EFC-4C93-8B83-88B88A86032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076D07F5-8A47-49F3-A174-125FC013880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9FDB23B-5273-46ED-B1BD-D079A91348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EBC6357-AB88-4F5C-A07F-A866038568E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B2495FD8-843F-43F6-9617-4224CCB8C535}"/>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9879CC2F-AB25-45DA-9426-6EA64B7932C1}"/>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C5811886-87BD-4C4F-BB54-51A0C348587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E36C0E56-CDF0-45FC-B13F-BEC599BE3E4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0FD7391-A316-419B-B141-4D04578BADE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12FFC35-8AD1-4962-9A07-FAFF5071F14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20C6AA2-F695-42A1-86AA-454892C7CADF}"/>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223722CB-2196-487B-A8F2-A1E35AAE808E}"/>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C9D283E6-EDE2-4237-B4DE-A8EEC41FCF03}"/>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4EB87F11-2EAC-4CD5-868D-E1E94B3EAAC5}"/>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ACADD1FE-92AF-4D13-B5DB-0D06066FC45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8" name="Footer Placeholder 7">
            <a:extLst xmlns:a="http://schemas.openxmlformats.org/drawingml/2006/main">
              <a:ext uri="{FF2B5EF4-FFF2-40B4-BE49-F238E27FC236}">
                <a16:creationId xmlns:a16="http://schemas.microsoft.com/office/drawing/2014/main" id="{84982CE0-F87A-426C-BC40-B81CD24BE0F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A2B84A80-F15D-4E49-A980-371578F61E4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A0AC261-B2DA-4820-ABC8-5E09262DA07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4DA7F48B-BE9E-4C34-B667-A14C236E73D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4" name="Footer Placeholder 3">
            <a:extLst xmlns:a="http://schemas.openxmlformats.org/drawingml/2006/main">
              <a:ext uri="{FF2B5EF4-FFF2-40B4-BE49-F238E27FC236}">
                <a16:creationId xmlns:a16="http://schemas.microsoft.com/office/drawing/2014/main" id="{E810DFFD-993A-4C71-AB3E-7BC3085B122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41F7E4C9-0B40-4D44-BF33-4B2450DFB2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D0ACA79D-072F-4AB7-9506-A6F94533A3E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3" name="Footer Placeholder 2">
            <a:extLst xmlns:a="http://schemas.openxmlformats.org/drawingml/2006/main">
              <a:ext uri="{FF2B5EF4-FFF2-40B4-BE49-F238E27FC236}">
                <a16:creationId xmlns:a16="http://schemas.microsoft.com/office/drawing/2014/main" id="{85742E93-B2C1-4E74-AFC8-E16A66A280E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E0FC2492-95DD-475F-8860-1CBF75AA1E2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FBFE8D9-C324-44A3-B208-D891E88CA1F8}"/>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032FF1BA-6E83-40C5-98E9-83880BB44B85}"/>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8BCFC6E2-CFBD-432A-8DAD-096435CADE60}"/>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78B56CA-6D78-4D87-AD78-8CAE11BEF40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C56C69ED-5090-4DB9-9B5D-96A9E1358C8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9A35BDA-2ED3-45D9-BCD4-75753CE52C9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C9662B-BFBE-47FA-A63C-F889A460BA5D}"/>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39FCCD1A-FE18-4E6D-B900-8FBA88108295}"/>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A12023C4-86D0-4CEF-933E-9AE5BF54835F}"/>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D3741F9-C4B9-44E1-8B79-DAC381E939C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011B6D03-A3C5-4871-8FBD-9D7AB61BB92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837B65A-9423-41BB-8FA6-CEA67ACA204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5948441-9204-427B-A094-CF952BD984E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0272F14A-1A1D-4C7B-8661-70FA4F4B0F81}"/>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5A829D5-CF80-4882-A3D2-438900F6C97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2344B437-F3F3-4CB2-966F-E0B869C9088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EB30E9E-70E3-4804-A6BD-F2DE8CAE47B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73F1ED1-7FD3-4DA5-9434-F181FDE41EB3}"/>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6F1D5B0E-D0D9-4FA5-923D-4753DCE4D157}"/>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AF80F4B-854B-4081-9781-E3CF8E56FB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4B4A4A9F-72F6-43AB-82A5-316B53B45B9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4B0C253-1269-41AE-A283-24DAD523A7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793c413b284efc" /><Relationship Type="http://schemas.openxmlformats.org/officeDocument/2006/relationships/slideLayout" Target="/ppt/slideLayouts/slideLayout1.xml" Id="R224c1a1b268a4999" /><Relationship Type="http://schemas.openxmlformats.org/officeDocument/2006/relationships/slideLayout" Target="/ppt/slideLayouts/slideLayout2.xml" Id="R84f73610757742df" /><Relationship Type="http://schemas.openxmlformats.org/officeDocument/2006/relationships/slideLayout" Target="/ppt/slideLayouts/slideLayout3.xml" Id="R968234f104ea411c" /><Relationship Type="http://schemas.openxmlformats.org/officeDocument/2006/relationships/slideLayout" Target="/ppt/slideLayouts/slideLayout4.xml" Id="R98c559bc49ee42ea" /><Relationship Type="http://schemas.openxmlformats.org/officeDocument/2006/relationships/slideLayout" Target="/ppt/slideLayouts/slideLayout5.xml" Id="Reb94dd40c21d4745" /><Relationship Type="http://schemas.openxmlformats.org/officeDocument/2006/relationships/slideLayout" Target="/ppt/slideLayouts/slideLayout6.xml" Id="R4a462eff07534d55" /><Relationship Type="http://schemas.openxmlformats.org/officeDocument/2006/relationships/slideLayout" Target="/ppt/slideLayouts/slideLayout7.xml" Id="Rdeb8f12c5fbb43fa" /><Relationship Type="http://schemas.openxmlformats.org/officeDocument/2006/relationships/slideLayout" Target="/ppt/slideLayouts/slideLayout8.xml" Id="R3602980b21984b25" /><Relationship Type="http://schemas.openxmlformats.org/officeDocument/2006/relationships/slideLayout" Target="/ppt/slideLayouts/slideLayout9.xml" Id="R5d34be169805462b" /><Relationship Type="http://schemas.openxmlformats.org/officeDocument/2006/relationships/slideLayout" Target="/ppt/slideLayouts/slideLayout10.xml" Id="Ra73725d6d47845a3" /><Relationship Type="http://schemas.openxmlformats.org/officeDocument/2006/relationships/slideLayout" Target="/ppt/slideLayouts/slideLayout11.xml" Id="R600e542aa8734b9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7971C335-A343-435F-BDC8-6FD2B6D5E03E}"/>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FFCC4FD9-9918-46FF-8564-6B589175ED66}"/>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9B4F6367-7273-4B94-BBB2-FD3FA7E35A28}"/>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FE4A1A30-94CA-405C-948A-65C5569F0208}"/>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89AD4A4-872E-41A1-BB0D-1B287248AED5}"/>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4c1a1b268a4999"/>
    <p:sldLayoutId xmlns:r="http://schemas.openxmlformats.org/officeDocument/2006/relationships" id="2147483650" r:id="R84f73610757742df"/>
    <p:sldLayoutId xmlns:r="http://schemas.openxmlformats.org/officeDocument/2006/relationships" id="2147483651" r:id="R968234f104ea411c"/>
    <p:sldLayoutId xmlns:r="http://schemas.openxmlformats.org/officeDocument/2006/relationships" id="2147483652" r:id="R98c559bc49ee42ea"/>
    <p:sldLayoutId xmlns:r="http://schemas.openxmlformats.org/officeDocument/2006/relationships" id="2147483653" r:id="Reb94dd40c21d4745"/>
    <p:sldLayoutId xmlns:r="http://schemas.openxmlformats.org/officeDocument/2006/relationships" id="2147483654" r:id="R4a462eff07534d55"/>
    <p:sldLayoutId xmlns:r="http://schemas.openxmlformats.org/officeDocument/2006/relationships" id="2147483655" r:id="Rdeb8f12c5fbb43fa"/>
    <p:sldLayoutId xmlns:r="http://schemas.openxmlformats.org/officeDocument/2006/relationships" id="2147483656" r:id="R3602980b21984b25"/>
    <p:sldLayoutId xmlns:r="http://schemas.openxmlformats.org/officeDocument/2006/relationships" id="2147483657" r:id="R5d34be169805462b"/>
    <p:sldLayoutId xmlns:r="http://schemas.openxmlformats.org/officeDocument/2006/relationships" id="2147483658" r:id="Ra73725d6d47845a3"/>
    <p:sldLayoutId xmlns:r="http://schemas.openxmlformats.org/officeDocument/2006/relationships" id="2147483659" r:id="R600e542aa8734b92"/>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7e7a25c8b25f494f" /><Relationship Type="http://schemas.openxmlformats.org/officeDocument/2006/relationships/image" Target="/ppt/media/image.jpeg" Id="Ra4f6ddbbef8e4161" /><Relationship Type="http://schemas.openxmlformats.org/officeDocument/2006/relationships/notesSlide" Target="/ppt/notesSlides/notesSlide1.xml" Id="Rd637b6c4311241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37c6e909e7a2432b" /><Relationship Type="http://schemas.openxmlformats.org/officeDocument/2006/relationships/image" Target="/ppt/media/image2.jpeg" Id="Rff1367d726214aa3" /><Relationship Type="http://schemas.openxmlformats.org/officeDocument/2006/relationships/notesSlide" Target="/ppt/notesSlides/notesSlide2.xml" Id="R29c14c84bd754d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99ec0a0ea3314c3e" /><Relationship Type="http://schemas.openxmlformats.org/officeDocument/2006/relationships/image" Target="/ppt/media/image2.jpeg" Id="Rf1afa50807264849" /><Relationship Type="http://schemas.openxmlformats.org/officeDocument/2006/relationships/notesSlide" Target="/ppt/notesSlides/notesSlide3.xml" Id="Rfe34d776172a458c"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66e7f8a0bc3c4079" /><Relationship Type="http://schemas.openxmlformats.org/officeDocument/2006/relationships/image" Target="/ppt/media/image2.jpeg" Id="Ra504abb097584ca4" /><Relationship Type="http://schemas.openxmlformats.org/officeDocument/2006/relationships/notesSlide" Target="/ppt/notesSlides/notesSlide4.xml" Id="R3c0fb04f70a847ea"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f8cc5bb39b474690" /><Relationship Type="http://schemas.openxmlformats.org/officeDocument/2006/relationships/image" Target="/ppt/media/image2.jpeg" Id="Ra3cca44416cb434c" /><Relationship Type="http://schemas.openxmlformats.org/officeDocument/2006/relationships/image" Target="/ppt/media/image.png" Id="R8fdac3eb475a404d" /><Relationship Type="http://schemas.openxmlformats.org/officeDocument/2006/relationships/notesSlide" Target="/ppt/notesSlides/notesSlide5.xml" Id="R7f06dcef8cfb4f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6d0ffdd3e7b7405a" /><Relationship Type="http://schemas.openxmlformats.org/officeDocument/2006/relationships/image" Target="/ppt/media/image2.jpeg" Id="Re62d6efe42d94cdd" /><Relationship Type="http://schemas.openxmlformats.org/officeDocument/2006/relationships/image" Target="/ppt/media/image2.png" Id="R58de8c37c2314eaa" /><Relationship Type="http://schemas.openxmlformats.org/officeDocument/2006/relationships/notesSlide" Target="/ppt/notesSlides/notesSlide6.xml" Id="R5c46ced481b34cf9"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a3d091343e75459c" /><Relationship Type="http://schemas.openxmlformats.org/officeDocument/2006/relationships/image" Target="/ppt/media/image2.jpeg" Id="R59b096b44a8846f0" /><Relationship Type="http://schemas.openxmlformats.org/officeDocument/2006/relationships/notesSlide" Target="/ppt/notesSlides/notesSlide7.xml" Id="R008d47a456dd4bea"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248baded5f0c4ab1" /><Relationship Type="http://schemas.openxmlformats.org/officeDocument/2006/relationships/image" Target="/ppt/media/image2.jpeg" Id="R385fd5b66c0a41f5" /><Relationship Type="http://schemas.openxmlformats.org/officeDocument/2006/relationships/notesSlide" Target="/ppt/notesSlides/notesSlide8.xml" Id="R76624fb7161c494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9C8ACD54-A72F-4DC2-BCE6-FB22E5ECEA98}"/>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a4f6ddbbef8e4161"/>
            <a:stretch>
              <a:fillRect l="0" t="0" r="0" b="0"/>
            </a:stretch>
          </a:blipFill>
        </p:spPr>
      </p:sp>
      <p:sp>
        <p:nvSpPr>
          <p:cNvPr id="3" name="TextBox 3">
            <a:extLst xmlns:a="http://schemas.openxmlformats.org/drawingml/2006/main">
              <a:ext uri="{FF2B5EF4-FFF2-40B4-BE49-F238E27FC236}">
                <a16:creationId xmlns:a16="http://schemas.microsoft.com/office/drawing/2014/main" id="{D4FE4967-0A38-4181-919A-9107EDCFCF46}"/>
              </a:ext>
            </a:extLst>
          </p:cNvPr>
          <p:cNvSpPr>
            <a:spLocks xmlns:a="http://schemas.openxmlformats.org/drawingml/2006/main" noGrp="1"/>
          </p:cNvSpPr>
          <p:nvPr/>
        </p:nvSpPr>
        <p:spPr>
          <a:xfrm xmlns:a="http://schemas.openxmlformats.org/drawingml/2006/main" rot="0">
            <a:off x="2571750" y="3238500"/>
            <a:ext cx="13144500" cy="171450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p xmlns:a="http://schemas.openxmlformats.org/drawingml/2006/main">
            <a:pPr algn="ctr">
              <a:spcAft>
                <a:spcPts val="10"/>
              </a:spcAft>
            </a:pPr>
            <a:r>
              <a:rPr sz="4800" b="1">
                <a:solidFill>
                  <a:srgbClr val="FFFFFF"/>
                </a:solidFill>
                <a:latin typeface="Helvetica Now Display Bold"/>
                <a:ea typeface="Helvetica Now Display Bold"/>
                <a:cs typeface="Helvetica Now Display Bold"/>
              </a:rPr>
              <a:t>TRAININGIT</a:t>
            </a:r>
          </a:p>
          <a:p xmlns:a="http://schemas.openxmlformats.org/drawingml/2006/main">
            <a:pPr algn="ctr"/>
            <a:r>
              <a:rPr sz="2100" b="1">
                <a:solidFill>
                  <a:srgbClr val="FFFFFF"/>
                </a:solidFill>
                <a:latin typeface="Helvetica Now Display Bold"/>
                <a:ea typeface="Helvetica Now Display Bold"/>
                <a:cs typeface="Helvetica Now Display Bold"/>
              </a:rPr>
              <a:t>A WEB-BASED APPLICATION FOR SELLING PROGRAMMING COURSES</a:t>
            </a:r>
          </a:p>
        </p:txBody>
      </p:sp>
      <p:sp>
        <p:nvSpPr>
          <p:cNvPr id="4" name="TextBox 4">
            <a:extLst xmlns:a="http://schemas.openxmlformats.org/drawingml/2006/main">
              <a:ext uri="{FF2B5EF4-FFF2-40B4-BE49-F238E27FC236}">
                <a16:creationId xmlns:a16="http://schemas.microsoft.com/office/drawing/2014/main" id="{5B4768FA-141E-4393-A18D-64C8EA9AB743}"/>
              </a:ext>
            </a:extLst>
          </p:cNvPr>
          <p:cNvSpPr>
            <a:spLocks xmlns:a="http://schemas.openxmlformats.org/drawingml/2006/main" noGrp="1"/>
          </p:cNvSpPr>
          <p:nvPr/>
        </p:nvSpPr>
        <p:spPr>
          <a:xfrm xmlns:a="http://schemas.openxmlformats.org/drawingml/2006/main" rot="0">
            <a:off x="0" y="1009650"/>
            <a:ext cx="18288000" cy="9525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750"/>
              </a:lnSpc>
              <a:buNone/>
            </a:pPr>
            <a:r>
              <a:rPr sz="3000" b="1" spc="225">
                <a:solidFill>
                  <a:srgbClr val="FFFFFF"/>
                </a:solidFill>
                <a:latin typeface="Bebas Neue Bold"/>
                <a:ea typeface="Bebas Neue Bold"/>
                <a:cs typeface="Bebas Neue Bold"/>
              </a:rPr>
              <a:t>FACULTY OF COMPUTER SCIENCE</a:t>
            </a:r>
          </a:p>
          <a:p xmlns:a="http://schemas.openxmlformats.org/drawingml/2006/main">
            <a:pPr algn="ctr">
              <a:lnSpc>
                <a:spcPts val="3750"/>
              </a:lnSpc>
              <a:spcBef>
                <a:spcPct val="0"/>
              </a:spcBef>
              <a:buNone/>
            </a:pPr>
            <a:r>
              <a:rPr sz="3000" b="1" spc="225">
                <a:solidFill>
                  <a:srgbClr val="FFFFFF"/>
                </a:solidFill>
                <a:latin typeface="Bebas Neue Bold"/>
                <a:ea typeface="Bebas Neue Bold"/>
                <a:cs typeface="Bebas Neue Bold"/>
              </a:rPr>
              <a:t>BACHELOR'S DEGREE PROGRAMME: COMPUTER SCIENCE</a:t>
            </a:r>
          </a:p>
        </p:txBody>
      </p:sp>
      <p:sp>
        <p:nvSpPr>
          <p:cNvPr id="5" name="TextBox 5">
            <a:extLst xmlns:a="http://schemas.openxmlformats.org/drawingml/2006/main">
              <a:ext uri="{FF2B5EF4-FFF2-40B4-BE49-F238E27FC236}">
                <a16:creationId xmlns:a16="http://schemas.microsoft.com/office/drawing/2014/main" id="{012B270A-B0BC-4366-A949-322E91D84612}"/>
              </a:ext>
            </a:extLst>
          </p:cNvPr>
          <p:cNvSpPr>
            <a:spLocks xmlns:a="http://schemas.openxmlformats.org/drawingml/2006/main" noGrp="1"/>
          </p:cNvSpPr>
          <p:nvPr/>
        </p:nvSpPr>
        <p:spPr>
          <a:xfrm xmlns:a="http://schemas.openxmlformats.org/drawingml/2006/main" rot="0">
            <a:off x="1028700" y="7696200"/>
            <a:ext cx="7239000" cy="1066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4050"/>
              </a:lnSpc>
              <a:buNone/>
            </a:pPr>
            <a:r>
              <a:rPr sz="2700" b="1">
                <a:solidFill>
                  <a:srgbClr val="FFFFFF"/>
                </a:solidFill>
                <a:latin typeface="Helvetica Now Display Bold"/>
                <a:ea typeface="Helvetica Now Display Bold"/>
                <a:cs typeface="Helvetica Now Display Bold"/>
              </a:rPr>
              <a:t>SUPERVISOR:</a:t>
            </a:r>
            <a:r>
              <a:rPr sz="2700" b="1">
                <a:solidFill>
                  <a:srgbClr val="FFFFFF"/>
                </a:solidFill>
                <a:latin typeface="Helvetica Now Display Bold"/>
                <a:ea typeface="Helvetica Now Display Bold"/>
                <a:cs typeface="Helvetica Now Display Bold"/>
              </a:rPr>
              <a:t>       </a:t>
            </a:r>
          </a:p>
          <a:p xmlns:a="http://schemas.openxmlformats.org/drawingml/2006/main">
            <a:pPr algn="ctr">
              <a:lnSpc>
                <a:spcPts val="4050"/>
              </a:lnSpc>
              <a:buNone/>
            </a:pPr>
            <a:r>
              <a:rPr sz="2700" b="1">
                <a:solidFill>
                  <a:srgbClr val="FFFFFF"/>
                </a:solidFill>
                <a:latin typeface="Helvetica Now Display Bold"/>
                <a:ea typeface="Helvetica Now Display Bold"/>
                <a:cs typeface="Helvetica Now Display Bold"/>
              </a:rPr>
              <a:t>Lect. Dr. Sebastian Ștefănigă</a:t>
            </a:r>
          </a:p>
        </p:txBody>
      </p:sp>
      <p:sp>
        <p:nvSpPr>
          <p:cNvPr id="6" name="TextBox 6">
            <a:extLst xmlns:a="http://schemas.openxmlformats.org/drawingml/2006/main">
              <a:ext uri="{FF2B5EF4-FFF2-40B4-BE49-F238E27FC236}">
                <a16:creationId xmlns:a16="http://schemas.microsoft.com/office/drawing/2014/main" id="{7BD49515-55AF-4414-85AD-5EB02986FDDB}"/>
              </a:ext>
            </a:extLst>
          </p:cNvPr>
          <p:cNvSpPr>
            <a:spLocks xmlns:a="http://schemas.openxmlformats.org/drawingml/2006/main" noGrp="1"/>
          </p:cNvSpPr>
          <p:nvPr/>
        </p:nvSpPr>
        <p:spPr>
          <a:xfrm xmlns:a="http://schemas.openxmlformats.org/drawingml/2006/main" rot="0">
            <a:off x="14001750" y="7696200"/>
            <a:ext cx="3257550" cy="1066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4050"/>
              </a:lnSpc>
              <a:buNone/>
            </a:pPr>
            <a:r>
              <a:rPr sz="2700" b="1">
                <a:solidFill>
                  <a:srgbClr val="FFFFFF"/>
                </a:solidFill>
                <a:latin typeface="Helvetica Now Display Bold"/>
                <a:ea typeface="Helvetica Now Display Bold"/>
                <a:cs typeface="Helvetica Now Display Bold"/>
              </a:rPr>
              <a:t>CANDIDATE:</a:t>
            </a:r>
          </a:p>
          <a:p xmlns:a="http://schemas.openxmlformats.org/drawingml/2006/main">
            <a:pPr algn="r">
              <a:lnSpc>
                <a:spcPts val="4050"/>
              </a:lnSpc>
              <a:buNone/>
            </a:pPr>
            <a:r>
              <a:rPr sz="2700" b="1">
                <a:solidFill>
                  <a:srgbClr val="FFFFFF"/>
                </a:solidFill>
                <a:latin typeface="Helvetica Now Display Bold"/>
                <a:ea typeface="Helvetica Now Display Bold"/>
                <a:cs typeface="Helvetica Now Display Bold"/>
              </a:rPr>
              <a:t>Raul Veca</a:t>
            </a:r>
          </a:p>
        </p:txBody>
      </p:sp>
    </p:spTree>
    <p:extLst>
      <p:ext uri="{BB962C8B-B14F-4D97-AF65-F5344CB8AC3E}">
        <p14:creationId xmlns:p14="http://schemas.microsoft.com/office/powerpoint/2010/main" val="36114514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F1FE47A-19E1-4EEF-B12F-5F1D4F60D89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ff1367d726214aa3"/>
            <a:stretch>
              <a:fillRect l="0" t="0" r="0" b="0"/>
            </a:stretch>
          </a:blipFill>
        </p:spPr>
      </p:sp>
      <p:sp>
        <p:nvSpPr>
          <p:cNvPr id="3" name="slide-1-title">
            <a:extLst xmlns:a="http://schemas.openxmlformats.org/drawingml/2006/main">
              <a:ext uri="{FF2B5EF4-FFF2-40B4-BE49-F238E27FC236}">
                <a16:creationId xmlns:a16="http://schemas.microsoft.com/office/drawing/2014/main" id="{AE1D0131-F00E-4FC8-AE13-4AB7AA97F211}"/>
              </a:ext>
            </a:extLst>
          </p:cNvPr>
          <p:cNvSpPr>
            <a:spLocks xmlns:a="http://schemas.openxmlformats.org/drawingml/2006/main" noGrp="1"/>
          </p:cNvSpPr>
          <p:nvPr/>
        </p:nvSpPr>
        <p:spPr>
          <a:xfrm xmlns:a="http://schemas.openxmlformats.org/drawingml/2006/main">
            <a:off x="2381250" y="3238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Problem and Motivation</a:t>
            </a:r>
          </a:p>
        </p:txBody>
      </p:sp>
      <p:sp>
        <p:nvSpPr>
          <p:cNvPr id="4" name="slide-1-subtitle">
            <a:extLst xmlns:a="http://schemas.openxmlformats.org/drawingml/2006/main">
              <a:ext uri="{FF2B5EF4-FFF2-40B4-BE49-F238E27FC236}">
                <a16:creationId xmlns:a16="http://schemas.microsoft.com/office/drawing/2014/main" id="{2E953A88-BBB8-431C-8267-BCC6D7FB8013}"/>
              </a:ext>
            </a:extLst>
          </p:cNvPr>
          <p:cNvSpPr>
            <a:spLocks xmlns:a="http://schemas.openxmlformats.org/drawingml/2006/main" noGrp="1"/>
          </p:cNvSpPr>
          <p:nvPr/>
        </p:nvSpPr>
        <p:spPr>
          <a:xfrm xmlns:a="http://schemas.openxmlformats.org/drawingml/2006/main">
            <a:off x="2381250" y="9144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2F5D8C"/>
                </a:solidFill>
                <a:latin typeface="Calibri"/>
                <a:ea typeface="Calibri"/>
                <a:cs typeface="Calibri"/>
              </a:defRPr>
            </a:pPr>
            <a:r>
              <a:rPr sz="1875" b="0">
                <a:solidFill>
                  <a:srgbClr val="2F5D8C"/>
                </a:solidFill>
                <a:latin typeface="Calibri"/>
                <a:ea typeface="Calibri"/>
                <a:cs typeface="Calibri"/>
              </a:rPr>
              <a:t>One system removes fragile synchronization between the storefront and CRM</a:t>
            </a:r>
          </a:p>
        </p:txBody>
      </p:sp>
      <p:sp>
        <p:nvSpPr>
          <p:cNvPr id="5" name="slide-1-page-number">
            <a:extLst xmlns:a="http://schemas.openxmlformats.org/drawingml/2006/main">
              <a:ext uri="{FF2B5EF4-FFF2-40B4-BE49-F238E27FC236}">
                <a16:creationId xmlns:a16="http://schemas.microsoft.com/office/drawing/2014/main" id="{937951F8-695E-4F6E-816A-7C94465D58D4}"/>
              </a:ext>
            </a:extLst>
          </p:cNvPr>
          <p:cNvSpPr>
            <a:spLocks xmlns:a="http://schemas.openxmlformats.org/drawingml/2006/main" noGrp="1"/>
          </p:cNvSpPr>
          <p:nvPr/>
        </p:nvSpPr>
        <p:spPr>
          <a:xfrm xmlns:a="http://schemas.openxmlformats.org/drawingml/2006/main">
            <a:off x="8620125" y="98488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1">
                <a:solidFill>
                  <a:srgbClr val="2F5D8C"/>
                </a:solidFill>
                <a:latin typeface="Calibri"/>
                <a:ea typeface="Calibri"/>
                <a:cs typeface="Calibri"/>
              </a:defRPr>
            </a:pPr>
            <a:r>
              <a:rPr sz="1125" b="1">
                <a:solidFill>
                  <a:srgbClr val="2F5D8C"/>
                </a:solidFill>
                <a:latin typeface="Calibri"/>
                <a:ea typeface="Calibri"/>
                <a:cs typeface="Calibri"/>
              </a:rPr>
              <a:t>1 / 7</a:t>
            </a:r>
          </a:p>
        </p:txBody>
      </p:sp>
      <p:sp>
        <p:nvSpPr>
          <p:cNvPr id="6" name="customer-side-heading">
            <a:extLst xmlns:a="http://schemas.openxmlformats.org/drawingml/2006/main">
              <a:ext uri="{FF2B5EF4-FFF2-40B4-BE49-F238E27FC236}">
                <a16:creationId xmlns:a16="http://schemas.microsoft.com/office/drawing/2014/main" id="{96ACCC26-D056-4176-82CE-5C4E5B05CE6B}"/>
              </a:ext>
            </a:extLst>
          </p:cNvPr>
          <p:cNvSpPr>
            <a:spLocks xmlns:a="http://schemas.openxmlformats.org/drawingml/2006/main" noGrp="1"/>
          </p:cNvSpPr>
          <p:nvPr/>
        </p:nvSpPr>
        <p:spPr>
          <a:xfrm xmlns:a="http://schemas.openxmlformats.org/drawingml/2006/main">
            <a:off x="2667000" y="2095500"/>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022461"/>
                </a:solidFill>
                <a:latin typeface="Helvetica Now Display Bold"/>
                <a:ea typeface="Helvetica Now Display Bold"/>
                <a:cs typeface="Helvetica Now Display Bold"/>
              </a:defRPr>
            </a:pPr>
            <a:r>
              <a:rPr sz="2175" b="1">
                <a:solidFill>
                  <a:srgbClr val="022461"/>
                </a:solidFill>
                <a:latin typeface="Helvetica Now Display Bold"/>
                <a:ea typeface="Helvetica Now Display Bold"/>
                <a:cs typeface="Helvetica Now Display Bold"/>
              </a:rPr>
              <a:t>The customer side</a:t>
            </a:r>
          </a:p>
        </p:txBody>
      </p:sp>
      <p:sp>
        <p:nvSpPr>
          <p:cNvPr id="7" name="customer-side-body">
            <a:extLst xmlns:a="http://schemas.openxmlformats.org/drawingml/2006/main">
              <a:ext uri="{FF2B5EF4-FFF2-40B4-BE49-F238E27FC236}">
                <a16:creationId xmlns:a16="http://schemas.microsoft.com/office/drawing/2014/main" id="{0D0EE576-B18B-4162-BE83-4E863453CEDF}"/>
              </a:ext>
            </a:extLst>
          </p:cNvPr>
          <p:cNvSpPr>
            <a:spLocks xmlns:a="http://schemas.openxmlformats.org/drawingml/2006/main" noGrp="1"/>
          </p:cNvSpPr>
          <p:nvPr/>
        </p:nvSpPr>
        <p:spPr>
          <a:xfrm xmlns:a="http://schemas.openxmlformats.org/drawingml/2006/main">
            <a:off x="2667000" y="2524125"/>
            <a:ext cx="7239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033"/>
                </a:solidFill>
                <a:latin typeface="Calibri"/>
                <a:ea typeface="Calibri"/>
                <a:cs typeface="Calibri"/>
              </a:defRPr>
            </a:pPr>
            <a:r>
              <a:rPr sz="1800" b="0">
                <a:solidFill>
                  <a:srgbClr val="172033"/>
                </a:solidFill>
                <a:latin typeface="Calibri"/>
                <a:ea typeface="Calibri"/>
                <a:cs typeface="Calibri"/>
              </a:rPr>
              <a:t>Learners need a clear catalogue, trusted reviews, quick purchase and simple tutoring reservations.</a:t>
            </a:r>
          </a:p>
        </p:txBody>
      </p:sp>
      <p:sp>
        <p:nvSpPr>
          <p:cNvPr id="8" name="">
            <a:extLst xmlns:a="http://schemas.openxmlformats.org/drawingml/2006/main">
              <a:ext uri="{FF2B5EF4-FFF2-40B4-BE49-F238E27FC236}">
                <a16:creationId xmlns:a16="http://schemas.microsoft.com/office/drawing/2014/main" id="{018F8D60-8003-4D96-991F-425DA72191C9}"/>
              </a:ext>
            </a:extLst>
          </p:cNvPr>
          <p:cNvSpPr>
            <a:spLocks xmlns:a="http://schemas.openxmlformats.org/drawingml/2006/main" noGrp="1"/>
          </p:cNvSpPr>
          <p:nvPr/>
        </p:nvSpPr>
        <p:spPr>
          <a:xfrm xmlns:a="http://schemas.openxmlformats.org/drawingml/2006/main">
            <a:off x="2667000" y="3619500"/>
            <a:ext cx="7239000" cy="0"/>
          </a:xfrm>
          <a:prstGeom xmlns:a="http://schemas.openxmlformats.org/drawingml/2006/main" prst="line">
            <a:avLst/>
          </a:prstGeom>
          <a:noFill xmlns:a="http://schemas.openxmlformats.org/drawingml/2006/main"/>
          <a:ln xmlns:a="http://schemas.openxmlformats.org/drawingml/2006/main" w="19050">
            <a:solidFill>
              <a:srgbClr val="B8C9DC"/>
            </a:solidFill>
            <a:prstDash val="solid"/>
          </a:ln>
        </p:spPr>
      </p:sp>
      <p:sp>
        <p:nvSpPr>
          <p:cNvPr id="9" name="business-side-heading">
            <a:extLst xmlns:a="http://schemas.openxmlformats.org/drawingml/2006/main">
              <a:ext uri="{FF2B5EF4-FFF2-40B4-BE49-F238E27FC236}">
                <a16:creationId xmlns:a16="http://schemas.microsoft.com/office/drawing/2014/main" id="{1EFB425B-ED9C-4E16-B101-9C07CAEAF3B1}"/>
              </a:ext>
            </a:extLst>
          </p:cNvPr>
          <p:cNvSpPr>
            <a:spLocks xmlns:a="http://schemas.openxmlformats.org/drawingml/2006/main" noGrp="1"/>
          </p:cNvSpPr>
          <p:nvPr/>
        </p:nvSpPr>
        <p:spPr>
          <a:xfrm xmlns:a="http://schemas.openxmlformats.org/drawingml/2006/main">
            <a:off x="2667000" y="4095750"/>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022461"/>
                </a:solidFill>
                <a:latin typeface="Helvetica Now Display Bold"/>
                <a:ea typeface="Helvetica Now Display Bold"/>
                <a:cs typeface="Helvetica Now Display Bold"/>
              </a:defRPr>
            </a:pPr>
            <a:r>
              <a:rPr sz="2175" b="1">
                <a:solidFill>
                  <a:srgbClr val="022461"/>
                </a:solidFill>
                <a:latin typeface="Helvetica Now Display Bold"/>
                <a:ea typeface="Helvetica Now Display Bold"/>
                <a:cs typeface="Helvetica Now Display Bold"/>
              </a:rPr>
              <a:t>The business side</a:t>
            </a:r>
          </a:p>
        </p:txBody>
      </p:sp>
      <p:sp>
        <p:nvSpPr>
          <p:cNvPr id="10" name="business-side-body">
            <a:extLst xmlns:a="http://schemas.openxmlformats.org/drawingml/2006/main">
              <a:ext uri="{FF2B5EF4-FFF2-40B4-BE49-F238E27FC236}">
                <a16:creationId xmlns:a16="http://schemas.microsoft.com/office/drawing/2014/main" id="{A227959B-AF4E-44FD-B4C6-0F241BAF18C4}"/>
              </a:ext>
            </a:extLst>
          </p:cNvPr>
          <p:cNvSpPr>
            <a:spLocks xmlns:a="http://schemas.openxmlformats.org/drawingml/2006/main" noGrp="1"/>
          </p:cNvSpPr>
          <p:nvPr/>
        </p:nvSpPr>
        <p:spPr>
          <a:xfrm xmlns:a="http://schemas.openxmlformats.org/drawingml/2006/main">
            <a:off x="2667000" y="4524375"/>
            <a:ext cx="7239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033"/>
                </a:solidFill>
                <a:latin typeface="Calibri"/>
                <a:ea typeface="Calibri"/>
                <a:cs typeface="Calibri"/>
              </a:defRPr>
            </a:pPr>
            <a:r>
              <a:rPr sz="1800" b="0">
                <a:solidFill>
                  <a:srgbClr val="172033"/>
                </a:solidFill>
                <a:latin typeface="Calibri"/>
                <a:ea typeface="Calibri"/>
                <a:cs typeface="Calibri"/>
              </a:rPr>
              <a:t>The company needs leads, purchases, invoices, analytics and corporate clients in one operational view.</a:t>
            </a:r>
          </a:p>
        </p:txBody>
      </p:sp>
      <p:sp>
        <p:nvSpPr>
          <p:cNvPr id="11" name="">
            <a:extLst xmlns:a="http://schemas.openxmlformats.org/drawingml/2006/main">
              <a:ext uri="{FF2B5EF4-FFF2-40B4-BE49-F238E27FC236}">
                <a16:creationId xmlns:a16="http://schemas.microsoft.com/office/drawing/2014/main" id="{C771CB6D-A784-4C94-BF63-102269B19621}"/>
              </a:ext>
            </a:extLst>
          </p:cNvPr>
          <p:cNvSpPr>
            <a:spLocks xmlns:a="http://schemas.openxmlformats.org/drawingml/2006/main" noGrp="1"/>
          </p:cNvSpPr>
          <p:nvPr/>
        </p:nvSpPr>
        <p:spPr>
          <a:xfrm xmlns:a="http://schemas.openxmlformats.org/drawingml/2006/main">
            <a:off x="2667000" y="5619750"/>
            <a:ext cx="7239000" cy="0"/>
          </a:xfrm>
          <a:prstGeom xmlns:a="http://schemas.openxmlformats.org/drawingml/2006/main" prst="line">
            <a:avLst/>
          </a:prstGeom>
          <a:noFill xmlns:a="http://schemas.openxmlformats.org/drawingml/2006/main"/>
          <a:ln xmlns:a="http://schemas.openxmlformats.org/drawingml/2006/main" w="19050">
            <a:solidFill>
              <a:srgbClr val="B8C9DC"/>
            </a:solidFill>
            <a:prstDash val="solid"/>
          </a:ln>
        </p:spPr>
      </p:sp>
      <p:sp>
        <p:nvSpPr>
          <p:cNvPr id="12" name="integration-gap-heading">
            <a:extLst xmlns:a="http://schemas.openxmlformats.org/drawingml/2006/main">
              <a:ext uri="{FF2B5EF4-FFF2-40B4-BE49-F238E27FC236}">
                <a16:creationId xmlns:a16="http://schemas.microsoft.com/office/drawing/2014/main" id="{8010DEFE-3821-45AB-942B-2440B93BA09A}"/>
              </a:ext>
            </a:extLst>
          </p:cNvPr>
          <p:cNvSpPr>
            <a:spLocks xmlns:a="http://schemas.openxmlformats.org/drawingml/2006/main" noGrp="1"/>
          </p:cNvSpPr>
          <p:nvPr/>
        </p:nvSpPr>
        <p:spPr>
          <a:xfrm xmlns:a="http://schemas.openxmlformats.org/drawingml/2006/main">
            <a:off x="2667000" y="6096000"/>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022461"/>
                </a:solidFill>
                <a:latin typeface="Helvetica Now Display Bold"/>
                <a:ea typeface="Helvetica Now Display Bold"/>
                <a:cs typeface="Helvetica Now Display Bold"/>
              </a:defRPr>
            </a:pPr>
            <a:r>
              <a:rPr sz="2175" b="1">
                <a:solidFill>
                  <a:srgbClr val="022461"/>
                </a:solidFill>
                <a:latin typeface="Helvetica Now Display Bold"/>
                <a:ea typeface="Helvetica Now Display Bold"/>
                <a:cs typeface="Helvetica Now Display Bold"/>
              </a:rPr>
              <a:t>The integration gap</a:t>
            </a:r>
          </a:p>
        </p:txBody>
      </p:sp>
      <p:sp>
        <p:nvSpPr>
          <p:cNvPr id="13" name="integration-gap-body">
            <a:extLst xmlns:a="http://schemas.openxmlformats.org/drawingml/2006/main">
              <a:ext uri="{FF2B5EF4-FFF2-40B4-BE49-F238E27FC236}">
                <a16:creationId xmlns:a16="http://schemas.microsoft.com/office/drawing/2014/main" id="{9A866C22-B60E-4059-B4FC-EB36798E5F87}"/>
              </a:ext>
            </a:extLst>
          </p:cNvPr>
          <p:cNvSpPr>
            <a:spLocks xmlns:a="http://schemas.openxmlformats.org/drawingml/2006/main" noGrp="1"/>
          </p:cNvSpPr>
          <p:nvPr/>
        </p:nvSpPr>
        <p:spPr>
          <a:xfrm xmlns:a="http://schemas.openxmlformats.org/drawingml/2006/main">
            <a:off x="2667000" y="6524625"/>
            <a:ext cx="7239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033"/>
                </a:solidFill>
                <a:latin typeface="Calibri"/>
                <a:ea typeface="Calibri"/>
                <a:cs typeface="Calibri"/>
              </a:defRPr>
            </a:pPr>
            <a:r>
              <a:rPr sz="1800" b="0">
                <a:solidFill>
                  <a:srgbClr val="172033"/>
                </a:solidFill>
                <a:latin typeface="Calibri"/>
                <a:ea typeface="Calibri"/>
                <a:cs typeface="Calibri"/>
              </a:rPr>
              <a:t>Separate tools create duplicate or inconsistent data and require slow manual reconciliation.</a:t>
            </a:r>
          </a:p>
        </p:txBody>
      </p:sp>
      <p:sp>
        <p:nvSpPr>
          <p:cNvPr id="14" name="problem-statement">
            <a:extLst xmlns:a="http://schemas.openxmlformats.org/drawingml/2006/main">
              <a:ext uri="{FF2B5EF4-FFF2-40B4-BE49-F238E27FC236}">
                <a16:creationId xmlns:a16="http://schemas.microsoft.com/office/drawing/2014/main" id="{BA4EAD6B-C91A-4F06-9A5E-C93DD2AD1E0B}"/>
              </a:ext>
            </a:extLst>
          </p:cNvPr>
          <p:cNvSpPr>
            <a:spLocks xmlns:a="http://schemas.openxmlformats.org/drawingml/2006/main" noGrp="1"/>
          </p:cNvSpPr>
          <p:nvPr/>
        </p:nvSpPr>
        <p:spPr>
          <a:xfrm xmlns:a="http://schemas.openxmlformats.org/drawingml/2006/main">
            <a:off x="10858500" y="2143125"/>
            <a:ext cx="5334000" cy="5619750"/>
          </a:xfrm>
          <a:prstGeom xmlns:a="http://schemas.openxmlformats.org/drawingml/2006/main" prst="roundRect">
            <a:avLst>
              <a:gd name="adj" fmla="val 3214"/>
            </a:avLst>
          </a:prstGeom>
          <a:solidFill xmlns:a="http://schemas.openxmlformats.org/drawingml/2006/main">
            <a:srgbClr val="EEF5FC"/>
          </a:solidFill>
          <a:ln xmlns:a="http://schemas.openxmlformats.org/drawingml/2006/main" w="19050">
            <a:solidFill>
              <a:srgbClr val="BCD0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323850" tIns="304800" rIns="323850" bIns="266700" anchor="t">
            <a:noAutofit/>
          </a:bodyPr>
          <a:lstStyle xmlns:a="http://schemas.openxmlformats.org/drawingml/2006/main"/>
          <a:p xmlns:a="http://schemas.openxmlformats.org/drawingml/2006/main">
            <a:pPr algn="l">
              <a:spcAft>
                <a:spcPts val="20"/>
              </a:spcAft>
              <a:defRPr sz="1800" b="0">
                <a:solidFill>
                  <a:srgbClr val="172033"/>
                </a:solidFill>
                <a:latin typeface="Calibri"/>
                <a:ea typeface="Calibri"/>
                <a:cs typeface="Calibri"/>
              </a:defRPr>
            </a:pPr>
            <a:r>
              <a:rPr sz="1800" b="0">
                <a:solidFill>
                  <a:srgbClr val="172033"/>
                </a:solidFill>
                <a:latin typeface="Calibri"/>
                <a:ea typeface="Calibri"/>
                <a:cs typeface="Calibri"/>
              </a:rPr>
              <a:t>PROBLEM STATEMENT</a:t>
            </a:r>
          </a:p>
          <a:p xmlns:a="http://schemas.openxmlformats.org/drawingml/2006/main">
            <a:pPr algn="l">
              <a:spcAft>
                <a:spcPts val="28"/>
              </a:spcAft>
              <a:defRPr sz="1800" b="0">
                <a:solidFill>
                  <a:srgbClr val="172033"/>
                </a:solidFill>
                <a:latin typeface="Calibri"/>
                <a:ea typeface="Calibri"/>
                <a:cs typeface="Calibri"/>
              </a:defRPr>
            </a:pPr>
            <a:r>
              <a:rPr sz="1800" b="0">
                <a:solidFill>
                  <a:srgbClr val="172033"/>
                </a:solidFill>
                <a:latin typeface="Calibri"/>
                <a:ea typeface="Calibri"/>
                <a:cs typeface="Calibri"/>
              </a:rPr>
              <a:t>Use one application and one shared data model so each customer action is captured once and drives the relevant CRM processes automatically.</a:t>
            </a:r>
          </a:p>
          <a:p xmlns:a="http://schemas.openxmlformats.org/drawingml/2006/main">
            <a:pPr algn="l">
              <a:defRPr sz="1800" b="0">
                <a:solidFill>
                  <a:srgbClr val="172033"/>
                </a:solidFill>
                <a:latin typeface="Calibri"/>
                <a:ea typeface="Calibri"/>
                <a:cs typeface="Calibri"/>
              </a:defRPr>
            </a:pPr>
            <a:r>
              <a:rPr sz="1800" b="0">
                <a:solidFill>
                  <a:srgbClr val="172033"/>
                </a:solidFill>
                <a:latin typeface="Calibri"/>
                <a:ea typeface="Calibri"/>
                <a:cs typeface="Calibri"/>
              </a:rPr>
              <a:t>One system. Two role-based experiences. No manual reconciliation.</a:t>
            </a:r>
          </a:p>
        </p:txBody>
      </p:sp>
    </p:spTree>
    <p:extLst>
      <p:ext uri="{BB962C8B-B14F-4D97-AF65-F5344CB8AC3E}">
        <p14:creationId xmlns:p14="http://schemas.microsoft.com/office/powerpoint/2010/main" val="38539004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F1FE47A-19E1-4EEF-B12F-5F1D4F60D89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f1afa50807264849"/>
            <a:stretch>
              <a:fillRect l="0" t="0" r="0" b="0"/>
            </a:stretch>
          </a:blipFill>
        </p:spPr>
      </p:sp>
      <p:sp>
        <p:nvSpPr>
          <p:cNvPr id="3" name="slide-2-title">
            <a:extLst xmlns:a="http://schemas.openxmlformats.org/drawingml/2006/main">
              <a:ext uri="{FF2B5EF4-FFF2-40B4-BE49-F238E27FC236}">
                <a16:creationId xmlns:a16="http://schemas.microsoft.com/office/drawing/2014/main" id="{1EA6940B-19B2-44EF-93F4-AA41B0BC2776}"/>
              </a:ext>
            </a:extLst>
          </p:cNvPr>
          <p:cNvSpPr>
            <a:spLocks xmlns:a="http://schemas.openxmlformats.org/drawingml/2006/main" noGrp="1"/>
          </p:cNvSpPr>
          <p:nvPr/>
        </p:nvSpPr>
        <p:spPr>
          <a:xfrm xmlns:a="http://schemas.openxmlformats.org/drawingml/2006/main">
            <a:off x="2381250" y="3238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Related Work</a:t>
            </a:r>
          </a:p>
        </p:txBody>
      </p:sp>
      <p:sp>
        <p:nvSpPr>
          <p:cNvPr id="4" name="slide-2-subtitle">
            <a:extLst xmlns:a="http://schemas.openxmlformats.org/drawingml/2006/main">
              <a:ext uri="{FF2B5EF4-FFF2-40B4-BE49-F238E27FC236}">
                <a16:creationId xmlns:a16="http://schemas.microsoft.com/office/drawing/2014/main" id="{76D7AC58-1AA3-455D-BE62-C11AD08FF0C8}"/>
              </a:ext>
            </a:extLst>
          </p:cNvPr>
          <p:cNvSpPr>
            <a:spLocks xmlns:a="http://schemas.openxmlformats.org/drawingml/2006/main" noGrp="1"/>
          </p:cNvSpPr>
          <p:nvPr/>
        </p:nvSpPr>
        <p:spPr>
          <a:xfrm xmlns:a="http://schemas.openxmlformats.org/drawingml/2006/main">
            <a:off x="2381250" y="9144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2F5D8C"/>
                </a:solidFill>
                <a:latin typeface="Calibri"/>
                <a:ea typeface="Calibri"/>
                <a:cs typeface="Calibri"/>
              </a:defRPr>
            </a:pPr>
            <a:r>
              <a:rPr sz="1875" b="0">
                <a:solidFill>
                  <a:srgbClr val="2F5D8C"/>
                </a:solidFill>
                <a:latin typeface="Calibri"/>
                <a:ea typeface="Calibri"/>
                <a:cs typeface="Calibri"/>
              </a:rPr>
              <a:t>Existing tools solve parts of the problem, not the whole workflow</a:t>
            </a:r>
          </a:p>
        </p:txBody>
      </p:sp>
      <p:sp>
        <p:nvSpPr>
          <p:cNvPr id="5" name="slide-2-page-number">
            <a:extLst xmlns:a="http://schemas.openxmlformats.org/drawingml/2006/main">
              <a:ext uri="{FF2B5EF4-FFF2-40B4-BE49-F238E27FC236}">
                <a16:creationId xmlns:a16="http://schemas.microsoft.com/office/drawing/2014/main" id="{C7069109-0CAA-4B6B-9A56-4E6D1F840D58}"/>
              </a:ext>
            </a:extLst>
          </p:cNvPr>
          <p:cNvSpPr>
            <a:spLocks xmlns:a="http://schemas.openxmlformats.org/drawingml/2006/main" noGrp="1"/>
          </p:cNvSpPr>
          <p:nvPr/>
        </p:nvSpPr>
        <p:spPr>
          <a:xfrm xmlns:a="http://schemas.openxmlformats.org/drawingml/2006/main">
            <a:off x="8620125" y="98488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1">
                <a:solidFill>
                  <a:srgbClr val="2F5D8C"/>
                </a:solidFill>
                <a:latin typeface="Calibri"/>
                <a:ea typeface="Calibri"/>
                <a:cs typeface="Calibri"/>
              </a:defRPr>
            </a:pPr>
            <a:r>
              <a:rPr sz="1125" b="1">
                <a:solidFill>
                  <a:srgbClr val="2F5D8C"/>
                </a:solidFill>
                <a:latin typeface="Calibri"/>
                <a:ea typeface="Calibri"/>
                <a:cs typeface="Calibri"/>
              </a:rPr>
              <a:t>2 / 7</a:t>
            </a:r>
          </a:p>
        </p:txBody>
      </p:sp>
      <p:sp>
        <p:nvSpPr>
          <p:cNvPr id="6" name="related-work-intro">
            <a:extLst xmlns:a="http://schemas.openxmlformats.org/drawingml/2006/main">
              <a:ext uri="{FF2B5EF4-FFF2-40B4-BE49-F238E27FC236}">
                <a16:creationId xmlns:a16="http://schemas.microsoft.com/office/drawing/2014/main" id="{F164E926-F84C-4319-ADD0-BE2F49461C3A}"/>
              </a:ext>
            </a:extLst>
          </p:cNvPr>
          <p:cNvSpPr>
            <a:spLocks xmlns:a="http://schemas.openxmlformats.org/drawingml/2006/main" noGrp="1"/>
          </p:cNvSpPr>
          <p:nvPr/>
        </p:nvSpPr>
        <p:spPr>
          <a:xfrm xmlns:a="http://schemas.openxmlformats.org/drawingml/2006/main">
            <a:off x="2571750" y="1666875"/>
            <a:ext cx="1333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5A6472"/>
                </a:solidFill>
                <a:latin typeface="Calibri"/>
                <a:ea typeface="Calibri"/>
                <a:cs typeface="Calibri"/>
              </a:defRPr>
            </a:pPr>
            <a:r>
              <a:rPr sz="1650" b="0">
                <a:solidFill>
                  <a:srgbClr val="5A6472"/>
                </a:solidFill>
                <a:latin typeface="Calibri"/>
                <a:ea typeface="Calibri"/>
                <a:cs typeface="Calibri"/>
              </a:rPr>
              <a:t>Each tool family covers one side well; none unifies a course storefront and a CRM in a single product.</a:t>
            </a:r>
          </a:p>
        </p:txBody>
      </p:sp>
      <p:graphicFrame>
        <p:nvGraphicFramePr>
          <p:cNvPr id="14" name=""/>
          <p:cNvGraphicFramePr/>
          <p:nvPr/>
        </p:nvGraphicFramePr>
        <p:xfrm>
          <a:off xmlns:a="http://schemas.openxmlformats.org/drawingml/2006/main" x="2571750" y="2190750"/>
          <a:ext xmlns:a="http://schemas.openxmlformats.org/drawingml/2006/main" cx="13335000" cy="4819650"/>
        </p:xfrm>
        <a:graphic xmlns:a="http://schemas.openxmlformats.org/drawingml/2006/main">
          <a:graphicData uri="http://schemas.openxmlformats.org/drawingml/2006/table">
            <a:tbl>
              <a:tblPr/>
              <a:tblGrid>
                <a:gridCol w="3478696"/>
                <a:gridCol w="4493315"/>
                <a:gridCol w="5362989"/>
              </a:tblGrid>
              <a:tr h="552450">
                <a:tc>
                  <a:txBody>
                    <a:bodyPr lIns="95250" tIns="76200" rIns="95250" bIns="76200"/>
                    <a:lstStyle/>
                    <a:p>
                      <a:r>
                        <a:rPr sz="1575" b="1">
                          <a:solidFill>
                            <a:srgbClr val="FFFFFF"/>
                          </a:solidFill>
                          <a:latin typeface="Helvetica Now Display Bold"/>
                          <a:ea typeface="Helvetica Now Display Bold"/>
                          <a:cs typeface="Helvetica Now Display Bold"/>
                        </a:rPr>
                        <a:t>Tool family</a:t>
                      </a:r>
                    </a:p>
                  </a:txBody>
                  <a:tcPr marL="91440" marR="91440" marT="45720" marB="45720" anchor="ctr">
                    <a:solidFill>
                      <a:srgbClr val="022461"/>
                    </a:solidFill>
                  </a:tcPr>
                </a:tc>
                <a:tc>
                  <a:txBody>
                    <a:bodyPr lIns="95250" tIns="76200" rIns="95250" bIns="76200"/>
                    <a:lstStyle/>
                    <a:p>
                      <a:r>
                        <a:rPr sz="1575" b="1">
                          <a:solidFill>
                            <a:srgbClr val="FFFFFF"/>
                          </a:solidFill>
                          <a:latin typeface="Helvetica Now Display Bold"/>
                          <a:ea typeface="Helvetica Now Display Bold"/>
                          <a:cs typeface="Helvetica Now Display Bold"/>
                        </a:rPr>
                        <a:t>Strength</a:t>
                      </a:r>
                    </a:p>
                  </a:txBody>
                  <a:tcPr marL="91440" marR="91440" marT="45720" marB="45720" anchor="ctr">
                    <a:solidFill>
                      <a:srgbClr val="022461"/>
                    </a:solidFill>
                  </a:tcPr>
                </a:tc>
                <a:tc>
                  <a:txBody>
                    <a:bodyPr lIns="95250" tIns="76200" rIns="95250" bIns="76200"/>
                    <a:lstStyle/>
                    <a:p>
                      <a:r>
                        <a:rPr sz="1575" b="1">
                          <a:solidFill>
                            <a:srgbClr val="FFFFFF"/>
                          </a:solidFill>
                          <a:latin typeface="Helvetica Now Display Bold"/>
                          <a:ea typeface="Helvetica Now Display Bold"/>
                          <a:cs typeface="Helvetica Now Display Bold"/>
                        </a:rPr>
                        <a:t>Limitation</a:t>
                      </a:r>
                    </a:p>
                  </a:txBody>
                  <a:tcPr marL="91440" marR="91440" marT="45720" marB="45720" anchor="ctr">
                    <a:solidFill>
                      <a:srgbClr val="022461"/>
                    </a:solidFill>
                  </a:tcPr>
                </a:tc>
              </a:tr>
              <a:tr h="1066800">
                <a:tc>
                  <a:txBody>
                    <a:bodyPr lIns="95250" tIns="76200" rIns="95250" bIns="76200"/>
                    <a:lstStyle/>
                    <a:p>
                      <a:r>
                        <a:rPr sz="1425" b="1">
                          <a:solidFill>
                            <a:srgbClr val="022461"/>
                          </a:solidFill>
                          <a:latin typeface="Calibri"/>
                          <a:ea typeface="Calibri"/>
                          <a:cs typeface="Calibri"/>
                        </a:rPr>
                        <a:t>Course marketplaces</a:t>
                      </a:r>
                    </a:p>
                    <a:p>
                      <a:r>
                        <a:rPr sz="1425" b="1">
                          <a:solidFill>
                            <a:srgbClr val="022461"/>
                          </a:solidFill>
                          <a:latin typeface="Calibri"/>
                          <a:ea typeface="Calibri"/>
                          <a:cs typeface="Calibri"/>
                        </a:rPr>
                        <a:t>e.g. Udemy, Coursera</a:t>
                      </a:r>
                    </a:p>
                  </a:txBody>
                  <a:tcPr marL="91440" marR="91440" marT="45720" marB="45720" anchor="ctr">
                    <a:solidFill>
                      <a:srgbClr val="EEF5FC"/>
                    </a:solidFill>
                  </a:tcPr>
                </a:tc>
                <a:tc>
                  <a:txBody>
                    <a:bodyPr lIns="95250" tIns="76200" rIns="95250" bIns="76200"/>
                    <a:lstStyle/>
                    <a:p>
                      <a:r>
                        <a:rPr sz="1350" b="0">
                          <a:solidFill>
                            <a:srgbClr val="172033"/>
                          </a:solidFill>
                          <a:latin typeface="Calibri"/>
                          <a:ea typeface="Calibri"/>
                          <a:cs typeface="Calibri"/>
                        </a:rPr>
                        <a:t>Excellent storefront, catalogue, reviews and checkout</a:t>
                      </a:r>
                    </a:p>
                  </a:txBody>
                  <a:tcPr marL="91440" marR="91440" marT="45720" marB="45720" anchor="ctr">
                    <a:solidFill>
                      <a:srgbClr val="EEF5FC"/>
                    </a:solidFill>
                  </a:tcPr>
                </a:tc>
                <a:tc>
                  <a:txBody>
                    <a:bodyPr lIns="95250" tIns="76200" rIns="95250" bIns="76200"/>
                    <a:lstStyle/>
                    <a:p>
                      <a:r>
                        <a:rPr sz="1350" b="0">
                          <a:solidFill>
                            <a:srgbClr val="172033"/>
                          </a:solidFill>
                          <a:latin typeface="Calibri"/>
                          <a:ea typeface="Calibri"/>
                          <a:cs typeface="Calibri"/>
                        </a:rPr>
                        <a:t>Aggregators: no owned customer relationship and no integrated CRM</a:t>
                      </a:r>
                    </a:p>
                  </a:txBody>
                  <a:tcPr marL="91440" marR="91440" marT="45720" marB="45720" anchor="ctr">
                    <a:solidFill>
                      <a:srgbClr val="EEF5FC"/>
                    </a:solidFill>
                  </a:tcPr>
                </a:tc>
              </a:tr>
              <a:tr h="1066800">
                <a:tc>
                  <a:txBody>
                    <a:bodyPr lIns="95250" tIns="76200" rIns="95250" bIns="76200"/>
                    <a:lstStyle/>
                    <a:p>
                      <a:r>
                        <a:rPr sz="1425" b="1">
                          <a:solidFill>
                            <a:srgbClr val="022461"/>
                          </a:solidFill>
                          <a:latin typeface="Calibri"/>
                          <a:ea typeface="Calibri"/>
                          <a:cs typeface="Calibri"/>
                        </a:rPr>
                        <a:t>Learning management</a:t>
                      </a:r>
                    </a:p>
                    <a:p>
                      <a:r>
                        <a:rPr sz="1425" b="1">
                          <a:solidFill>
                            <a:srgbClr val="022461"/>
                          </a:solidFill>
                          <a:latin typeface="Calibri"/>
                          <a:ea typeface="Calibri"/>
                          <a:cs typeface="Calibri"/>
                        </a:rPr>
                        <a:t>e.g. Moodle</a:t>
                      </a:r>
                    </a:p>
                  </a:txBody>
                  <a:tcPr marL="91440" marR="91440" marT="45720" marB="45720" anchor="ctr">
                    <a:solidFill>
                      <a:srgbClr val="F7FAFE"/>
                    </a:solidFill>
                  </a:tcPr>
                </a:tc>
                <a:tc>
                  <a:txBody>
                    <a:bodyPr lIns="95250" tIns="76200" rIns="95250" bIns="76200"/>
                    <a:lstStyle/>
                    <a:p>
                      <a:r>
                        <a:rPr sz="1350" b="0">
                          <a:solidFill>
                            <a:srgbClr val="172033"/>
                          </a:solidFill>
                          <a:latin typeface="Calibri"/>
                          <a:ea typeface="Calibri"/>
                          <a:cs typeface="Calibri"/>
                        </a:rPr>
                        <a:t>Strong at delivering and tracking course content</a:t>
                      </a:r>
                    </a:p>
                  </a:txBody>
                  <a:tcPr marL="91440" marR="91440" marT="45720" marB="45720" anchor="ctr">
                    <a:solidFill>
                      <a:srgbClr val="F7FAFE"/>
                    </a:solidFill>
                  </a:tcPr>
                </a:tc>
                <a:tc>
                  <a:txBody>
                    <a:bodyPr lIns="95250" tIns="76200" rIns="95250" bIns="76200"/>
                    <a:lstStyle/>
                    <a:p>
                      <a:r>
                        <a:rPr sz="1350" b="0">
                          <a:solidFill>
                            <a:srgbClr val="172033"/>
                          </a:solidFill>
                          <a:latin typeface="Calibri"/>
                          <a:ea typeface="Calibri"/>
                          <a:cs typeface="Calibri"/>
                        </a:rPr>
                        <a:t>Built around content, not selling; commerce and CRM are bolted on</a:t>
                      </a:r>
                    </a:p>
                  </a:txBody>
                  <a:tcPr marL="91440" marR="91440" marT="45720" marB="45720" anchor="ctr">
                    <a:solidFill>
                      <a:srgbClr val="F7FAFE"/>
                    </a:solidFill>
                  </a:tcPr>
                </a:tc>
              </a:tr>
              <a:tr h="1066800">
                <a:tc>
                  <a:txBody>
                    <a:bodyPr lIns="95250" tIns="76200" rIns="95250" bIns="76200"/>
                    <a:lstStyle/>
                    <a:p>
                      <a:r>
                        <a:rPr sz="1425" b="1">
                          <a:solidFill>
                            <a:srgbClr val="022461"/>
                          </a:solidFill>
                          <a:latin typeface="Calibri"/>
                          <a:ea typeface="Calibri"/>
                          <a:cs typeface="Calibri"/>
                        </a:rPr>
                        <a:t>CRM platforms</a:t>
                      </a:r>
                    </a:p>
                    <a:p>
                      <a:r>
                        <a:rPr sz="1425" b="1">
                          <a:solidFill>
                            <a:srgbClr val="022461"/>
                          </a:solidFill>
                          <a:latin typeface="Calibri"/>
                          <a:ea typeface="Calibri"/>
                          <a:cs typeface="Calibri"/>
                        </a:rPr>
                        <a:t>e.g. Salesforce, HubSpot</a:t>
                      </a:r>
                    </a:p>
                  </a:txBody>
                  <a:tcPr marL="91440" marR="91440" marT="45720" marB="45720" anchor="ctr">
                    <a:solidFill>
                      <a:srgbClr val="EEF5FC"/>
                    </a:solidFill>
                  </a:tcPr>
                </a:tc>
                <a:tc>
                  <a:txBody>
                    <a:bodyPr lIns="95250" tIns="76200" rIns="95250" bIns="76200"/>
                    <a:lstStyle/>
                    <a:p>
                      <a:r>
                        <a:rPr sz="1350" b="0">
                          <a:solidFill>
                            <a:srgbClr val="172033"/>
                          </a:solidFill>
                          <a:latin typeface="Calibri"/>
                          <a:ea typeface="Calibri"/>
                          <a:cs typeface="Calibri"/>
                        </a:rPr>
                        <a:t>Powerful contacts, pipelines, lead scoring and reporting</a:t>
                      </a:r>
                    </a:p>
                  </a:txBody>
                  <a:tcPr marL="91440" marR="91440" marT="45720" marB="45720" anchor="ctr">
                    <a:solidFill>
                      <a:srgbClr val="EEF5FC"/>
                    </a:solidFill>
                  </a:tcPr>
                </a:tc>
                <a:tc>
                  <a:txBody>
                    <a:bodyPr lIns="95250" tIns="76200" rIns="95250" bIns="76200"/>
                    <a:lstStyle/>
                    <a:p>
                      <a:r>
                        <a:rPr sz="1350" b="0">
                          <a:solidFill>
                            <a:srgbClr val="172033"/>
                          </a:solidFill>
                          <a:latin typeface="Calibri"/>
                          <a:ea typeface="Calibri"/>
                          <a:cs typeface="Calibri"/>
                        </a:rPr>
                        <a:t>Generic: no course catalogue, trainer calendar or public storefront</a:t>
                      </a:r>
                    </a:p>
                  </a:txBody>
                  <a:tcPr marL="91440" marR="91440" marT="45720" marB="45720" anchor="ctr">
                    <a:solidFill>
                      <a:srgbClr val="EEF5FC"/>
                    </a:solidFill>
                  </a:tcPr>
                </a:tc>
              </a:tr>
              <a:tr h="1066800">
                <a:tc>
                  <a:txBody>
                    <a:bodyPr lIns="95250" tIns="76200" rIns="95250" bIns="76200"/>
                    <a:lstStyle/>
                    <a:p>
                      <a:r>
                        <a:rPr sz="1425" b="1">
                          <a:solidFill>
                            <a:srgbClr val="022461"/>
                          </a:solidFill>
                          <a:latin typeface="Calibri"/>
                          <a:ea typeface="Calibri"/>
                          <a:cs typeface="Calibri"/>
                        </a:rPr>
                        <a:t>E-commerce engines</a:t>
                      </a:r>
                    </a:p>
                    <a:p>
                      <a:r>
                        <a:rPr sz="1425" b="1">
                          <a:solidFill>
                            <a:srgbClr val="022461"/>
                          </a:solidFill>
                          <a:latin typeface="Calibri"/>
                          <a:ea typeface="Calibri"/>
                          <a:cs typeface="Calibri"/>
                        </a:rPr>
                        <a:t>e.g. WooCommerce</a:t>
                      </a:r>
                    </a:p>
                  </a:txBody>
                  <a:tcPr marL="91440" marR="91440" marT="45720" marB="45720" anchor="ctr">
                    <a:solidFill>
                      <a:srgbClr val="F7FAFE"/>
                    </a:solidFill>
                  </a:tcPr>
                </a:tc>
                <a:tc>
                  <a:txBody>
                    <a:bodyPr lIns="95250" tIns="76200" rIns="95250" bIns="76200"/>
                    <a:lstStyle/>
                    <a:p>
                      <a:r>
                        <a:rPr sz="1350" b="0">
                          <a:solidFill>
                            <a:srgbClr val="172033"/>
                          </a:solidFill>
                          <a:latin typeface="Calibri"/>
                          <a:ea typeface="Calibri"/>
                          <a:cs typeface="Calibri"/>
                        </a:rPr>
                        <a:t>Self-hosted and able to sell anything, including courses</a:t>
                      </a:r>
                    </a:p>
                  </a:txBody>
                  <a:tcPr marL="91440" marR="91440" marT="45720" marB="45720" anchor="ctr">
                    <a:solidFill>
                      <a:srgbClr val="F7FAFE"/>
                    </a:solidFill>
                  </a:tcPr>
                </a:tc>
                <a:tc>
                  <a:txBody>
                    <a:bodyPr lIns="95250" tIns="76200" rIns="95250" bIns="76200"/>
                    <a:lstStyle/>
                    <a:p>
                      <a:r>
                        <a:rPr sz="1350" b="0">
                          <a:solidFill>
                            <a:srgbClr val="172033"/>
                          </a:solidFill>
                          <a:latin typeface="Calibri"/>
                          <a:ea typeface="Calibri"/>
                          <a:cs typeface="Calibri"/>
                        </a:rPr>
                        <a:t>A course is only a product: no lead stages, tutoring sessions or corporate training</a:t>
                      </a:r>
                    </a:p>
                  </a:txBody>
                  <a:tcPr marL="91440" marR="91440" marT="45720" marB="45720" anchor="ctr">
                    <a:solidFill>
                      <a:srgbClr val="F7FAFE"/>
                    </a:solidFill>
                  </a:tcPr>
                </a:tc>
              </a:tr>
            </a:tbl>
          </a:graphicData>
        </a:graphic>
      </p:graphicFrame>
      <p:sp>
        <p:nvSpPr>
          <p:cNvPr id="8" name="related-work-takeaway">
            <a:extLst xmlns:a="http://schemas.openxmlformats.org/drawingml/2006/main">
              <a:ext uri="{FF2B5EF4-FFF2-40B4-BE49-F238E27FC236}">
                <a16:creationId xmlns:a16="http://schemas.microsoft.com/office/drawing/2014/main" id="{4E719F2D-5E04-4F90-BB55-56E396876C7E}"/>
              </a:ext>
            </a:extLst>
          </p:cNvPr>
          <p:cNvSpPr>
            <a:spLocks xmlns:a="http://schemas.openxmlformats.org/drawingml/2006/main" noGrp="1"/>
          </p:cNvSpPr>
          <p:nvPr/>
        </p:nvSpPr>
        <p:spPr>
          <a:xfrm xmlns:a="http://schemas.openxmlformats.org/drawingml/2006/main">
            <a:off x="2571750" y="7477125"/>
            <a:ext cx="13335000" cy="1066800"/>
          </a:xfrm>
          <a:prstGeom xmlns:a="http://schemas.openxmlformats.org/drawingml/2006/main" prst="roundRect">
            <a:avLst>
              <a:gd name="adj" fmla="val 12500"/>
            </a:avLst>
          </a:prstGeom>
          <a:solidFill xmlns:a="http://schemas.openxmlformats.org/drawingml/2006/main">
            <a:srgbClr val="022461"/>
          </a:solidFill>
          <a:ln xmlns:a="http://schemas.openxmlformats.org/drawingml/2006/main" w="0">
            <a:solidFill>
              <a:srgbClr val="022461"/>
            </a:solidFill>
            <a:prstDash val="solid"/>
          </a:ln>
        </p:spPr>
        <p:txBody>
          <a:bodyPr xmlns:a="http://schemas.openxmlformats.org/drawingml/2006/main" wrap="square" lIns="266700" tIns="171450" rIns="266700" bIns="171450" anchor="ctr">
            <a:noAutofit/>
          </a:bodyPr>
          <a:lstStyle xmlns:a="http://schemas.openxmlformats.org/drawingml/2006/main"/>
          <a:p xmlns:a="http://schemas.openxmlformats.org/drawingml/2006/main">
            <a:pPr algn="ctr">
              <a:defRPr sz="1650" b="1">
                <a:solidFill>
                  <a:srgbClr val="FFFFFF"/>
                </a:solidFill>
                <a:latin typeface="Calibri"/>
                <a:ea typeface="Calibri"/>
                <a:cs typeface="Calibri"/>
              </a:defRPr>
            </a:pPr>
            <a:r>
              <a:rPr sz="1650" b="1">
                <a:solidFill>
                  <a:srgbClr val="FFFFFF"/>
                </a:solidFill>
                <a:latin typeface="Calibri"/>
                <a:ea typeface="Calibri"/>
                <a:cs typeface="Calibri"/>
              </a:rPr>
              <a:t>TrainingIT unifies both sides on one shared data model and specializes CRM workflows for training: sessions, calendars, tutoring, discounts and course analytics.</a:t>
            </a:r>
          </a:p>
        </p:txBody>
      </p:sp>
    </p:spTree>
    <p:extLst>
      <p:ext uri="{BB962C8B-B14F-4D97-AF65-F5344CB8AC3E}">
        <p14:creationId xmlns:p14="http://schemas.microsoft.com/office/powerpoint/2010/main" val="38539004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F1FE47A-19E1-4EEF-B12F-5F1D4F60D89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a504abb097584ca4"/>
            <a:stretch>
              <a:fillRect l="0" t="0" r="0" b="0"/>
            </a:stretch>
          </a:blipFill>
        </p:spPr>
      </p:sp>
      <p:sp>
        <p:nvSpPr>
          <p:cNvPr id="3" name="slide-3-title">
            <a:extLst xmlns:a="http://schemas.openxmlformats.org/drawingml/2006/main">
              <a:ext uri="{FF2B5EF4-FFF2-40B4-BE49-F238E27FC236}">
                <a16:creationId xmlns:a16="http://schemas.microsoft.com/office/drawing/2014/main" id="{4048A1C2-63EE-43C0-95D2-8ABB082F5AF1}"/>
              </a:ext>
            </a:extLst>
          </p:cNvPr>
          <p:cNvSpPr>
            <a:spLocks xmlns:a="http://schemas.openxmlformats.org/drawingml/2006/main" noGrp="1"/>
          </p:cNvSpPr>
          <p:nvPr/>
        </p:nvSpPr>
        <p:spPr>
          <a:xfrm xmlns:a="http://schemas.openxmlformats.org/drawingml/2006/main">
            <a:off x="2381250" y="3238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Contribution</a:t>
            </a:r>
          </a:p>
        </p:txBody>
      </p:sp>
      <p:sp>
        <p:nvSpPr>
          <p:cNvPr id="4" name="slide-3-subtitle">
            <a:extLst xmlns:a="http://schemas.openxmlformats.org/drawingml/2006/main">
              <a:ext uri="{FF2B5EF4-FFF2-40B4-BE49-F238E27FC236}">
                <a16:creationId xmlns:a16="http://schemas.microsoft.com/office/drawing/2014/main" id="{D6468100-885D-4602-B3B6-5528FE13DF3D}"/>
              </a:ext>
            </a:extLst>
          </p:cNvPr>
          <p:cNvSpPr>
            <a:spLocks xmlns:a="http://schemas.openxmlformats.org/drawingml/2006/main" noGrp="1"/>
          </p:cNvSpPr>
          <p:nvPr/>
        </p:nvSpPr>
        <p:spPr>
          <a:xfrm xmlns:a="http://schemas.openxmlformats.org/drawingml/2006/main">
            <a:off x="2381250" y="9144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2F5D8C"/>
                </a:solidFill>
                <a:latin typeface="Calibri"/>
                <a:ea typeface="Calibri"/>
                <a:cs typeface="Calibri"/>
              </a:defRPr>
            </a:pPr>
            <a:r>
              <a:rPr sz="1875" b="0">
                <a:solidFill>
                  <a:srgbClr val="2F5D8C"/>
                </a:solidFill>
                <a:latin typeface="Calibri"/>
                <a:ea typeface="Calibri"/>
                <a:cs typeface="Calibri"/>
              </a:rPr>
              <a:t>A working product: storefront and CRM operate as one system</a:t>
            </a:r>
          </a:p>
        </p:txBody>
      </p:sp>
      <p:sp>
        <p:nvSpPr>
          <p:cNvPr id="5" name="slide-3-page-number">
            <a:extLst xmlns:a="http://schemas.openxmlformats.org/drawingml/2006/main">
              <a:ext uri="{FF2B5EF4-FFF2-40B4-BE49-F238E27FC236}">
                <a16:creationId xmlns:a16="http://schemas.microsoft.com/office/drawing/2014/main" id="{1347F022-E81B-44C9-B2E4-D6E966D87F21}"/>
              </a:ext>
            </a:extLst>
          </p:cNvPr>
          <p:cNvSpPr>
            <a:spLocks xmlns:a="http://schemas.openxmlformats.org/drawingml/2006/main" noGrp="1"/>
          </p:cNvSpPr>
          <p:nvPr/>
        </p:nvSpPr>
        <p:spPr>
          <a:xfrm xmlns:a="http://schemas.openxmlformats.org/drawingml/2006/main">
            <a:off x="8620125" y="98488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1">
                <a:solidFill>
                  <a:srgbClr val="2F5D8C"/>
                </a:solidFill>
                <a:latin typeface="Calibri"/>
                <a:ea typeface="Calibri"/>
                <a:cs typeface="Calibri"/>
              </a:defRPr>
            </a:pPr>
            <a:r>
              <a:rPr sz="1125" b="1">
                <a:solidFill>
                  <a:srgbClr val="2F5D8C"/>
                </a:solidFill>
                <a:latin typeface="Calibri"/>
                <a:ea typeface="Calibri"/>
                <a:cs typeface="Calibri"/>
              </a:rPr>
              <a:t>3 / 7</a:t>
            </a:r>
          </a:p>
        </p:txBody>
      </p:sp>
      <p:sp>
        <p:nvSpPr>
          <p:cNvPr id="6" name="applied-contribution-heading">
            <a:extLst xmlns:a="http://schemas.openxmlformats.org/drawingml/2006/main">
              <a:ext uri="{FF2B5EF4-FFF2-40B4-BE49-F238E27FC236}">
                <a16:creationId xmlns:a16="http://schemas.microsoft.com/office/drawing/2014/main" id="{15332C89-880D-4C4E-A73C-79A45FEA9624}"/>
              </a:ext>
            </a:extLst>
          </p:cNvPr>
          <p:cNvSpPr>
            <a:spLocks xmlns:a="http://schemas.openxmlformats.org/drawingml/2006/main" noGrp="1"/>
          </p:cNvSpPr>
          <p:nvPr/>
        </p:nvSpPr>
        <p:spPr>
          <a:xfrm xmlns:a="http://schemas.openxmlformats.org/drawingml/2006/main">
            <a:off x="2571750" y="1762125"/>
            <a:ext cx="1333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22461"/>
                </a:solidFill>
                <a:latin typeface="Helvetica Now Display Bold"/>
                <a:ea typeface="Helvetica Now Display Bold"/>
                <a:cs typeface="Helvetica Now Display Bold"/>
              </a:defRPr>
            </a:pPr>
            <a:r>
              <a:rPr sz="2250" b="1">
                <a:solidFill>
                  <a:srgbClr val="022461"/>
                </a:solidFill>
                <a:latin typeface="Helvetica Now Display Bold"/>
                <a:ea typeface="Helvetica Now Display Bold"/>
                <a:cs typeface="Helvetica Now Display Bold"/>
              </a:rPr>
              <a:t>Applied contribution</a:t>
            </a:r>
          </a:p>
        </p:txBody>
      </p:sp>
      <p:sp>
        <p:nvSpPr>
          <p:cNvPr id="7" name="applied-contribution-body">
            <a:extLst xmlns:a="http://schemas.openxmlformats.org/drawingml/2006/main">
              <a:ext uri="{FF2B5EF4-FFF2-40B4-BE49-F238E27FC236}">
                <a16:creationId xmlns:a16="http://schemas.microsoft.com/office/drawing/2014/main" id="{E5CAE5DD-2273-4856-A1DB-0F9B89A3E335}"/>
              </a:ext>
            </a:extLst>
          </p:cNvPr>
          <p:cNvSpPr>
            <a:spLocks xmlns:a="http://schemas.openxmlformats.org/drawingml/2006/main" noGrp="1"/>
          </p:cNvSpPr>
          <p:nvPr/>
        </p:nvSpPr>
        <p:spPr>
          <a:xfrm xmlns:a="http://schemas.openxmlformats.org/drawingml/2006/main">
            <a:off x="2571750" y="2238375"/>
            <a:ext cx="13335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033"/>
                </a:solidFill>
                <a:latin typeface="Calibri"/>
                <a:ea typeface="Calibri"/>
                <a:cs typeface="Calibri"/>
              </a:defRPr>
            </a:pPr>
            <a:r>
              <a:rPr sz="1800" b="0">
                <a:solidFill>
                  <a:srgbClr val="172033"/>
                </a:solidFill>
                <a:latin typeface="Calibri"/>
                <a:ea typeface="Calibri"/>
                <a:cs typeface="Calibri"/>
              </a:rPr>
              <a:t>TrainingIT combines a course marketplace and CRM in one Java web application. Each customer action is stored once and drives event-based workflows; the Claude AI layer remains optional.</a:t>
            </a:r>
          </a:p>
        </p:txBody>
      </p:sp>
      <p:sp>
        <p:nvSpPr>
          <p:cNvPr id="8" name="">
            <a:extLst xmlns:a="http://schemas.openxmlformats.org/drawingml/2006/main">
              <a:ext uri="{FF2B5EF4-FFF2-40B4-BE49-F238E27FC236}">
                <a16:creationId xmlns:a16="http://schemas.microsoft.com/office/drawing/2014/main" id="{E6D1EE98-B706-4E55-8B15-B940CA835D98}"/>
              </a:ext>
            </a:extLst>
          </p:cNvPr>
          <p:cNvSpPr>
            <a:spLocks xmlns:a="http://schemas.openxmlformats.org/drawingml/2006/main" noGrp="1"/>
          </p:cNvSpPr>
          <p:nvPr/>
        </p:nvSpPr>
        <p:spPr>
          <a:xfrm xmlns:a="http://schemas.openxmlformats.org/drawingml/2006/main">
            <a:off x="2571750" y="3619500"/>
            <a:ext cx="13335000" cy="0"/>
          </a:xfrm>
          <a:prstGeom xmlns:a="http://schemas.openxmlformats.org/drawingml/2006/main" prst="line">
            <a:avLst/>
          </a:prstGeom>
          <a:noFill xmlns:a="http://schemas.openxmlformats.org/drawingml/2006/main"/>
          <a:ln xmlns:a="http://schemas.openxmlformats.org/drawingml/2006/main" w="28575">
            <a:solidFill>
              <a:srgbClr val="022461"/>
            </a:solidFill>
            <a:prstDash val="solid"/>
          </a:ln>
        </p:spPr>
      </p:sp>
      <p:sp>
        <p:nvSpPr>
          <p:cNvPr id="9" name="objectives-heading">
            <a:extLst xmlns:a="http://schemas.openxmlformats.org/drawingml/2006/main">
              <a:ext uri="{FF2B5EF4-FFF2-40B4-BE49-F238E27FC236}">
                <a16:creationId xmlns:a16="http://schemas.microsoft.com/office/drawing/2014/main" id="{DB5DAAB4-B9B8-4B9E-B276-7E1225FD353A}"/>
              </a:ext>
            </a:extLst>
          </p:cNvPr>
          <p:cNvSpPr>
            <a:spLocks xmlns:a="http://schemas.openxmlformats.org/drawingml/2006/main" noGrp="1"/>
          </p:cNvSpPr>
          <p:nvPr/>
        </p:nvSpPr>
        <p:spPr>
          <a:xfrm xmlns:a="http://schemas.openxmlformats.org/drawingml/2006/main">
            <a:off x="2571750" y="3952875"/>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588E6"/>
                </a:solidFill>
                <a:latin typeface="Helvetica Now Display Bold"/>
                <a:ea typeface="Helvetica Now Display Bold"/>
                <a:cs typeface="Helvetica Now Display Bold"/>
              </a:defRPr>
            </a:pPr>
            <a:r>
              <a:rPr sz="2250" b="1">
                <a:solidFill>
                  <a:srgbClr val="2588E6"/>
                </a:solidFill>
                <a:latin typeface="Helvetica Now Display Bold"/>
                <a:ea typeface="Helvetica Now Display Bold"/>
                <a:cs typeface="Helvetica Now Display Bold"/>
              </a:rPr>
              <a:t>Objectives</a:t>
            </a:r>
          </a:p>
        </p:txBody>
      </p:sp>
      <p:sp>
        <p:nvSpPr>
          <p:cNvPr id="10" name="objectives-list">
            <a:extLst xmlns:a="http://schemas.openxmlformats.org/drawingml/2006/main">
              <a:ext uri="{FF2B5EF4-FFF2-40B4-BE49-F238E27FC236}">
                <a16:creationId xmlns:a16="http://schemas.microsoft.com/office/drawing/2014/main" id="{ACB4773E-2D05-4092-AB49-24548FBFBFC3}"/>
              </a:ext>
            </a:extLst>
          </p:cNvPr>
          <p:cNvSpPr>
            <a:spLocks xmlns:a="http://schemas.openxmlformats.org/drawingml/2006/main" noGrp="1"/>
          </p:cNvSpPr>
          <p:nvPr/>
        </p:nvSpPr>
        <p:spPr>
          <a:xfrm xmlns:a="http://schemas.openxmlformats.org/drawingml/2006/main">
            <a:off x="2667000" y="4572000"/>
            <a:ext cx="6096000"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Learner portal: browse, buy, review and book tutoring.</a:t>
            </a:r>
          </a:p>
          <a:p xmlns:a="http://schemas.openxmlformats.org/drawingml/2006/main">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Admin portal with seven management tabs.</a:t>
            </a:r>
          </a:p>
          <a:p xmlns:a="http://schemas.openxmlformats.org/drawingml/2006/main">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Event-driven domain automation.</a:t>
            </a:r>
          </a:p>
          <a:p xmlns:a="http://schemas.openxmlformats.org/drawingml/2006/main">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Optional, fault-tolerant AI assistant.</a:t>
            </a:r>
          </a:p>
          <a:p xmlns:a="http://schemas.openxmlformats.org/drawingml/2006/main">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Operational and CRM data in MariaDB.</a:t>
            </a:r>
          </a:p>
        </p:txBody>
      </p:sp>
      <p:sp>
        <p:nvSpPr>
          <p:cNvPr id="11" name="boundary-heading">
            <a:extLst xmlns:a="http://schemas.openxmlformats.org/drawingml/2006/main">
              <a:ext uri="{FF2B5EF4-FFF2-40B4-BE49-F238E27FC236}">
                <a16:creationId xmlns:a16="http://schemas.microsoft.com/office/drawing/2014/main" id="{2D288D6A-5815-4F6D-B2CE-92F6DB35B1E9}"/>
              </a:ext>
            </a:extLst>
          </p:cNvPr>
          <p:cNvSpPr>
            <a:spLocks xmlns:a="http://schemas.openxmlformats.org/drawingml/2006/main" noGrp="1"/>
          </p:cNvSpPr>
          <p:nvPr/>
        </p:nvSpPr>
        <p:spPr>
          <a:xfrm xmlns:a="http://schemas.openxmlformats.org/drawingml/2006/main">
            <a:off x="9620250" y="3952875"/>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22461"/>
                </a:solidFill>
                <a:latin typeface="Helvetica Now Display Bold"/>
                <a:ea typeface="Helvetica Now Display Bold"/>
                <a:cs typeface="Helvetica Now Display Bold"/>
              </a:defRPr>
            </a:pPr>
            <a:r>
              <a:rPr sz="2250" b="1">
                <a:solidFill>
                  <a:srgbClr val="022461"/>
                </a:solidFill>
                <a:latin typeface="Helvetica Now Display Bold"/>
                <a:ea typeface="Helvetica Now Display Bold"/>
                <a:cs typeface="Helvetica Now Display Bold"/>
              </a:rPr>
              <a:t>Design boundary</a:t>
            </a:r>
          </a:p>
        </p:txBody>
      </p:sp>
      <p:sp>
        <p:nvSpPr>
          <p:cNvPr id="12" name="boundary-body">
            <a:extLst xmlns:a="http://schemas.openxmlformats.org/drawingml/2006/main">
              <a:ext uri="{FF2B5EF4-FFF2-40B4-BE49-F238E27FC236}">
                <a16:creationId xmlns:a16="http://schemas.microsoft.com/office/drawing/2014/main" id="{A171DEDC-5801-4C0C-A87E-4ACFC56BB2E2}"/>
              </a:ext>
            </a:extLst>
          </p:cNvPr>
          <p:cNvSpPr>
            <a:spLocks xmlns:a="http://schemas.openxmlformats.org/drawingml/2006/main" noGrp="1"/>
          </p:cNvSpPr>
          <p:nvPr/>
        </p:nvSpPr>
        <p:spPr>
          <a:xfrm xmlns:a="http://schemas.openxmlformats.org/drawingml/2006/main">
            <a:off x="9620250" y="4572000"/>
            <a:ext cx="6191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033"/>
                </a:solidFill>
                <a:latin typeface="Calibri"/>
                <a:ea typeface="Calibri"/>
                <a:cs typeface="Calibri"/>
              </a:defRPr>
            </a:pPr>
            <a:r>
              <a:rPr sz="1800" b="0">
                <a:solidFill>
                  <a:srgbClr val="172033"/>
                </a:solidFill>
                <a:latin typeface="Calibri"/>
                <a:ea typeface="Calibri"/>
                <a:cs typeface="Calibri"/>
              </a:rPr>
              <a:t>Not a general-purpose e-commerce platform or CRM.</a:t>
            </a:r>
          </a:p>
          <a:p xmlns:a="http://schemas.openxmlformats.org/drawingml/2006/main">
            <a:r>
              <a:t/>
            </a:r>
          </a:p>
          <a:p xmlns:a="http://schemas.openxmlformats.org/drawingml/2006/main">
            <a:pPr algn="l">
              <a:defRPr sz="1800" b="0">
                <a:solidFill>
                  <a:srgbClr val="172033"/>
                </a:solidFill>
                <a:latin typeface="Calibri"/>
                <a:ea typeface="Calibri"/>
                <a:cs typeface="Calibri"/>
              </a:defRPr>
            </a:pPr>
            <a:r>
              <a:rPr sz="1800" b="0">
                <a:solidFill>
                  <a:srgbClr val="172033"/>
                </a:solidFill>
                <a:latin typeface="Calibri"/>
                <a:ea typeface="Calibri"/>
                <a:cs typeface="Calibri"/>
              </a:rPr>
              <a:t>A focused training-company system: learner storefront plus a CRM a small team can run, with AI strictly additive.</a:t>
            </a:r>
          </a:p>
        </p:txBody>
      </p:sp>
    </p:spTree>
    <p:extLst>
      <p:ext uri="{BB962C8B-B14F-4D97-AF65-F5344CB8AC3E}">
        <p14:creationId xmlns:p14="http://schemas.microsoft.com/office/powerpoint/2010/main" val="38539004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F1FE47A-19E1-4EEF-B12F-5F1D4F60D89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a3cca44416cb434c"/>
            <a:stretch>
              <a:fillRect l="0" t="0" r="0" b="0"/>
            </a:stretch>
          </a:blipFill>
        </p:spPr>
      </p:sp>
      <p:sp>
        <p:nvSpPr>
          <p:cNvPr id="3" name="slide-4-title">
            <a:extLst xmlns:a="http://schemas.openxmlformats.org/drawingml/2006/main">
              <a:ext uri="{FF2B5EF4-FFF2-40B4-BE49-F238E27FC236}">
                <a16:creationId xmlns:a16="http://schemas.microsoft.com/office/drawing/2014/main" id="{0131B381-DAAB-479E-94D9-F53E566A7279}"/>
              </a:ext>
            </a:extLst>
          </p:cNvPr>
          <p:cNvSpPr>
            <a:spLocks xmlns:a="http://schemas.openxmlformats.org/drawingml/2006/main" noGrp="1"/>
          </p:cNvSpPr>
          <p:nvPr/>
        </p:nvSpPr>
        <p:spPr>
          <a:xfrm xmlns:a="http://schemas.openxmlformats.org/drawingml/2006/main">
            <a:off x="2381250" y="3238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System Architecture</a:t>
            </a:r>
          </a:p>
        </p:txBody>
      </p:sp>
      <p:sp>
        <p:nvSpPr>
          <p:cNvPr id="4" name="slide-4-subtitle">
            <a:extLst xmlns:a="http://schemas.openxmlformats.org/drawingml/2006/main">
              <a:ext uri="{FF2B5EF4-FFF2-40B4-BE49-F238E27FC236}">
                <a16:creationId xmlns:a16="http://schemas.microsoft.com/office/drawing/2014/main" id="{D30B24DD-AE9B-4887-8B49-95AC0C07FA41}"/>
              </a:ext>
            </a:extLst>
          </p:cNvPr>
          <p:cNvSpPr>
            <a:spLocks xmlns:a="http://schemas.openxmlformats.org/drawingml/2006/main" noGrp="1"/>
          </p:cNvSpPr>
          <p:nvPr/>
        </p:nvSpPr>
        <p:spPr>
          <a:xfrm xmlns:a="http://schemas.openxmlformats.org/drawingml/2006/main">
            <a:off x="2381250" y="9144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2F5D8C"/>
                </a:solidFill>
                <a:latin typeface="Calibri"/>
                <a:ea typeface="Calibri"/>
                <a:cs typeface="Calibri"/>
              </a:defRPr>
            </a:pPr>
            <a:r>
              <a:rPr sz="1875" b="0">
                <a:solidFill>
                  <a:srgbClr val="2F5D8C"/>
                </a:solidFill>
                <a:latin typeface="Calibri"/>
                <a:ea typeface="Calibri"/>
                <a:cs typeface="Calibri"/>
              </a:rPr>
              <a:t>Four layers behind one REST API and a real-time event stream</a:t>
            </a:r>
          </a:p>
        </p:txBody>
      </p:sp>
      <p:sp>
        <p:nvSpPr>
          <p:cNvPr id="5" name="slide-4-page-number">
            <a:extLst xmlns:a="http://schemas.openxmlformats.org/drawingml/2006/main">
              <a:ext uri="{FF2B5EF4-FFF2-40B4-BE49-F238E27FC236}">
                <a16:creationId xmlns:a16="http://schemas.microsoft.com/office/drawing/2014/main" id="{98F271DE-C268-4986-A555-21C75EBDAAD6}"/>
              </a:ext>
            </a:extLst>
          </p:cNvPr>
          <p:cNvSpPr>
            <a:spLocks xmlns:a="http://schemas.openxmlformats.org/drawingml/2006/main" noGrp="1"/>
          </p:cNvSpPr>
          <p:nvPr/>
        </p:nvSpPr>
        <p:spPr>
          <a:xfrm xmlns:a="http://schemas.openxmlformats.org/drawingml/2006/main">
            <a:off x="8620125" y="98488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1">
                <a:solidFill>
                  <a:srgbClr val="2F5D8C"/>
                </a:solidFill>
                <a:latin typeface="Calibri"/>
                <a:ea typeface="Calibri"/>
                <a:cs typeface="Calibri"/>
              </a:defRPr>
            </a:pPr>
            <a:r>
              <a:rPr sz="1125" b="1">
                <a:solidFill>
                  <a:srgbClr val="2F5D8C"/>
                </a:solidFill>
                <a:latin typeface="Calibri"/>
                <a:ea typeface="Calibri"/>
                <a:cs typeface="Calibri"/>
              </a:rPr>
              <a:t>4 / 7</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fdac3eb475a404d"/>
          <a:stretch xmlns:a="http://schemas.openxmlformats.org/drawingml/2006/main"/>
        </p:blipFill>
        <p:spPr>
          <a:xfrm xmlns:a="http://schemas.openxmlformats.org/drawingml/2006/main">
            <a:off x="4431167" y="1619250"/>
            <a:ext cx="9425666" cy="7620000"/>
          </a:xfrm>
          <a:prstGeom xmlns:a="http://schemas.openxmlformats.org/drawingml/2006/main" prst="rect">
            <a:avLst/>
          </a:prstGeom>
        </p:spPr>
      </p:pic>
    </p:spTree>
    <p:extLst>
      <p:ext uri="{BB962C8B-B14F-4D97-AF65-F5344CB8AC3E}">
        <p14:creationId xmlns:p14="http://schemas.microsoft.com/office/powerpoint/2010/main" val="38539004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F1FE47A-19E1-4EEF-B12F-5F1D4F60D89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e62d6efe42d94cdd"/>
            <a:stretch>
              <a:fillRect l="0" t="0" r="0" b="0"/>
            </a:stretch>
          </a:blipFill>
        </p:spPr>
      </p:sp>
      <p:sp>
        <p:nvSpPr>
          <p:cNvPr id="3" name="slide-5-title">
            <a:extLst xmlns:a="http://schemas.openxmlformats.org/drawingml/2006/main">
              <a:ext uri="{FF2B5EF4-FFF2-40B4-BE49-F238E27FC236}">
                <a16:creationId xmlns:a16="http://schemas.microsoft.com/office/drawing/2014/main" id="{56D3C46A-0031-4838-8878-4FAB4B3A04CC}"/>
              </a:ext>
            </a:extLst>
          </p:cNvPr>
          <p:cNvSpPr>
            <a:spLocks xmlns:a="http://schemas.openxmlformats.org/drawingml/2006/main" noGrp="1"/>
          </p:cNvSpPr>
          <p:nvPr/>
        </p:nvSpPr>
        <p:spPr>
          <a:xfrm xmlns:a="http://schemas.openxmlformats.org/drawingml/2006/main">
            <a:off x="2381250" y="3238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The AI Layer</a:t>
            </a:r>
          </a:p>
        </p:txBody>
      </p:sp>
      <p:sp>
        <p:nvSpPr>
          <p:cNvPr id="4" name="slide-5-subtitle">
            <a:extLst xmlns:a="http://schemas.openxmlformats.org/drawingml/2006/main">
              <a:ext uri="{FF2B5EF4-FFF2-40B4-BE49-F238E27FC236}">
                <a16:creationId xmlns:a16="http://schemas.microsoft.com/office/drawing/2014/main" id="{B3460B52-BEED-42C6-9A14-03FF23F48629}"/>
              </a:ext>
            </a:extLst>
          </p:cNvPr>
          <p:cNvSpPr>
            <a:spLocks xmlns:a="http://schemas.openxmlformats.org/drawingml/2006/main" noGrp="1"/>
          </p:cNvSpPr>
          <p:nvPr/>
        </p:nvSpPr>
        <p:spPr>
          <a:xfrm xmlns:a="http://schemas.openxmlformats.org/drawingml/2006/main">
            <a:off x="2381250" y="9144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2F5D8C"/>
                </a:solidFill>
                <a:latin typeface="Calibri"/>
                <a:ea typeface="Calibri"/>
                <a:cs typeface="Calibri"/>
              </a:defRPr>
            </a:pPr>
            <a:r>
              <a:rPr sz="1875" b="0">
                <a:solidFill>
                  <a:srgbClr val="2F5D8C"/>
                </a:solidFill>
                <a:latin typeface="Calibri"/>
                <a:ea typeface="Calibri"/>
                <a:cs typeface="Calibri"/>
              </a:rPr>
              <a:t>Optional intelligence, powered by the Anthropic Claude API</a:t>
            </a:r>
          </a:p>
        </p:txBody>
      </p:sp>
      <p:sp>
        <p:nvSpPr>
          <p:cNvPr id="5" name="slide-5-page-number">
            <a:extLst xmlns:a="http://schemas.openxmlformats.org/drawingml/2006/main">
              <a:ext uri="{FF2B5EF4-FFF2-40B4-BE49-F238E27FC236}">
                <a16:creationId xmlns:a16="http://schemas.microsoft.com/office/drawing/2014/main" id="{7FBCA810-46C6-46E9-8919-8EEDC068E264}"/>
              </a:ext>
            </a:extLst>
          </p:cNvPr>
          <p:cNvSpPr>
            <a:spLocks xmlns:a="http://schemas.openxmlformats.org/drawingml/2006/main" noGrp="1"/>
          </p:cNvSpPr>
          <p:nvPr/>
        </p:nvSpPr>
        <p:spPr>
          <a:xfrm xmlns:a="http://schemas.openxmlformats.org/drawingml/2006/main">
            <a:off x="8620125" y="98488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1">
                <a:solidFill>
                  <a:srgbClr val="2F5D8C"/>
                </a:solidFill>
                <a:latin typeface="Calibri"/>
                <a:ea typeface="Calibri"/>
                <a:cs typeface="Calibri"/>
              </a:defRPr>
            </a:pPr>
            <a:r>
              <a:rPr sz="1125" b="1">
                <a:solidFill>
                  <a:srgbClr val="2F5D8C"/>
                </a:solidFill>
                <a:latin typeface="Calibri"/>
                <a:ea typeface="Calibri"/>
                <a:cs typeface="Calibri"/>
              </a:rPr>
              <a:t>5 / 7</a:t>
            </a:r>
          </a:p>
        </p:txBody>
      </p:sp>
      <p:sp>
        <p:nvSpPr>
          <p:cNvPr id="6" name="ai-feature-1-heading">
            <a:extLst xmlns:a="http://schemas.openxmlformats.org/drawingml/2006/main">
              <a:ext uri="{FF2B5EF4-FFF2-40B4-BE49-F238E27FC236}">
                <a16:creationId xmlns:a16="http://schemas.microsoft.com/office/drawing/2014/main" id="{AAB9341D-2020-46FC-8E3E-036F710AAD14}"/>
              </a:ext>
            </a:extLst>
          </p:cNvPr>
          <p:cNvSpPr>
            <a:spLocks xmlns:a="http://schemas.openxmlformats.org/drawingml/2006/main" noGrp="1"/>
          </p:cNvSpPr>
          <p:nvPr/>
        </p:nvSpPr>
        <p:spPr>
          <a:xfrm xmlns:a="http://schemas.openxmlformats.org/drawingml/2006/main">
            <a:off x="2571750" y="176212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Conversational assistant</a:t>
            </a:r>
          </a:p>
        </p:txBody>
      </p:sp>
      <p:sp>
        <p:nvSpPr>
          <p:cNvPr id="7" name="ai-feature-1-endpoint">
            <a:extLst xmlns:a="http://schemas.openxmlformats.org/drawingml/2006/main">
              <a:ext uri="{FF2B5EF4-FFF2-40B4-BE49-F238E27FC236}">
                <a16:creationId xmlns:a16="http://schemas.microsoft.com/office/drawing/2014/main" id="{0DAC9AA7-2B03-46D0-8BD0-3F3105DE1658}"/>
              </a:ext>
            </a:extLst>
          </p:cNvPr>
          <p:cNvSpPr>
            <a:spLocks xmlns:a="http://schemas.openxmlformats.org/drawingml/2006/main" noGrp="1"/>
          </p:cNvSpPr>
          <p:nvPr/>
        </p:nvSpPr>
        <p:spPr>
          <a:xfrm xmlns:a="http://schemas.openxmlformats.org/drawingml/2006/main">
            <a:off x="6572250" y="17811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/api/ai/chat</a:t>
            </a:r>
          </a:p>
        </p:txBody>
      </p:sp>
      <p:sp>
        <p:nvSpPr>
          <p:cNvPr id="8" name="ai-feature-1-body">
            <a:extLst xmlns:a="http://schemas.openxmlformats.org/drawingml/2006/main">
              <a:ext uri="{FF2B5EF4-FFF2-40B4-BE49-F238E27FC236}">
                <a16:creationId xmlns:a16="http://schemas.microsoft.com/office/drawing/2014/main" id="{9751B014-C7E1-49A7-AFBE-4A79F1EC2D49}"/>
              </a:ext>
            </a:extLst>
          </p:cNvPr>
          <p:cNvSpPr>
            <a:spLocks xmlns:a="http://schemas.openxmlformats.org/drawingml/2006/main" noGrp="1"/>
          </p:cNvSpPr>
          <p:nvPr/>
        </p:nvSpPr>
        <p:spPr>
          <a:xfrm xmlns:a="http://schemas.openxmlformats.org/drawingml/2006/main">
            <a:off x="2571750" y="2190750"/>
            <a:ext cx="7334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72033"/>
                </a:solidFill>
                <a:latin typeface="Calibri"/>
                <a:ea typeface="Calibri"/>
                <a:cs typeface="Calibri"/>
              </a:defRPr>
            </a:pPr>
            <a:r>
              <a:rPr sz="1575" b="0">
                <a:solidFill>
                  <a:srgbClr val="172033"/>
                </a:solidFill>
                <a:latin typeface="Calibri"/>
                <a:ea typeface="Calibri"/>
                <a:cs typeface="Calibri"/>
              </a:rPr>
              <a:t>Answers questions about courses, enrolment and corporate training using the live catalogue as context.</a:t>
            </a:r>
          </a:p>
        </p:txBody>
      </p:sp>
      <p:sp>
        <p:nvSpPr>
          <p:cNvPr id="9" name="">
            <a:extLst xmlns:a="http://schemas.openxmlformats.org/drawingml/2006/main">
              <a:ext uri="{FF2B5EF4-FFF2-40B4-BE49-F238E27FC236}">
                <a16:creationId xmlns:a16="http://schemas.microsoft.com/office/drawing/2014/main" id="{1ED46A7B-7852-4A64-A102-0F9883BC7612}"/>
              </a:ext>
            </a:extLst>
          </p:cNvPr>
          <p:cNvSpPr>
            <a:spLocks xmlns:a="http://schemas.openxmlformats.org/drawingml/2006/main" noGrp="1"/>
          </p:cNvSpPr>
          <p:nvPr/>
        </p:nvSpPr>
        <p:spPr>
          <a:xfrm xmlns:a="http://schemas.openxmlformats.org/drawingml/2006/main">
            <a:off x="2571750" y="3114675"/>
            <a:ext cx="7334250" cy="0"/>
          </a:xfrm>
          <a:prstGeom xmlns:a="http://schemas.openxmlformats.org/drawingml/2006/main" prst="line">
            <a:avLst/>
          </a:prstGeom>
          <a:noFill xmlns:a="http://schemas.openxmlformats.org/drawingml/2006/main"/>
          <a:ln xmlns:a="http://schemas.openxmlformats.org/drawingml/2006/main" w="19050">
            <a:solidFill>
              <a:srgbClr val="B8C9DC"/>
            </a:solidFill>
            <a:prstDash val="solid"/>
          </a:ln>
        </p:spPr>
      </p:sp>
      <p:sp>
        <p:nvSpPr>
          <p:cNvPr id="10" name="ai-feature-2-heading">
            <a:extLst xmlns:a="http://schemas.openxmlformats.org/drawingml/2006/main">
              <a:ext uri="{FF2B5EF4-FFF2-40B4-BE49-F238E27FC236}">
                <a16:creationId xmlns:a16="http://schemas.microsoft.com/office/drawing/2014/main" id="{89619219-D047-4E3E-BA38-AE37A39CC414}"/>
              </a:ext>
            </a:extLst>
          </p:cNvPr>
          <p:cNvSpPr>
            <a:spLocks xmlns:a="http://schemas.openxmlformats.org/drawingml/2006/main" noGrp="1"/>
          </p:cNvSpPr>
          <p:nvPr/>
        </p:nvSpPr>
        <p:spPr>
          <a:xfrm xmlns:a="http://schemas.openxmlformats.org/drawingml/2006/main">
            <a:off x="2571750" y="332422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Recommendation quiz</a:t>
            </a:r>
          </a:p>
        </p:txBody>
      </p:sp>
      <p:sp>
        <p:nvSpPr>
          <p:cNvPr id="11" name="ai-feature-2-endpoint">
            <a:extLst xmlns:a="http://schemas.openxmlformats.org/drawingml/2006/main">
              <a:ext uri="{FF2B5EF4-FFF2-40B4-BE49-F238E27FC236}">
                <a16:creationId xmlns:a16="http://schemas.microsoft.com/office/drawing/2014/main" id="{479E4CE3-E07F-4059-B72A-3D13C6A11C31}"/>
              </a:ext>
            </a:extLst>
          </p:cNvPr>
          <p:cNvSpPr>
            <a:spLocks xmlns:a="http://schemas.openxmlformats.org/drawingml/2006/main" noGrp="1"/>
          </p:cNvSpPr>
          <p:nvPr/>
        </p:nvSpPr>
        <p:spPr>
          <a:xfrm xmlns:a="http://schemas.openxmlformats.org/drawingml/2006/main">
            <a:off x="6572250" y="33432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/api/ai/recommendations/visitor</a:t>
            </a:r>
          </a:p>
        </p:txBody>
      </p:sp>
      <p:sp>
        <p:nvSpPr>
          <p:cNvPr id="12" name="ai-feature-2-body">
            <a:extLst xmlns:a="http://schemas.openxmlformats.org/drawingml/2006/main">
              <a:ext uri="{FF2B5EF4-FFF2-40B4-BE49-F238E27FC236}">
                <a16:creationId xmlns:a16="http://schemas.microsoft.com/office/drawing/2014/main" id="{B2FC997B-8A90-486B-8C54-A76D0340F9C9}"/>
              </a:ext>
            </a:extLst>
          </p:cNvPr>
          <p:cNvSpPr>
            <a:spLocks xmlns:a="http://schemas.openxmlformats.org/drawingml/2006/main" noGrp="1"/>
          </p:cNvSpPr>
          <p:nvPr/>
        </p:nvSpPr>
        <p:spPr>
          <a:xfrm xmlns:a="http://schemas.openxmlformats.org/drawingml/2006/main">
            <a:off x="2571750" y="3752850"/>
            <a:ext cx="7334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72033"/>
                </a:solidFill>
                <a:latin typeface="Calibri"/>
                <a:ea typeface="Calibri"/>
                <a:cs typeface="Calibri"/>
              </a:defRPr>
            </a:pPr>
            <a:r>
              <a:rPr sz="1575" b="0">
                <a:solidFill>
                  <a:srgbClr val="172033"/>
                </a:solidFill>
                <a:latin typeface="Calibri"/>
                <a:ea typeface="Calibri"/>
                <a:cs typeface="Calibri"/>
              </a:rPr>
              <a:t>Matches a visitor's interests, level and goal to courses, each with a fit score and a reason.</a:t>
            </a:r>
          </a:p>
        </p:txBody>
      </p:sp>
      <p:sp>
        <p:nvSpPr>
          <p:cNvPr id="13" name="">
            <a:extLst xmlns:a="http://schemas.openxmlformats.org/drawingml/2006/main">
              <a:ext uri="{FF2B5EF4-FFF2-40B4-BE49-F238E27FC236}">
                <a16:creationId xmlns:a16="http://schemas.microsoft.com/office/drawing/2014/main" id="{229E46A8-8799-4863-8713-BAC4566F0EF1}"/>
              </a:ext>
            </a:extLst>
          </p:cNvPr>
          <p:cNvSpPr>
            <a:spLocks xmlns:a="http://schemas.openxmlformats.org/drawingml/2006/main" noGrp="1"/>
          </p:cNvSpPr>
          <p:nvPr/>
        </p:nvSpPr>
        <p:spPr>
          <a:xfrm xmlns:a="http://schemas.openxmlformats.org/drawingml/2006/main">
            <a:off x="2571750" y="4676775"/>
            <a:ext cx="7334250" cy="0"/>
          </a:xfrm>
          <a:prstGeom xmlns:a="http://schemas.openxmlformats.org/drawingml/2006/main" prst="line">
            <a:avLst/>
          </a:prstGeom>
          <a:noFill xmlns:a="http://schemas.openxmlformats.org/drawingml/2006/main"/>
          <a:ln xmlns:a="http://schemas.openxmlformats.org/drawingml/2006/main" w="19050">
            <a:solidFill>
              <a:srgbClr val="B8C9DC"/>
            </a:solidFill>
            <a:prstDash val="solid"/>
          </a:ln>
        </p:spPr>
      </p:sp>
      <p:sp>
        <p:nvSpPr>
          <p:cNvPr id="14" name="ai-feature-3-heading">
            <a:extLst xmlns:a="http://schemas.openxmlformats.org/drawingml/2006/main">
              <a:ext uri="{FF2B5EF4-FFF2-40B4-BE49-F238E27FC236}">
                <a16:creationId xmlns:a16="http://schemas.microsoft.com/office/drawing/2014/main" id="{26D8EDF7-C0E9-4002-8605-F5C33E609BC6}"/>
              </a:ext>
            </a:extLst>
          </p:cNvPr>
          <p:cNvSpPr>
            <a:spLocks xmlns:a="http://schemas.openxmlformats.org/drawingml/2006/main" noGrp="1"/>
          </p:cNvSpPr>
          <p:nvPr/>
        </p:nvSpPr>
        <p:spPr>
          <a:xfrm xmlns:a="http://schemas.openxmlformats.org/drawingml/2006/main">
            <a:off x="2571750" y="488632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Per-company recommendations</a:t>
            </a:r>
          </a:p>
        </p:txBody>
      </p:sp>
      <p:sp>
        <p:nvSpPr>
          <p:cNvPr id="15" name="ai-feature-3-endpoint">
            <a:extLst xmlns:a="http://schemas.openxmlformats.org/drawingml/2006/main">
              <a:ext uri="{FF2B5EF4-FFF2-40B4-BE49-F238E27FC236}">
                <a16:creationId xmlns:a16="http://schemas.microsoft.com/office/drawing/2014/main" id="{5566BE2A-8A54-44BD-994F-38FB2D93B623}"/>
              </a:ext>
            </a:extLst>
          </p:cNvPr>
          <p:cNvSpPr>
            <a:spLocks xmlns:a="http://schemas.openxmlformats.org/drawingml/2006/main" noGrp="1"/>
          </p:cNvSpPr>
          <p:nvPr/>
        </p:nvSpPr>
        <p:spPr>
          <a:xfrm xmlns:a="http://schemas.openxmlformats.org/drawingml/2006/main">
            <a:off x="6572250" y="49053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/api/ai/recommendations/company</a:t>
            </a:r>
          </a:p>
        </p:txBody>
      </p:sp>
      <p:sp>
        <p:nvSpPr>
          <p:cNvPr id="16" name="ai-feature-3-body">
            <a:extLst xmlns:a="http://schemas.openxmlformats.org/drawingml/2006/main">
              <a:ext uri="{FF2B5EF4-FFF2-40B4-BE49-F238E27FC236}">
                <a16:creationId xmlns:a16="http://schemas.microsoft.com/office/drawing/2014/main" id="{5F6AF55F-989F-4A95-A10E-831465C41123}"/>
              </a:ext>
            </a:extLst>
          </p:cNvPr>
          <p:cNvSpPr>
            <a:spLocks xmlns:a="http://schemas.openxmlformats.org/drawingml/2006/main" noGrp="1"/>
          </p:cNvSpPr>
          <p:nvPr/>
        </p:nvSpPr>
        <p:spPr>
          <a:xfrm xmlns:a="http://schemas.openxmlformats.org/drawingml/2006/main">
            <a:off x="2571750" y="5314950"/>
            <a:ext cx="7334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72033"/>
                </a:solidFill>
                <a:latin typeface="Calibri"/>
                <a:ea typeface="Calibri"/>
                <a:cs typeface="Calibri"/>
              </a:defRPr>
            </a:pPr>
            <a:r>
              <a:rPr sz="1575" b="0">
                <a:solidFill>
                  <a:srgbClr val="172033"/>
                </a:solidFill>
                <a:latin typeface="Calibri"/>
                <a:ea typeface="Calibri"/>
                <a:cs typeface="Calibri"/>
              </a:rPr>
              <a:t>Analyses employee roles and interests to propose a training programme for a whole team.</a:t>
            </a:r>
          </a:p>
        </p:txBody>
      </p:sp>
      <p:sp>
        <p:nvSpPr>
          <p:cNvPr id="17" name="">
            <a:extLst xmlns:a="http://schemas.openxmlformats.org/drawingml/2006/main">
              <a:ext uri="{FF2B5EF4-FFF2-40B4-BE49-F238E27FC236}">
                <a16:creationId xmlns:a16="http://schemas.microsoft.com/office/drawing/2014/main" id="{DC55E73B-BAC3-491F-99DF-93493053DCF1}"/>
              </a:ext>
            </a:extLst>
          </p:cNvPr>
          <p:cNvSpPr>
            <a:spLocks xmlns:a="http://schemas.openxmlformats.org/drawingml/2006/main" noGrp="1"/>
          </p:cNvSpPr>
          <p:nvPr/>
        </p:nvSpPr>
        <p:spPr>
          <a:xfrm xmlns:a="http://schemas.openxmlformats.org/drawingml/2006/main">
            <a:off x="2571750" y="6238875"/>
            <a:ext cx="7334250" cy="0"/>
          </a:xfrm>
          <a:prstGeom xmlns:a="http://schemas.openxmlformats.org/drawingml/2006/main" prst="line">
            <a:avLst/>
          </a:prstGeom>
          <a:noFill xmlns:a="http://schemas.openxmlformats.org/drawingml/2006/main"/>
          <a:ln xmlns:a="http://schemas.openxmlformats.org/drawingml/2006/main" w="19050">
            <a:solidFill>
              <a:srgbClr val="B8C9DC"/>
            </a:solidFill>
            <a:prstDash val="solid"/>
          </a:ln>
        </p:spPr>
      </p:sp>
      <p:sp>
        <p:nvSpPr>
          <p:cNvPr id="18" name="ai-feature-4-heading">
            <a:extLst xmlns:a="http://schemas.openxmlformats.org/drawingml/2006/main">
              <a:ext uri="{FF2B5EF4-FFF2-40B4-BE49-F238E27FC236}">
                <a16:creationId xmlns:a16="http://schemas.microsoft.com/office/drawing/2014/main" id="{4D03BD6C-2AC6-4318-8BAB-7761C8CDF91F}"/>
              </a:ext>
            </a:extLst>
          </p:cNvPr>
          <p:cNvSpPr>
            <a:spLocks xmlns:a="http://schemas.openxmlformats.org/drawingml/2006/main" noGrp="1"/>
          </p:cNvSpPr>
          <p:nvPr/>
        </p:nvSpPr>
        <p:spPr>
          <a:xfrm xmlns:a="http://schemas.openxmlformats.org/drawingml/2006/main">
            <a:off x="2571750" y="644842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Live page translation</a:t>
            </a:r>
          </a:p>
        </p:txBody>
      </p:sp>
      <p:sp>
        <p:nvSpPr>
          <p:cNvPr id="19" name="ai-feature-4-endpoint">
            <a:extLst xmlns:a="http://schemas.openxmlformats.org/drawingml/2006/main">
              <a:ext uri="{FF2B5EF4-FFF2-40B4-BE49-F238E27FC236}">
                <a16:creationId xmlns:a16="http://schemas.microsoft.com/office/drawing/2014/main" id="{35B79827-3DA8-4D24-B64E-2E6615278172}"/>
              </a:ext>
            </a:extLst>
          </p:cNvPr>
          <p:cNvSpPr>
            <a:spLocks xmlns:a="http://schemas.openxmlformats.org/drawingml/2006/main" noGrp="1"/>
          </p:cNvSpPr>
          <p:nvPr/>
        </p:nvSpPr>
        <p:spPr>
          <a:xfrm xmlns:a="http://schemas.openxmlformats.org/drawingml/2006/main">
            <a:off x="6572250" y="64674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/api/ai/translate</a:t>
            </a:r>
          </a:p>
        </p:txBody>
      </p:sp>
      <p:sp>
        <p:nvSpPr>
          <p:cNvPr id="20" name="ai-feature-4-body">
            <a:extLst xmlns:a="http://schemas.openxmlformats.org/drawingml/2006/main">
              <a:ext uri="{FF2B5EF4-FFF2-40B4-BE49-F238E27FC236}">
                <a16:creationId xmlns:a16="http://schemas.microsoft.com/office/drawing/2014/main" id="{DE52F377-CD0E-4BCA-B19F-0AE45F01BBAF}"/>
              </a:ext>
            </a:extLst>
          </p:cNvPr>
          <p:cNvSpPr>
            <a:spLocks xmlns:a="http://schemas.openxmlformats.org/drawingml/2006/main" noGrp="1"/>
          </p:cNvSpPr>
          <p:nvPr/>
        </p:nvSpPr>
        <p:spPr>
          <a:xfrm xmlns:a="http://schemas.openxmlformats.org/drawingml/2006/main">
            <a:off x="2571750" y="6877050"/>
            <a:ext cx="7334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172033"/>
                </a:solidFill>
                <a:latin typeface="Calibri"/>
                <a:ea typeface="Calibri"/>
                <a:cs typeface="Calibri"/>
              </a:defRPr>
            </a:pPr>
            <a:r>
              <a:rPr sz="1575" b="0">
                <a:solidFill>
                  <a:srgbClr val="172033"/>
                </a:solidFill>
                <a:latin typeface="Calibri"/>
                <a:ea typeface="Calibri"/>
                <a:cs typeface="Calibri"/>
              </a:rPr>
              <a:t>Translates the interface while preserving brand names, people, e-mails and numbers.</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58de8c37c2314eaa"/>
          <a:stretch xmlns:a="http://schemas.openxmlformats.org/drawingml/2006/main"/>
        </p:blipFill>
        <p:spPr>
          <a:xfrm xmlns:a="http://schemas.openxmlformats.org/drawingml/2006/main">
            <a:off x="10582672" y="1809750"/>
            <a:ext cx="5409406" cy="3381375"/>
          </a:xfrm>
          <a:prstGeom xmlns:a="http://schemas.openxmlformats.org/drawingml/2006/main" prst="rect">
            <a:avLst/>
          </a:prstGeom>
        </p:spPr>
      </p:pic>
      <p:sp>
        <p:nvSpPr>
          <p:cNvPr id="22" name="ai-implementation-note">
            <a:extLst xmlns:a="http://schemas.openxmlformats.org/drawingml/2006/main">
              <a:ext uri="{FF2B5EF4-FFF2-40B4-BE49-F238E27FC236}">
                <a16:creationId xmlns:a16="http://schemas.microsoft.com/office/drawing/2014/main" id="{3EB583CA-672E-4EB1-9F23-03B098969B56}"/>
              </a:ext>
            </a:extLst>
          </p:cNvPr>
          <p:cNvSpPr>
            <a:spLocks xmlns:a="http://schemas.openxmlformats.org/drawingml/2006/main" noGrp="1"/>
          </p:cNvSpPr>
          <p:nvPr/>
        </p:nvSpPr>
        <p:spPr>
          <a:xfrm xmlns:a="http://schemas.openxmlformats.org/drawingml/2006/main">
            <a:off x="10572750" y="5572125"/>
            <a:ext cx="5429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72033"/>
                </a:solidFill>
                <a:latin typeface="Calibri"/>
                <a:ea typeface="Calibri"/>
                <a:cs typeface="Calibri"/>
              </a:defRPr>
            </a:pPr>
            <a:r>
              <a:rPr sz="1650" b="0">
                <a:solidFill>
                  <a:srgbClr val="172033"/>
                </a:solidFill>
                <a:latin typeface="Calibri"/>
                <a:ea typeface="Calibri"/>
                <a:cs typeface="Calibri"/>
              </a:rPr>
              <a:t>All four features share one Claude client and one API key. The prompts, REST endpoints, structured JSON handling and matching interfaces are isolated so the application remains fully operational when AI is not configured.</a:t>
            </a:r>
          </a:p>
        </p:txBody>
      </p:sp>
      <p:sp>
        <p:nvSpPr>
          <p:cNvPr id="23" name="ai-additive-callout">
            <a:extLst xmlns:a="http://schemas.openxmlformats.org/drawingml/2006/main">
              <a:ext uri="{FF2B5EF4-FFF2-40B4-BE49-F238E27FC236}">
                <a16:creationId xmlns:a16="http://schemas.microsoft.com/office/drawing/2014/main" id="{9D0A4330-8D8B-4507-B3B0-7E2043A8B8E7}"/>
              </a:ext>
            </a:extLst>
          </p:cNvPr>
          <p:cNvSpPr>
            <a:spLocks xmlns:a="http://schemas.openxmlformats.org/drawingml/2006/main" noGrp="1"/>
          </p:cNvSpPr>
          <p:nvPr/>
        </p:nvSpPr>
        <p:spPr>
          <a:xfrm xmlns:a="http://schemas.openxmlformats.org/drawingml/2006/main">
            <a:off x="2571750" y="8096250"/>
            <a:ext cx="11334750" cy="571500"/>
          </a:xfrm>
          <a:prstGeom xmlns:a="http://schemas.openxmlformats.org/drawingml/2006/main" prst="roundRect">
            <a:avLst>
              <a:gd name="adj" fmla="val 20000"/>
            </a:avLst>
          </a:prstGeom>
          <a:solidFill xmlns:a="http://schemas.openxmlformats.org/drawingml/2006/main">
            <a:srgbClr val="022461"/>
          </a:solidFill>
          <a:ln xmlns:a="http://schemas.openxmlformats.org/drawingml/2006/main" w="0">
            <a:solidFill>
              <a:srgbClr val="022461"/>
            </a:solidFill>
            <a:prstDash val="solid"/>
          </a:ln>
        </p:spPr>
        <p:txBody>
          <a:bodyPr xmlns:a="http://schemas.openxmlformats.org/drawingml/2006/main" wrap="square" lIns="190500" tIns="76200" rIns="190500" bIns="76200" anchor="ctr">
            <a:noAutofit/>
          </a:bodyPr>
          <a:lstStyle xmlns:a="http://schemas.openxmlformats.org/drawingml/2006/main"/>
          <a:p xmlns:a="http://schemas.openxmlformats.org/drawingml/2006/main">
            <a:pPr algn="ctr">
              <a:defRPr sz="1575" b="1">
                <a:solidFill>
                  <a:srgbClr val="FFFFFF"/>
                </a:solidFill>
                <a:latin typeface="Calibri"/>
                <a:ea typeface="Calibri"/>
                <a:cs typeface="Calibri"/>
              </a:defRPr>
            </a:pPr>
            <a:r>
              <a:rPr sz="1575" b="1">
                <a:solidFill>
                  <a:srgbClr val="FFFFFF"/>
                </a:solidFill>
                <a:latin typeface="Calibri"/>
                <a:ea typeface="Calibri"/>
                <a:cs typeface="Calibri"/>
              </a:rPr>
              <a:t>Strictly additive: without an API key, AI controls disappear and the core application keeps working.</a:t>
            </a:r>
          </a:p>
        </p:txBody>
      </p:sp>
    </p:spTree>
    <p:extLst>
      <p:ext uri="{BB962C8B-B14F-4D97-AF65-F5344CB8AC3E}">
        <p14:creationId xmlns:p14="http://schemas.microsoft.com/office/powerpoint/2010/main" val="38539004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F1FE47A-19E1-4EEF-B12F-5F1D4F60D89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59b096b44a8846f0"/>
            <a:stretch>
              <a:fillRect l="0" t="0" r="0" b="0"/>
            </a:stretch>
          </a:blipFill>
        </p:spPr>
      </p:sp>
      <p:sp>
        <p:nvSpPr>
          <p:cNvPr id="3" name="slide-6-title">
            <a:extLst xmlns:a="http://schemas.openxmlformats.org/drawingml/2006/main">
              <a:ext uri="{FF2B5EF4-FFF2-40B4-BE49-F238E27FC236}">
                <a16:creationId xmlns:a16="http://schemas.microsoft.com/office/drawing/2014/main" id="{8F4FA45D-CBEC-4192-9EDC-EF7F856D84C7}"/>
              </a:ext>
            </a:extLst>
          </p:cNvPr>
          <p:cNvSpPr>
            <a:spLocks xmlns:a="http://schemas.openxmlformats.org/drawingml/2006/main" noGrp="1"/>
          </p:cNvSpPr>
          <p:nvPr/>
        </p:nvSpPr>
        <p:spPr>
          <a:xfrm xmlns:a="http://schemas.openxmlformats.org/drawingml/2006/main">
            <a:off x="2381250" y="3238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Application Demo</a:t>
            </a:r>
          </a:p>
        </p:txBody>
      </p:sp>
      <p:sp>
        <p:nvSpPr>
          <p:cNvPr id="4" name="slide-6-subtitle">
            <a:extLst xmlns:a="http://schemas.openxmlformats.org/drawingml/2006/main">
              <a:ext uri="{FF2B5EF4-FFF2-40B4-BE49-F238E27FC236}">
                <a16:creationId xmlns:a16="http://schemas.microsoft.com/office/drawing/2014/main" id="{D44233B3-38C1-453F-A393-DAEFC373157C}"/>
              </a:ext>
            </a:extLst>
          </p:cNvPr>
          <p:cNvSpPr>
            <a:spLocks xmlns:a="http://schemas.openxmlformats.org/drawingml/2006/main" noGrp="1"/>
          </p:cNvSpPr>
          <p:nvPr/>
        </p:nvSpPr>
        <p:spPr>
          <a:xfrm xmlns:a="http://schemas.openxmlformats.org/drawingml/2006/main">
            <a:off x="2381250" y="9144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2F5D8C"/>
                </a:solidFill>
                <a:latin typeface="Calibri"/>
                <a:ea typeface="Calibri"/>
                <a:cs typeface="Calibri"/>
              </a:defRPr>
            </a:pPr>
            <a:r>
              <a:rPr sz="1875" b="0">
                <a:solidFill>
                  <a:srgbClr val="2F5D8C"/>
                </a:solidFill>
                <a:latin typeface="Calibri"/>
                <a:ea typeface="Calibri"/>
                <a:cs typeface="Calibri"/>
              </a:rPr>
              <a:t>Live application walkthrough</a:t>
            </a:r>
          </a:p>
        </p:txBody>
      </p:sp>
      <p:sp>
        <p:nvSpPr>
          <p:cNvPr id="5" name="slide-6-page-number">
            <a:extLst xmlns:a="http://schemas.openxmlformats.org/drawingml/2006/main">
              <a:ext uri="{FF2B5EF4-FFF2-40B4-BE49-F238E27FC236}">
                <a16:creationId xmlns:a16="http://schemas.microsoft.com/office/drawing/2014/main" id="{7EEDCDF1-1F9C-4D9C-A4CE-2BCAE3752B1A}"/>
              </a:ext>
            </a:extLst>
          </p:cNvPr>
          <p:cNvSpPr>
            <a:spLocks xmlns:a="http://schemas.openxmlformats.org/drawingml/2006/main" noGrp="1"/>
          </p:cNvSpPr>
          <p:nvPr/>
        </p:nvSpPr>
        <p:spPr>
          <a:xfrm xmlns:a="http://schemas.openxmlformats.org/drawingml/2006/main">
            <a:off x="8620125" y="98488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1">
                <a:solidFill>
                  <a:srgbClr val="2F5D8C"/>
                </a:solidFill>
                <a:latin typeface="Calibri"/>
                <a:ea typeface="Calibri"/>
                <a:cs typeface="Calibri"/>
              </a:defRPr>
            </a:pPr>
            <a:r>
              <a:rPr sz="1125" b="1">
                <a:solidFill>
                  <a:srgbClr val="2F5D8C"/>
                </a:solidFill>
                <a:latin typeface="Calibri"/>
                <a:ea typeface="Calibri"/>
                <a:cs typeface="Calibri"/>
              </a:rPr>
              <a:t>6 / 7</a:t>
            </a:r>
          </a:p>
        </p:txBody>
      </p:sp>
      <p:sp>
        <p:nvSpPr>
          <p:cNvPr id="6" name="live-demo-label">
            <a:extLst xmlns:a="http://schemas.openxmlformats.org/drawingml/2006/main">
              <a:ext uri="{FF2B5EF4-FFF2-40B4-BE49-F238E27FC236}">
                <a16:creationId xmlns:a16="http://schemas.microsoft.com/office/drawing/2014/main" id="{39609840-71B7-425E-9E9E-59F460AE2E0D}"/>
              </a:ext>
            </a:extLst>
          </p:cNvPr>
          <p:cNvSpPr>
            <a:spLocks xmlns:a="http://schemas.openxmlformats.org/drawingml/2006/main" noGrp="1"/>
          </p:cNvSpPr>
          <p:nvPr/>
        </p:nvSpPr>
        <p:spPr>
          <a:xfrm xmlns:a="http://schemas.openxmlformats.org/drawingml/2006/main">
            <a:off x="4667250" y="3429000"/>
            <a:ext cx="8953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5700" b="1">
                <a:solidFill>
                  <a:srgbClr val="022461"/>
                </a:solidFill>
                <a:latin typeface="Helvetica Now Display Bold"/>
                <a:ea typeface="Helvetica Now Display Bold"/>
                <a:cs typeface="Helvetica Now Display Bold"/>
              </a:defRPr>
            </a:pPr>
            <a:r>
              <a:rPr sz="5700" b="1">
                <a:solidFill>
                  <a:srgbClr val="022461"/>
                </a:solidFill>
                <a:latin typeface="Helvetica Now Display Bold"/>
                <a:ea typeface="Helvetica Now Display Bold"/>
                <a:cs typeface="Helvetica Now Display Bold"/>
              </a:rPr>
              <a:t>LIVE DEMO</a:t>
            </a:r>
          </a:p>
        </p:txBody>
      </p:sp>
      <p:sp>
        <p:nvSpPr>
          <p:cNvPr id="7" name="live-demo-flow">
            <a:extLst xmlns:a="http://schemas.openxmlformats.org/drawingml/2006/main">
              <a:ext uri="{FF2B5EF4-FFF2-40B4-BE49-F238E27FC236}">
                <a16:creationId xmlns:a16="http://schemas.microsoft.com/office/drawing/2014/main" id="{0E706D85-9E7F-4D91-A4D1-0BCD015F8EB1}"/>
              </a:ext>
            </a:extLst>
          </p:cNvPr>
          <p:cNvSpPr>
            <a:spLocks xmlns:a="http://schemas.openxmlformats.org/drawingml/2006/main" noGrp="1"/>
          </p:cNvSpPr>
          <p:nvPr/>
        </p:nvSpPr>
        <p:spPr>
          <a:xfrm xmlns:a="http://schemas.openxmlformats.org/drawingml/2006/main">
            <a:off x="4667250" y="4810125"/>
            <a:ext cx="895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0">
                <a:solidFill>
                  <a:srgbClr val="2F5D8C"/>
                </a:solidFill>
                <a:latin typeface="Calibri"/>
                <a:ea typeface="Calibri"/>
                <a:cs typeface="Calibri"/>
              </a:defRPr>
            </a:pPr>
            <a:r>
              <a:rPr sz="2100" b="0">
                <a:solidFill>
                  <a:srgbClr val="2F5D8C"/>
                </a:solidFill>
                <a:latin typeface="Calibri"/>
                <a:ea typeface="Calibri"/>
                <a:cs typeface="Calibri"/>
              </a:rPr>
              <a:t>Storefront  →  CRM workflow  →  AI layer</a:t>
            </a:r>
          </a:p>
        </p:txBody>
      </p:sp>
    </p:spTree>
    <p:extLst>
      <p:ext uri="{BB962C8B-B14F-4D97-AF65-F5344CB8AC3E}">
        <p14:creationId xmlns:p14="http://schemas.microsoft.com/office/powerpoint/2010/main" val="38539004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F1FE47A-19E1-4EEF-B12F-5F1D4F60D89D}"/>
              </a:ext>
            </a:extLst>
          </p:cNvPr>
          <p:cNvSpPr>
            <a:spLocks xmlns:a="http://schemas.openxmlformats.org/drawingml/2006/main" noGrp="1"/>
          </p:cNvSpPr>
          <p:nvPr/>
        </p:nvSpPr>
        <p:spPr>
          <a:xfrm xmlns:a="http://schemas.openxmlformats.org/drawingml/2006/main" rot="0" flipH="0" flipV="0">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385fd5b66c0a41f5"/>
            <a:stretch>
              <a:fillRect l="0" t="0" r="0" b="0"/>
            </a:stretch>
          </a:blipFill>
        </p:spPr>
      </p:sp>
      <p:sp>
        <p:nvSpPr>
          <p:cNvPr id="3" name="slide-7-title">
            <a:extLst xmlns:a="http://schemas.openxmlformats.org/drawingml/2006/main">
              <a:ext uri="{FF2B5EF4-FFF2-40B4-BE49-F238E27FC236}">
                <a16:creationId xmlns:a16="http://schemas.microsoft.com/office/drawing/2014/main" id="{9D72D6C9-DBC4-4F7F-8D1E-3A0C4C03BD89}"/>
              </a:ext>
            </a:extLst>
          </p:cNvPr>
          <p:cNvSpPr>
            <a:spLocks xmlns:a="http://schemas.openxmlformats.org/drawingml/2006/main" noGrp="1"/>
          </p:cNvSpPr>
          <p:nvPr/>
        </p:nvSpPr>
        <p:spPr>
          <a:xfrm xmlns:a="http://schemas.openxmlformats.org/drawingml/2006/main">
            <a:off x="2381250" y="3238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Conclusion</a:t>
            </a:r>
          </a:p>
        </p:txBody>
      </p:sp>
      <p:sp>
        <p:nvSpPr>
          <p:cNvPr id="4" name="slide-7-subtitle">
            <a:extLst xmlns:a="http://schemas.openxmlformats.org/drawingml/2006/main">
              <a:ext uri="{FF2B5EF4-FFF2-40B4-BE49-F238E27FC236}">
                <a16:creationId xmlns:a16="http://schemas.microsoft.com/office/drawing/2014/main" id="{96F4D6A4-9BE2-4BE2-A8B1-ED876613B6AE}"/>
              </a:ext>
            </a:extLst>
          </p:cNvPr>
          <p:cNvSpPr>
            <a:spLocks xmlns:a="http://schemas.openxmlformats.org/drawingml/2006/main" noGrp="1"/>
          </p:cNvSpPr>
          <p:nvPr/>
        </p:nvSpPr>
        <p:spPr>
          <a:xfrm xmlns:a="http://schemas.openxmlformats.org/drawingml/2006/main">
            <a:off x="2381250" y="9144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2F5D8C"/>
                </a:solidFill>
                <a:latin typeface="Calibri"/>
                <a:ea typeface="Calibri"/>
                <a:cs typeface="Calibri"/>
              </a:defRPr>
            </a:pPr>
            <a:r>
              <a:rPr sz="1875" b="0">
                <a:solidFill>
                  <a:srgbClr val="2F5D8C"/>
                </a:solidFill>
                <a:latin typeface="Calibri"/>
                <a:ea typeface="Calibri"/>
                <a:cs typeface="Calibri"/>
              </a:rPr>
              <a:t>TrainingIT demonstrates one coherent storefront and CRM</a:t>
            </a:r>
          </a:p>
        </p:txBody>
      </p:sp>
      <p:sp>
        <p:nvSpPr>
          <p:cNvPr id="5" name="slide-7-page-number">
            <a:extLst xmlns:a="http://schemas.openxmlformats.org/drawingml/2006/main">
              <a:ext uri="{FF2B5EF4-FFF2-40B4-BE49-F238E27FC236}">
                <a16:creationId xmlns:a16="http://schemas.microsoft.com/office/drawing/2014/main" id="{C114B6BE-8482-4CC5-AE68-81D9FC48CC3D}"/>
              </a:ext>
            </a:extLst>
          </p:cNvPr>
          <p:cNvSpPr>
            <a:spLocks xmlns:a="http://schemas.openxmlformats.org/drawingml/2006/main" noGrp="1"/>
          </p:cNvSpPr>
          <p:nvPr/>
        </p:nvSpPr>
        <p:spPr>
          <a:xfrm xmlns:a="http://schemas.openxmlformats.org/drawingml/2006/main">
            <a:off x="8620125" y="98488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1">
                <a:solidFill>
                  <a:srgbClr val="2F5D8C"/>
                </a:solidFill>
                <a:latin typeface="Calibri"/>
                <a:ea typeface="Calibri"/>
                <a:cs typeface="Calibri"/>
              </a:defRPr>
            </a:pPr>
            <a:r>
              <a:rPr sz="1125" b="1">
                <a:solidFill>
                  <a:srgbClr val="2F5D8C"/>
                </a:solidFill>
                <a:latin typeface="Calibri"/>
                <a:ea typeface="Calibri"/>
                <a:cs typeface="Calibri"/>
              </a:rPr>
              <a:t>7 / 7</a:t>
            </a:r>
          </a:p>
        </p:txBody>
      </p:sp>
      <p:sp>
        <p:nvSpPr>
          <p:cNvPr id="6" name="implemented-heading">
            <a:extLst xmlns:a="http://schemas.openxmlformats.org/drawingml/2006/main">
              <a:ext uri="{FF2B5EF4-FFF2-40B4-BE49-F238E27FC236}">
                <a16:creationId xmlns:a16="http://schemas.microsoft.com/office/drawing/2014/main" id="{0641FC5D-EB28-4F95-96AB-333939BFDD51}"/>
              </a:ext>
            </a:extLst>
          </p:cNvPr>
          <p:cNvSpPr>
            <a:spLocks xmlns:a="http://schemas.openxmlformats.org/drawingml/2006/main" noGrp="1"/>
          </p:cNvSpPr>
          <p:nvPr/>
        </p:nvSpPr>
        <p:spPr>
          <a:xfrm xmlns:a="http://schemas.openxmlformats.org/drawingml/2006/main">
            <a:off x="2571750" y="1857375"/>
            <a:ext cx="638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22461"/>
                </a:solidFill>
                <a:latin typeface="Helvetica Now Display Bold"/>
                <a:ea typeface="Helvetica Now Display Bold"/>
                <a:cs typeface="Helvetica Now Display Bold"/>
              </a:defRPr>
            </a:pPr>
            <a:r>
              <a:rPr sz="2325" b="1">
                <a:solidFill>
                  <a:srgbClr val="022461"/>
                </a:solidFill>
                <a:latin typeface="Helvetica Now Display Bold"/>
                <a:ea typeface="Helvetica Now Display Bold"/>
                <a:cs typeface="Helvetica Now Display Bold"/>
              </a:rPr>
              <a:t>Implemented</a:t>
            </a:r>
          </a:p>
        </p:txBody>
      </p:sp>
      <p:sp>
        <p:nvSpPr>
          <p:cNvPr id="7" name="implemented-list">
            <a:extLst xmlns:a="http://schemas.openxmlformats.org/drawingml/2006/main">
              <a:ext uri="{FF2B5EF4-FFF2-40B4-BE49-F238E27FC236}">
                <a16:creationId xmlns:a16="http://schemas.microsoft.com/office/drawing/2014/main" id="{96D7C375-566B-4C7D-928A-B3DAD3ED7615}"/>
              </a:ext>
            </a:extLst>
          </p:cNvPr>
          <p:cNvSpPr>
            <a:spLocks xmlns:a="http://schemas.openxmlformats.org/drawingml/2006/main" noGrp="1"/>
          </p:cNvSpPr>
          <p:nvPr/>
        </p:nvSpPr>
        <p:spPr>
          <a:xfrm xmlns:a="http://schemas.openxmlformats.org/drawingml/2006/main">
            <a:off x="2667000" y="2524125"/>
            <a:ext cx="6286500" cy="438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Learner portal: catalogue, purchase, reviews and tutoring.</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CRM portal: contacts, purchases, invoices, analytics and issues.</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Event-driven domain: automated lead scoring and invoicing.</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Live SSE statistics, imports and multi-format exports.</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Optional Claude assistant, recommendations and translation.</a:t>
            </a:r>
          </a:p>
        </p:txBody>
      </p:sp>
      <p:sp>
        <p:nvSpPr>
          <p:cNvPr id="8" name="validated-heading">
            <a:extLst xmlns:a="http://schemas.openxmlformats.org/drawingml/2006/main">
              <a:ext uri="{FF2B5EF4-FFF2-40B4-BE49-F238E27FC236}">
                <a16:creationId xmlns:a16="http://schemas.microsoft.com/office/drawing/2014/main" id="{2F4B0F74-22D0-40F7-8047-5B8016B2F8EE}"/>
              </a:ext>
            </a:extLst>
          </p:cNvPr>
          <p:cNvSpPr>
            <a:spLocks xmlns:a="http://schemas.openxmlformats.org/drawingml/2006/main" noGrp="1"/>
          </p:cNvSpPr>
          <p:nvPr/>
        </p:nvSpPr>
        <p:spPr>
          <a:xfrm xmlns:a="http://schemas.openxmlformats.org/drawingml/2006/main">
            <a:off x="9620250" y="1857375"/>
            <a:ext cx="638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22461"/>
                </a:solidFill>
                <a:latin typeface="Helvetica Now Display Bold"/>
                <a:ea typeface="Helvetica Now Display Bold"/>
                <a:cs typeface="Helvetica Now Display Bold"/>
              </a:defRPr>
            </a:pPr>
            <a:r>
              <a:rPr sz="2325" b="1">
                <a:solidFill>
                  <a:srgbClr val="022461"/>
                </a:solidFill>
                <a:latin typeface="Helvetica Now Display Bold"/>
                <a:ea typeface="Helvetica Now Display Bold"/>
                <a:cs typeface="Helvetica Now Display Bold"/>
              </a:rPr>
              <a:t>Validated and next steps</a:t>
            </a:r>
          </a:p>
        </p:txBody>
      </p:sp>
      <p:sp>
        <p:nvSpPr>
          <p:cNvPr id="9" name="validated-list">
            <a:extLst xmlns:a="http://schemas.openxmlformats.org/drawingml/2006/main">
              <a:ext uri="{FF2B5EF4-FFF2-40B4-BE49-F238E27FC236}">
                <a16:creationId xmlns:a16="http://schemas.microsoft.com/office/drawing/2014/main" id="{7C5D40FB-6697-4923-8D50-EB0D151624F1}"/>
              </a:ext>
            </a:extLst>
          </p:cNvPr>
          <p:cNvSpPr>
            <a:spLocks xmlns:a="http://schemas.openxmlformats.org/drawingml/2006/main" noGrp="1"/>
          </p:cNvSpPr>
          <p:nvPr/>
        </p:nvSpPr>
        <p:spPr>
          <a:xfrm xmlns:a="http://schemas.openxmlformats.org/drawingml/2006/main">
            <a:off x="9715500" y="2524125"/>
            <a:ext cx="6286500" cy="438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End-to-end flows verified against a real MariaDB instance.</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Duplicate invoices prevented through idempotent processing.</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Observer failures are isolated; optional AI degrades safely.</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Next: automated tests and production-grade authentication.</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Next: richer analytics and cloud deployment.</a:t>
            </a:r>
          </a:p>
        </p:txBody>
      </p:sp>
      <p:sp>
        <p:nvSpPr>
          <p:cNvPr id="10" name="conclusion-takeaway">
            <a:extLst xmlns:a="http://schemas.openxmlformats.org/drawingml/2006/main">
              <a:ext uri="{FF2B5EF4-FFF2-40B4-BE49-F238E27FC236}">
                <a16:creationId xmlns:a16="http://schemas.microsoft.com/office/drawing/2014/main" id="{C1C55BAE-CC09-4F1C-9FF8-5699C032A406}"/>
              </a:ext>
            </a:extLst>
          </p:cNvPr>
          <p:cNvSpPr>
            <a:spLocks xmlns:a="http://schemas.openxmlformats.org/drawingml/2006/main" noGrp="1"/>
          </p:cNvSpPr>
          <p:nvPr/>
        </p:nvSpPr>
        <p:spPr>
          <a:xfrm xmlns:a="http://schemas.openxmlformats.org/drawingml/2006/main">
            <a:off x="2571750" y="7715250"/>
            <a:ext cx="11334750" cy="876300"/>
          </a:xfrm>
          <a:prstGeom xmlns:a="http://schemas.openxmlformats.org/drawingml/2006/main" prst="roundRect">
            <a:avLst>
              <a:gd name="adj" fmla="val 15217"/>
            </a:avLst>
          </a:prstGeom>
          <a:solidFill xmlns:a="http://schemas.openxmlformats.org/drawingml/2006/main">
            <a:srgbClr val="022461"/>
          </a:solidFill>
          <a:ln xmlns:a="http://schemas.openxmlformats.org/drawingml/2006/main" w="0">
            <a:solidFill>
              <a:srgbClr val="022461"/>
            </a:solidFill>
            <a:prstDash val="solid"/>
          </a:ln>
        </p:spPr>
        <p:txBody>
          <a:bodyPr xmlns:a="http://schemas.openxmlformats.org/drawingml/2006/main" wrap="square" lIns="228600" tIns="114300" rIns="228600" bIns="114300" anchor="ctr">
            <a:noAutofit/>
          </a:bodyPr>
          <a:lstStyle xmlns:a="http://schemas.openxmlformats.org/drawingml/2006/main"/>
          <a:p xmlns:a="http://schemas.openxmlformats.org/drawingml/2006/main">
            <a:pPr algn="ctr">
              <a:defRPr sz="1725" b="1">
                <a:solidFill>
                  <a:srgbClr val="FFFFFF"/>
                </a:solidFill>
                <a:latin typeface="Calibri"/>
                <a:ea typeface="Calibri"/>
                <a:cs typeface="Calibri"/>
              </a:defRPr>
            </a:pPr>
            <a:r>
              <a:rPr sz="1725" b="1">
                <a:solidFill>
                  <a:srgbClr val="FFFFFF"/>
                </a:solidFill>
                <a:latin typeface="Calibri"/>
                <a:ea typeface="Calibri"/>
                <a:cs typeface="Calibri"/>
              </a:rPr>
              <a:t>Each customer action is recorded once and becomes immediately available to the business.</a:t>
            </a:r>
          </a:p>
        </p:txBody>
      </p:sp>
    </p:spTree>
    <p:extLst>
      <p:ext uri="{BB962C8B-B14F-4D97-AF65-F5344CB8AC3E}">
        <p14:creationId xmlns:p14="http://schemas.microsoft.com/office/powerpoint/2010/main" val="38539004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2026-09-01T00:03:13.5840000Z</dcterms:created>
  <dcterms:modified xsi:type="dcterms:W3CDTF">2026-09-01T00:03:13.5840000Z</dcterms:modified>
</coreProperties>
</file>