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188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Raul Veca and I will present my bachelor thesis, TrainingIT: a web-based application for selling programming courses, supervised by Lect. Dr. Sebastian Ștefăniga.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training company that sells online has to satisfy two very different audiences with one system. Learners want a frictionless shop. The company needs to run an operation: leads, purchase history, invoices, analytics, corporate accounts. Normally that means an e-commerce platform plus a separate CRM, kept in sync - and every sync point is where data drifts. The problem this thesis addresses is to remove that gap entirely.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of tools address parts of the problem. Marketplaces like Udemy give you a storefront but you do not own the customer. Moodle manages content, not sales. Salesforce and HubSpot are strong CRMs but know nothing about courses or trainer calendars - and connecting them to a shop reintroduces exactly the integration gap. WooCommerce treats a course as an ordinary product. TrainingIT differs by unifying both sides on one data model.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is an applied one: a functional system rather than a study. The objectives were a client portal, an administrator portal, a pattern-based event-driven domain layer, an optional AI layer, and persistent storage. The design boundary matters: this is not a general e-commerce platform or a general CRM - it is one coherent product for a training company.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context. Three actors interact with the platform: the learner or company employee, the TrainingIT administrator, and the trainer. Externally the platform depends on MariaDB for storage and, optionally, on the Anthropic Claude API for chat, recommendations and translation.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four layers. The browser runs a Next.js and React client with route guards driven by the local session. It talks to a Spring Boot REST API, which also pushes live catalogue statistics over Server-Sent Events. Behind the controllers is a plain-Java domain layer - commands, services, an event bus and repositories - reached through a single facade. Everything persists to MariaDB over JDBC with HikariCP.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decided entirely at login. The back end checks the e-mail against contacts, admins and employees, and returns a role. USER goes to the public portal, ADMIN to the administration portal, and each is redirected back if they request the other's routes. Employees of partner companies are resolved into a portal contact on the way in, which is where the sixty-percent discount comes from.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layer is deliberately organised around the Gang-of-Four patterns. A facade gives the controllers one entry point. Every write is a command. Lead scoring is a strategy, chosen per contact type. Factories build notifications and activities, builders assemble contacts and opportunities. The most important one is Observer: the event bus is what turns a single click into several automatic reactions.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data model. Because both portals are served by the same back end, there is one schema rather than two. Note two design decisions: a review has no table of its own - the rating and feedback live directly on the enrolment, which guarantees one review per learner per course and means only a buyer can review. And a session invoice is generated from a meditation session, never entered by hand.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is the central idea of the solution. The client confirms a purchase; the facade finds or creates the contact and the course session, saves the enrolment, and publishes an EnrollmentCreatedEvent. The observers react on their own. Meanwhile the statistics broadcaster pushes the changed figures to every subscribed browser, so the learner count on the home page moves without a reload. The review at the bottom is validated against a prior purchase before it is stored on the enrolment.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was the part I extended furthest myself. There are four features, all sharing one Claude client and one API key: a chatbot grounded in the live catalogue, a recommendation quiz for visitors, per-company recommendations for corporate training, and live page translation. I wrote the prompts, the endpoints, the structured JSON handling and the interfaces. The important property is that the layer is strictly additive - remove the key and the buttons simply do not render.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tour of the running application. On the left, the authenticated learner home page with the live statistics. In the middle, the catalogue with its category filters - every card view and every expansion is counted, which is what feeds the click-through analytics. On the right, the administrator's Employees tab with the Excel import and the AI recommendations. If there is time I will demonstrate a purchase appearing live in the Purchases tab.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8CA2-73A9-5931-A91A-58D890C30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6BFDB-DCAD-6638-57A7-02D504D9E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931DC-97AF-6C87-FF8A-DD275E1B3DEF}"/>
              </a:ext>
            </a:extLst>
          </p:cNvPr>
          <p:cNvSpPr>
            <a:spLocks noGrp="1"/>
          </p:cNvSpPr>
          <p:nvPr>
            <p:ph type="body" idx="1"/>
          </p:nvPr>
        </p:nvSpPr>
        <p:spPr/>
        <p:txBody>
          <a:bodyPr/>
          <a:lstStyle/>
          <a:p>
            <a:r>
              <a:rPr lang="en-US" dirty="0"/>
              <a:t>Because correctness here depends on a user action propagating through the whole system, testing concentrated on three things. Input validation on both client and server, including a chain-of-responsibility validator for contacts. Robustness properties I verified by forcing the failure: idempotent invoices, isolated observer failures, graceful AI degradation, guarded deletions. And functional verification of the end-to-end journeys against a real database. The Spring Boot test harness is in place as a foundation for an automated suite, which I list as future work.</a:t>
            </a:r>
          </a:p>
        </p:txBody>
      </p:sp>
      <p:sp>
        <p:nvSpPr>
          <p:cNvPr id="4" name="Slide Number Placeholder 3">
            <a:extLst>
              <a:ext uri="{FF2B5EF4-FFF2-40B4-BE49-F238E27FC236}">
                <a16:creationId xmlns:a16="http://schemas.microsoft.com/office/drawing/2014/main" id="{F88CB264-64E7-E1DE-D965-31652FECA52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44933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TrainingIT delivers a client portal, a seven-tab administrator portal, a pattern-based event-driven domain layer, live statistics and reporting, and an optional AI layer - meeting the objectives set out in the introduction. The limitations are honest ones: the test suite is a foundation rather than full coverage, and authentication would need hardening for production. The central result is that the storefront and the CRM are not two integrated systems but one. Thank you -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logo_light.png"/>
          <p:cNvPicPr>
            <a:picLocks noChangeAspect="1"/>
          </p:cNvPicPr>
          <p:nvPr/>
        </p:nvPicPr>
        <p:blipFill>
          <a:blip r:embed="rId4"/>
          <a:stretch>
            <a:fillRect/>
          </a:stretch>
        </p:blipFill>
        <p:spPr>
          <a:xfrm>
            <a:off x="283464" y="0"/>
            <a:ext cx="859536" cy="859536"/>
          </a:xfrm>
          <a:prstGeom prst="rect">
            <a:avLst/>
          </a:prstGeom>
        </p:spPr>
      </p:pic>
      <p:sp>
        <p:nvSpPr>
          <p:cNvPr id="3" name="Text 0"/>
          <p:cNvSpPr/>
          <p:nvPr/>
        </p:nvSpPr>
        <p:spPr>
          <a:xfrm>
            <a:off x="4754880" y="146304"/>
            <a:ext cx="4105656" cy="274320"/>
          </a:xfrm>
          <a:prstGeom prst="rect">
            <a:avLst/>
          </a:prstGeom>
          <a:noFill/>
          <a:ln/>
        </p:spPr>
        <p:txBody>
          <a:bodyPr wrap="square" lIns="0" tIns="0" rIns="0" bIns="0" rtlCol="0" anchor="ctr"/>
          <a:lstStyle/>
          <a:p>
            <a:pPr marL="0" indent="0" algn="r">
              <a:buNone/>
            </a:pPr>
            <a:r>
              <a:rPr lang="en-US" sz="1050" b="1" kern="0" spc="60" dirty="0">
                <a:solidFill>
                  <a:srgbClr val="AFC0DA"/>
                </a:solidFill>
                <a:latin typeface="Arial" pitchFamily="34" charset="0"/>
                <a:ea typeface="Arial" pitchFamily="34" charset="-122"/>
                <a:cs typeface="Arial" pitchFamily="34" charset="-120"/>
              </a:rPr>
              <a:t>WEST UNIVERSITY OF TIMIȘOARA</a:t>
            </a:r>
            <a:endParaRPr lang="en-US" sz="1050" dirty="0"/>
          </a:p>
        </p:txBody>
      </p:sp>
      <p:sp>
        <p:nvSpPr>
          <p:cNvPr id="4" name="Text 1"/>
          <p:cNvSpPr/>
          <p:nvPr/>
        </p:nvSpPr>
        <p:spPr>
          <a:xfrm>
            <a:off x="548640" y="1389888"/>
            <a:ext cx="8046720" cy="566928"/>
          </a:xfrm>
          <a:prstGeom prst="rect">
            <a:avLst/>
          </a:prstGeom>
          <a:noFill/>
          <a:ln/>
        </p:spPr>
        <p:txBody>
          <a:bodyPr wrap="square" lIns="0" tIns="0" rIns="0" bIns="0"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TrainingIT</a:t>
            </a:r>
            <a:endParaRPr lang="en-US" sz="3400" dirty="0"/>
          </a:p>
        </p:txBody>
      </p:sp>
      <p:sp>
        <p:nvSpPr>
          <p:cNvPr id="5" name="Text 2"/>
          <p:cNvSpPr/>
          <p:nvPr/>
        </p:nvSpPr>
        <p:spPr>
          <a:xfrm>
            <a:off x="548640" y="1938528"/>
            <a:ext cx="8046720" cy="365760"/>
          </a:xfrm>
          <a:prstGeom prst="rect">
            <a:avLst/>
          </a:prstGeom>
          <a:noFill/>
          <a:ln/>
        </p:spPr>
        <p:txBody>
          <a:bodyPr wrap="square" lIns="0" tIns="0" rIns="0" bIns="0" rtlCol="0" anchor="ctr"/>
          <a:lstStyle/>
          <a:p>
            <a:pPr marL="0" indent="0" algn="ctr">
              <a:buNone/>
            </a:pPr>
            <a:r>
              <a:rPr lang="en-US" sz="1700" dirty="0">
                <a:solidFill>
                  <a:srgbClr val="FFFFFF"/>
                </a:solidFill>
                <a:latin typeface="Arial" pitchFamily="34" charset="0"/>
                <a:ea typeface="Arial" pitchFamily="34" charset="-122"/>
                <a:cs typeface="Arial" pitchFamily="34" charset="-120"/>
              </a:rPr>
              <a:t>A Web-Based Application for Selling Programming Courses</a:t>
            </a:r>
            <a:endParaRPr lang="en-US" sz="1700" dirty="0"/>
          </a:p>
        </p:txBody>
      </p:sp>
      <p:sp>
        <p:nvSpPr>
          <p:cNvPr id="6" name="Text 3"/>
          <p:cNvSpPr/>
          <p:nvPr/>
        </p:nvSpPr>
        <p:spPr>
          <a:xfrm>
            <a:off x="548640" y="2542032"/>
            <a:ext cx="8046720"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Raul Veca</a:t>
            </a:r>
            <a:endParaRPr lang="en-US" sz="1500" dirty="0"/>
          </a:p>
        </p:txBody>
      </p:sp>
      <p:sp>
        <p:nvSpPr>
          <p:cNvPr id="7" name="Text 4"/>
          <p:cNvSpPr/>
          <p:nvPr/>
        </p:nvSpPr>
        <p:spPr>
          <a:xfrm>
            <a:off x="548640" y="2880360"/>
            <a:ext cx="8046720" cy="274320"/>
          </a:xfrm>
          <a:prstGeom prst="rect">
            <a:avLst/>
          </a:prstGeom>
          <a:noFill/>
          <a:ln/>
        </p:spPr>
        <p:txBody>
          <a:bodyPr wrap="square" lIns="0" tIns="0" rIns="0" bIns="0" rtlCol="0" anchor="ctr"/>
          <a:lstStyle/>
          <a:p>
            <a:pPr marL="0" indent="0" algn="ctr">
              <a:buNone/>
            </a:pPr>
            <a:r>
              <a:rPr lang="en-US" sz="1200" dirty="0">
                <a:solidFill>
                  <a:srgbClr val="D6E0F0"/>
                </a:solidFill>
                <a:latin typeface="Arial" pitchFamily="34" charset="0"/>
                <a:ea typeface="Arial" pitchFamily="34" charset="-122"/>
                <a:cs typeface="Arial" pitchFamily="34" charset="-120"/>
              </a:rPr>
              <a:t>Supervisor: Lect. Dr. Sebastian Ștefăniga</a:t>
            </a:r>
            <a:endParaRPr lang="en-US" sz="1200" dirty="0"/>
          </a:p>
        </p:txBody>
      </p:sp>
      <p:sp>
        <p:nvSpPr>
          <p:cNvPr id="8" name="Text 5"/>
          <p:cNvSpPr/>
          <p:nvPr/>
        </p:nvSpPr>
        <p:spPr>
          <a:xfrm>
            <a:off x="548640" y="3172968"/>
            <a:ext cx="8046720" cy="274320"/>
          </a:xfrm>
          <a:prstGeom prst="rect">
            <a:avLst/>
          </a:prstGeom>
          <a:noFill/>
          <a:ln/>
        </p:spPr>
        <p:txBody>
          <a:bodyPr wrap="square" lIns="0" tIns="0" rIns="0" bIns="0" rtlCol="0" anchor="ctr"/>
          <a:lstStyle/>
          <a:p>
            <a:pPr marL="0" indent="0" algn="ctr">
              <a:buNone/>
            </a:pPr>
            <a:r>
              <a:rPr lang="en-US" sz="1200" dirty="0">
                <a:solidFill>
                  <a:srgbClr val="D6E0F0"/>
                </a:solidFill>
                <a:latin typeface="Arial" pitchFamily="34" charset="0"/>
                <a:ea typeface="Arial" pitchFamily="34" charset="-122"/>
                <a:cs typeface="Arial" pitchFamily="34" charset="-120"/>
              </a:rPr>
              <a:t>Faculty of Computer Science  ·  Bachelor Thesis Defense, 2026</a:t>
            </a:r>
            <a:endParaRPr lang="en-US" sz="1200" dirty="0"/>
          </a:p>
        </p:txBody>
      </p:sp>
      <p:sp>
        <p:nvSpPr>
          <p:cNvPr id="9" name="Text 6"/>
          <p:cNvSpPr/>
          <p:nvPr/>
        </p:nvSpPr>
        <p:spPr>
          <a:xfrm>
            <a:off x="411480" y="4663440"/>
            <a:ext cx="2743200" cy="274320"/>
          </a:xfrm>
          <a:prstGeom prst="rect">
            <a:avLst/>
          </a:prstGeom>
          <a:noFill/>
          <a:ln/>
        </p:spPr>
        <p:txBody>
          <a:bodyPr wrap="square" lIns="0" tIns="0" rIns="0" bIns="0" rtlCol="0" anchor="ctr"/>
          <a:lstStyle/>
          <a:p>
            <a:pPr marL="0" indent="0">
              <a:buNone/>
            </a:pPr>
            <a:r>
              <a:rPr lang="en-US" sz="1150" b="1" dirty="0">
                <a:solidFill>
                  <a:srgbClr val="7E93B8"/>
                </a:solidFill>
                <a:latin typeface="Arial" pitchFamily="34" charset="0"/>
                <a:ea typeface="Arial" pitchFamily="34" charset="-122"/>
                <a:cs typeface="Arial" pitchFamily="34" charset="-120"/>
              </a:rPr>
              <a:t>www.uvt.ro</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Problem and Motivation</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One storefront and one back office - normally two different systems</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 / 13</a:t>
            </a:r>
            <a:endParaRPr lang="en-US" sz="750" dirty="0"/>
          </a:p>
        </p:txBody>
      </p:sp>
      <p:sp>
        <p:nvSpPr>
          <p:cNvPr id="10" name="Text 7"/>
          <p:cNvSpPr/>
          <p:nvPr/>
        </p:nvSpPr>
        <p:spPr>
          <a:xfrm>
            <a:off x="411480" y="1051560"/>
            <a:ext cx="4892040" cy="914400"/>
          </a:xfrm>
          <a:prstGeom prst="rect">
            <a:avLst/>
          </a:prstGeom>
          <a:noFill/>
          <a:ln/>
        </p:spPr>
        <p:txBody>
          <a:bodyPr wrap="square" lIns="0" tIns="0" rIns="0" bIns="0" rtlCol="0" anchor="ctr"/>
          <a:lstStyle/>
          <a:p>
            <a:pPr marL="0" indent="0">
              <a:lnSpc>
                <a:spcPct val="114000"/>
              </a:lnSpc>
              <a:buNone/>
            </a:pPr>
            <a:r>
              <a:rPr lang="en-US" sz="1150" b="1" dirty="0">
                <a:solidFill>
                  <a:srgbClr val="1A1A1A"/>
                </a:solidFill>
                <a:latin typeface="Arial" pitchFamily="34" charset="0"/>
                <a:ea typeface="Arial" pitchFamily="34" charset="-122"/>
                <a:cs typeface="Arial" pitchFamily="34" charset="-120"/>
              </a:rPr>
              <a:t>The customer side.  </a:t>
            </a:r>
            <a:r>
              <a:rPr lang="en-US" sz="1150" dirty="0">
                <a:solidFill>
                  <a:srgbClr val="1A1A1A"/>
                </a:solidFill>
                <a:latin typeface="Arial" pitchFamily="34" charset="0"/>
                <a:ea typeface="Arial" pitchFamily="34" charset="-122"/>
                <a:cs typeface="Arial" pitchFamily="34" charset="-120"/>
              </a:rPr>
              <a:t>A learner expects what any modern shop offers: a clear catalogue, prices and levels, reviews they can trust, a purchase in one click, and a private tutoring session booked at a time that suits them.</a:t>
            </a:r>
            <a:endParaRPr lang="en-US" sz="1150" dirty="0"/>
          </a:p>
        </p:txBody>
      </p:sp>
      <p:sp>
        <p:nvSpPr>
          <p:cNvPr id="11" name="Text 8"/>
          <p:cNvSpPr/>
          <p:nvPr/>
        </p:nvSpPr>
        <p:spPr>
          <a:xfrm>
            <a:off x="411480" y="2057400"/>
            <a:ext cx="4892040" cy="1143000"/>
          </a:xfrm>
          <a:prstGeom prst="rect">
            <a:avLst/>
          </a:prstGeom>
          <a:noFill/>
          <a:ln/>
        </p:spPr>
        <p:txBody>
          <a:bodyPr wrap="square" lIns="0" tIns="0" rIns="0" bIns="0" rtlCol="0" anchor="ctr"/>
          <a:lstStyle/>
          <a:p>
            <a:pPr marL="0" indent="0">
              <a:lnSpc>
                <a:spcPct val="114000"/>
              </a:lnSpc>
              <a:buNone/>
            </a:pPr>
            <a:r>
              <a:rPr lang="en-US" sz="1150" b="1" dirty="0">
                <a:solidFill>
                  <a:srgbClr val="1A1A1A"/>
                </a:solidFill>
                <a:latin typeface="Arial" pitchFamily="34" charset="0"/>
                <a:ea typeface="Arial" pitchFamily="34" charset="-122"/>
                <a:cs typeface="Arial" pitchFamily="34" charset="-120"/>
              </a:rPr>
              <a:t>The business side.  </a:t>
            </a:r>
            <a:r>
              <a:rPr lang="en-US" sz="1150" dirty="0">
                <a:solidFill>
                  <a:srgbClr val="1A1A1A"/>
                </a:solidFill>
                <a:latin typeface="Arial" pitchFamily="34" charset="0"/>
                <a:ea typeface="Arial" pitchFamily="34" charset="-122"/>
                <a:cs typeface="Arial" pitchFamily="34" charset="-120"/>
              </a:rPr>
              <a:t>Behind the storefront the company must know who its leads are and how close each is to buying, keep a reliable purchase history, issue correct invoices with negotiated discounts, read the health of the business, and handle corporate clients who send whole teams.</a:t>
            </a:r>
            <a:endParaRPr lang="en-US" sz="1150" dirty="0"/>
          </a:p>
        </p:txBody>
      </p:sp>
      <p:sp>
        <p:nvSpPr>
          <p:cNvPr id="12" name="Text 9"/>
          <p:cNvSpPr/>
          <p:nvPr/>
        </p:nvSpPr>
        <p:spPr>
          <a:xfrm>
            <a:off x="411480" y="3291840"/>
            <a:ext cx="4892040" cy="960120"/>
          </a:xfrm>
          <a:prstGeom prst="rect">
            <a:avLst/>
          </a:prstGeom>
          <a:noFill/>
          <a:ln/>
        </p:spPr>
        <p:txBody>
          <a:bodyPr wrap="square" lIns="0" tIns="0" rIns="0" bIns="0" rtlCol="0" anchor="ctr"/>
          <a:lstStyle/>
          <a:p>
            <a:pPr marL="0" indent="0">
              <a:lnSpc>
                <a:spcPct val="114000"/>
              </a:lnSpc>
              <a:buNone/>
            </a:pPr>
            <a:r>
              <a:rPr lang="en-US" sz="1150" b="1" dirty="0">
                <a:solidFill>
                  <a:srgbClr val="1A1A1A"/>
                </a:solidFill>
                <a:latin typeface="Arial" pitchFamily="34" charset="0"/>
                <a:ea typeface="Arial" pitchFamily="34" charset="-122"/>
                <a:cs typeface="Arial" pitchFamily="34" charset="-120"/>
              </a:rPr>
              <a:t>The integration gap.  </a:t>
            </a:r>
            <a:r>
              <a:rPr lang="en-US" sz="1150" dirty="0">
                <a:solidFill>
                  <a:srgbClr val="1A1A1A"/>
                </a:solidFill>
                <a:latin typeface="Arial" pitchFamily="34" charset="0"/>
                <a:ea typeface="Arial" pitchFamily="34" charset="-122"/>
                <a:cs typeface="Arial" pitchFamily="34" charset="-120"/>
              </a:rPr>
              <a:t>These two sides are normally separate tools that must be synchronised. Every synchronisation point is a place where data can drift, and manual reconciliation is slow and error-prone.</a:t>
            </a:r>
            <a:endParaRPr lang="en-US" sz="1150" dirty="0"/>
          </a:p>
        </p:txBody>
      </p:sp>
      <p:sp>
        <p:nvSpPr>
          <p:cNvPr id="13" name="Shape 10"/>
          <p:cNvSpPr/>
          <p:nvPr/>
        </p:nvSpPr>
        <p:spPr>
          <a:xfrm>
            <a:off x="5532120" y="1051560"/>
            <a:ext cx="3200400" cy="329184"/>
          </a:xfrm>
          <a:prstGeom prst="rect">
            <a:avLst/>
          </a:prstGeom>
          <a:solidFill>
            <a:srgbClr val="E4AB26"/>
          </a:solidFill>
          <a:ln/>
        </p:spPr>
        <p:txBody>
          <a:bodyPr/>
          <a:lstStyle/>
          <a:p>
            <a:endParaRPr lang="en-US"/>
          </a:p>
        </p:txBody>
      </p:sp>
      <p:sp>
        <p:nvSpPr>
          <p:cNvPr id="14" name="Text 11"/>
          <p:cNvSpPr/>
          <p:nvPr/>
        </p:nvSpPr>
        <p:spPr>
          <a:xfrm>
            <a:off x="5650992" y="1051560"/>
            <a:ext cx="2962656" cy="32918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Problem statement</a:t>
            </a:r>
            <a:endParaRPr lang="en-US" sz="1300" dirty="0"/>
          </a:p>
        </p:txBody>
      </p:sp>
      <p:sp>
        <p:nvSpPr>
          <p:cNvPr id="15" name="Shape 12"/>
          <p:cNvSpPr/>
          <p:nvPr/>
        </p:nvSpPr>
        <p:spPr>
          <a:xfrm>
            <a:off x="5532120" y="1380744"/>
            <a:ext cx="3200400" cy="1664208"/>
          </a:xfrm>
          <a:prstGeom prst="rect">
            <a:avLst/>
          </a:prstGeom>
          <a:solidFill>
            <a:srgbClr val="FEF3F7"/>
          </a:solidFill>
          <a:ln/>
        </p:spPr>
        <p:txBody>
          <a:bodyPr/>
          <a:lstStyle/>
          <a:p>
            <a:endParaRPr lang="en-US"/>
          </a:p>
        </p:txBody>
      </p:sp>
      <p:sp>
        <p:nvSpPr>
          <p:cNvPr id="16" name="Text 13"/>
          <p:cNvSpPr/>
          <p:nvPr/>
        </p:nvSpPr>
        <p:spPr>
          <a:xfrm>
            <a:off x="5678424" y="1426464"/>
            <a:ext cx="2907792" cy="1572768"/>
          </a:xfrm>
          <a:prstGeom prst="rect">
            <a:avLst/>
          </a:prstGeom>
          <a:noFill/>
          <a:ln/>
        </p:spPr>
        <p:txBody>
          <a:bodyPr wrap="square" lIns="0" tIns="0" rIns="0" bIns="0" rtlCol="0" anchor="t"/>
          <a:lstStyle/>
          <a:p>
            <a:pPr marL="0" indent="0">
              <a:lnSpc>
                <a:spcPct val="112000"/>
              </a:lnSpc>
              <a:buNone/>
            </a:pPr>
            <a:r>
              <a:rPr lang="en-US" sz="1100" dirty="0">
                <a:solidFill>
                  <a:srgbClr val="1A1A1A"/>
                </a:solidFill>
                <a:latin typeface="Arial" pitchFamily="34" charset="0"/>
                <a:ea typeface="Arial" pitchFamily="34" charset="-122"/>
                <a:cs typeface="Arial" pitchFamily="34" charset="-120"/>
              </a:rPr>
              <a:t>Build a single web application in which the customer-facing storefront and the business-facing CRM are not two integrated systems but one system - so that every customer action is captured exactly once and automatically drives enrolment, invoicing, lead scoring, auditing and support.</a:t>
            </a:r>
            <a:endParaRPr lang="en-US" sz="1100" dirty="0"/>
          </a:p>
        </p:txBody>
      </p:sp>
      <p:sp>
        <p:nvSpPr>
          <p:cNvPr id="17" name="Shape 14"/>
          <p:cNvSpPr/>
          <p:nvPr/>
        </p:nvSpPr>
        <p:spPr>
          <a:xfrm>
            <a:off x="5532120" y="2999232"/>
            <a:ext cx="3200400" cy="914400"/>
          </a:xfrm>
          <a:prstGeom prst="rect">
            <a:avLst/>
          </a:prstGeom>
          <a:solidFill>
            <a:srgbClr val="F0F7FF"/>
          </a:solidFill>
          <a:ln/>
        </p:spPr>
        <p:txBody>
          <a:bodyPr/>
          <a:lstStyle/>
          <a:p>
            <a:endParaRPr lang="en-US"/>
          </a:p>
        </p:txBody>
      </p:sp>
      <p:sp>
        <p:nvSpPr>
          <p:cNvPr id="18" name="Text 15"/>
          <p:cNvSpPr/>
          <p:nvPr/>
        </p:nvSpPr>
        <p:spPr>
          <a:xfrm>
            <a:off x="5678424" y="3035808"/>
            <a:ext cx="2907792" cy="841248"/>
          </a:xfrm>
          <a:prstGeom prst="rect">
            <a:avLst/>
          </a:prstGeom>
          <a:noFill/>
          <a:ln/>
        </p:spPr>
        <p:txBody>
          <a:bodyPr wrap="square" lIns="0" tIns="0" rIns="0" bIns="0" rtlCol="0" anchor="ctr"/>
          <a:lstStyle/>
          <a:p>
            <a:pPr marL="0" indent="0" algn="l">
              <a:lnSpc>
                <a:spcPct val="112000"/>
              </a:lnSpc>
              <a:buNone/>
            </a:pPr>
            <a:r>
              <a:rPr lang="en-US" sz="1050" dirty="0">
                <a:solidFill>
                  <a:srgbClr val="1A1A1A"/>
                </a:solidFill>
                <a:latin typeface="Arial" pitchFamily="34" charset="0"/>
                <a:ea typeface="Arial" pitchFamily="34" charset="-122"/>
                <a:cs typeface="Arial" pitchFamily="34" charset="-120"/>
              </a:rPr>
              <a:t>It must also stay approachable for non-technical staff, keep the two roles strictly separated, and remain fully functional when optional services are switched off.</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Related Work Gap</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Existing tools solve parts of the problem, not the whole workflow</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2 / 13</a:t>
            </a:r>
            <a:endParaRPr lang="en-US" sz="750" dirty="0"/>
          </a:p>
        </p:txBody>
      </p:sp>
      <p:sp>
        <p:nvSpPr>
          <p:cNvPr id="10" name="Text 7"/>
          <p:cNvSpPr/>
          <p:nvPr/>
        </p:nvSpPr>
        <p:spPr>
          <a:xfrm>
            <a:off x="411480" y="1005840"/>
            <a:ext cx="8321040" cy="256032"/>
          </a:xfrm>
          <a:prstGeom prst="rect">
            <a:avLst/>
          </a:prstGeom>
          <a:noFill/>
          <a:ln/>
        </p:spPr>
        <p:txBody>
          <a:bodyPr wrap="square" lIns="0" tIns="0" rIns="0" bIns="0" rtlCol="0" anchor="ctr"/>
          <a:lstStyle/>
          <a:p>
            <a:pPr marL="0" indent="0">
              <a:buNone/>
            </a:pPr>
            <a:r>
              <a:rPr lang="en-US" sz="1100" dirty="0">
                <a:solidFill>
                  <a:srgbClr val="5A6472"/>
                </a:solidFill>
                <a:latin typeface="Arial" pitchFamily="34" charset="0"/>
                <a:ea typeface="Arial" pitchFamily="34" charset="-122"/>
                <a:cs typeface="Arial" pitchFamily="34" charset="-120"/>
              </a:rPr>
              <a:t>Each family of tools covers one side well; none unifies a course storefront and a CRM in a single product.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35024"/>
          <a:ext cx="8321040" cy="2286000"/>
        </p:xfrm>
        <a:graphic>
          <a:graphicData uri="http://schemas.openxmlformats.org/drawingml/2006/table">
            <a:tbl>
              <a:tblPr/>
              <a:tblGrid>
                <a:gridCol w="2212848">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73552">
                  <a:extLst>
                    <a:ext uri="{9D8B030D-6E8A-4147-A177-3AD203B41FA5}">
                      <a16:colId xmlns:a16="http://schemas.microsoft.com/office/drawing/2014/main" val="20002"/>
                    </a:ext>
                  </a:extLst>
                </a:gridCol>
              </a:tblGrid>
              <a:tr h="237744">
                <a:tc>
                  <a:txBody>
                    <a:bodyPr/>
                    <a:lstStyle/>
                    <a:p>
                      <a:pPr marL="0" indent="0">
                        <a:buNone/>
                      </a:pPr>
                      <a:r>
                        <a:rPr lang="en-US" sz="980" b="1" dirty="0">
                          <a:solidFill>
                            <a:srgbClr val="FFFFFF"/>
                          </a:solidFill>
                          <a:latin typeface="Arial" pitchFamily="34" charset="0"/>
                          <a:ea typeface="Arial" pitchFamily="34" charset="-122"/>
                          <a:cs typeface="Arial" pitchFamily="34" charset="-120"/>
                        </a:rPr>
                        <a:t>Tool family</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2461"/>
                    </a:solidFill>
                  </a:tcPr>
                </a:tc>
                <a:tc>
                  <a:txBody>
                    <a:bodyPr/>
                    <a:lstStyle/>
                    <a:p>
                      <a:pPr marL="0" indent="0">
                        <a:buNone/>
                      </a:pPr>
                      <a:r>
                        <a:rPr lang="en-US" sz="980" b="1" dirty="0">
                          <a:solidFill>
                            <a:srgbClr val="FFFFFF"/>
                          </a:solidFill>
                          <a:latin typeface="Arial" pitchFamily="34" charset="0"/>
                          <a:ea typeface="Arial" pitchFamily="34" charset="-122"/>
                          <a:cs typeface="Arial" pitchFamily="34" charset="-120"/>
                        </a:rPr>
                        <a:t>Strength</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2461"/>
                    </a:solidFill>
                  </a:tcPr>
                </a:tc>
                <a:tc>
                  <a:txBody>
                    <a:bodyPr/>
                    <a:lstStyle/>
                    <a:p>
                      <a:pPr marL="0" indent="0">
                        <a:buNone/>
                      </a:pPr>
                      <a:r>
                        <a:rPr lang="en-US" sz="980" b="1" dirty="0">
                          <a:solidFill>
                            <a:srgbClr val="FFFFFF"/>
                          </a:solidFill>
                          <a:latin typeface="Arial" pitchFamily="34" charset="0"/>
                          <a:ea typeface="Arial" pitchFamily="34" charset="-122"/>
                          <a:cs typeface="Arial" pitchFamily="34" charset="-120"/>
                        </a:rPr>
                        <a:t>Limitation</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2461"/>
                    </a:solidFill>
                  </a:tcPr>
                </a:tc>
                <a:extLst>
                  <a:ext uri="{0D108BD9-81ED-4DB2-BD59-A6C34878D82A}">
                    <a16:rowId xmlns:a16="http://schemas.microsoft.com/office/drawing/2014/main" val="10000"/>
                  </a:ext>
                </a:extLst>
              </a:tr>
              <a:tr h="512064">
                <a:tc>
                  <a:txBody>
                    <a:bodyPr/>
                    <a:lstStyle/>
                    <a:p>
                      <a:pPr marL="0" indent="0">
                        <a:buNone/>
                      </a:pPr>
                      <a:r>
                        <a:rPr lang="en-US" sz="980" b="1" dirty="0">
                          <a:solidFill>
                            <a:srgbClr val="022461"/>
                          </a:solidFill>
                          <a:latin typeface="Arial" pitchFamily="34" charset="0"/>
                          <a:ea typeface="Arial" pitchFamily="34" charset="-122"/>
                          <a:cs typeface="Arial" pitchFamily="34" charset="-120"/>
                        </a:rPr>
                        <a:t>Course marketplaces
</a:t>
                      </a:r>
                      <a:r>
                        <a:rPr lang="en-US" sz="900" dirty="0">
                          <a:solidFill>
                            <a:srgbClr val="5A6472"/>
                          </a:solidFill>
                          <a:latin typeface="Arial" pitchFamily="34" charset="0"/>
                          <a:ea typeface="Arial" pitchFamily="34" charset="-122"/>
                          <a:cs typeface="Arial" pitchFamily="34" charset="-120"/>
                        </a:rPr>
                        <a:t>e.g. Udemy, Coursera</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Excellent storefront, catalogue, reviews and checkout</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Aggregators: the provider owns no customer relationship and has no integrated CRM</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extLst>
                  <a:ext uri="{0D108BD9-81ED-4DB2-BD59-A6C34878D82A}">
                    <a16:rowId xmlns:a16="http://schemas.microsoft.com/office/drawing/2014/main" val="10001"/>
                  </a:ext>
                </a:extLst>
              </a:tr>
              <a:tr h="512064">
                <a:tc>
                  <a:txBody>
                    <a:bodyPr/>
                    <a:lstStyle/>
                    <a:p>
                      <a:pPr marL="0" indent="0">
                        <a:buNone/>
                      </a:pPr>
                      <a:r>
                        <a:rPr lang="en-US" sz="980" b="1" dirty="0">
                          <a:solidFill>
                            <a:srgbClr val="022461"/>
                          </a:solidFill>
                          <a:latin typeface="Arial" pitchFamily="34" charset="0"/>
                          <a:ea typeface="Arial" pitchFamily="34" charset="-122"/>
                          <a:cs typeface="Arial" pitchFamily="34" charset="-120"/>
                        </a:rPr>
                        <a:t>Learning management
</a:t>
                      </a:r>
                      <a:r>
                        <a:rPr lang="en-US" sz="900" dirty="0">
                          <a:solidFill>
                            <a:srgbClr val="5A6472"/>
                          </a:solidFill>
                          <a:latin typeface="Arial" pitchFamily="34" charset="0"/>
                          <a:ea typeface="Arial" pitchFamily="34" charset="-122"/>
                          <a:cs typeface="Arial" pitchFamily="34" charset="-120"/>
                        </a:rPr>
                        <a:t>e.g. Moodle</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Strong at delivering and tracking course content</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Built around content, not selling; commerce and CRM are plug-ins bolted on</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512064">
                <a:tc>
                  <a:txBody>
                    <a:bodyPr/>
                    <a:lstStyle/>
                    <a:p>
                      <a:pPr marL="0" indent="0">
                        <a:buNone/>
                      </a:pPr>
                      <a:r>
                        <a:rPr lang="en-US" sz="980" b="1" dirty="0">
                          <a:solidFill>
                            <a:srgbClr val="022461"/>
                          </a:solidFill>
                          <a:latin typeface="Arial" pitchFamily="34" charset="0"/>
                          <a:ea typeface="Arial" pitchFamily="34" charset="-122"/>
                          <a:cs typeface="Arial" pitchFamily="34" charset="-120"/>
                        </a:rPr>
                        <a:t>CRM platforms
</a:t>
                      </a:r>
                      <a:r>
                        <a:rPr lang="en-US" sz="900" dirty="0">
                          <a:solidFill>
                            <a:srgbClr val="5A6472"/>
                          </a:solidFill>
                          <a:latin typeface="Arial" pitchFamily="34" charset="0"/>
                          <a:ea typeface="Arial" pitchFamily="34" charset="-122"/>
                          <a:cs typeface="Arial" pitchFamily="34" charset="-120"/>
                        </a:rPr>
                        <a:t>e.g. Salesforce, HubSpot</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Powerful contacts, pipelines, lead scoring and reporting</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Generic: no course catalogue, trainer calendar or public storefront</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extLst>
                  <a:ext uri="{0D108BD9-81ED-4DB2-BD59-A6C34878D82A}">
                    <a16:rowId xmlns:a16="http://schemas.microsoft.com/office/drawing/2014/main" val="10003"/>
                  </a:ext>
                </a:extLst>
              </a:tr>
              <a:tr h="512064">
                <a:tc>
                  <a:txBody>
                    <a:bodyPr/>
                    <a:lstStyle/>
                    <a:p>
                      <a:pPr marL="0" indent="0">
                        <a:buNone/>
                      </a:pPr>
                      <a:r>
                        <a:rPr lang="en-US" sz="980" b="1" dirty="0">
                          <a:solidFill>
                            <a:srgbClr val="022461"/>
                          </a:solidFill>
                          <a:latin typeface="Arial" pitchFamily="34" charset="0"/>
                          <a:ea typeface="Arial" pitchFamily="34" charset="-122"/>
                          <a:cs typeface="Arial" pitchFamily="34" charset="-120"/>
                        </a:rPr>
                        <a:t>E-commerce engines
</a:t>
                      </a:r>
                      <a:r>
                        <a:rPr lang="en-US" sz="900" dirty="0">
                          <a:solidFill>
                            <a:srgbClr val="5A6472"/>
                          </a:solidFill>
                          <a:latin typeface="Arial" pitchFamily="34" charset="0"/>
                          <a:ea typeface="Arial" pitchFamily="34" charset="-122"/>
                          <a:cs typeface="Arial" pitchFamily="34" charset="-120"/>
                        </a:rPr>
                        <a:t>e.g. WooCommerce</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Self-hosted and able to sell anything, including courses</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tc>
                  <a:txBody>
                    <a:bodyPr/>
                    <a:lstStyle/>
                    <a:p>
                      <a:pPr marL="0" indent="0">
                        <a:buNone/>
                      </a:pPr>
                      <a:r>
                        <a:rPr lang="en-US" sz="980" dirty="0">
                          <a:solidFill>
                            <a:srgbClr val="1A1A1A"/>
                          </a:solidFill>
                          <a:latin typeface="Arial" pitchFamily="34" charset="0"/>
                          <a:ea typeface="Arial" pitchFamily="34" charset="-122"/>
                          <a:cs typeface="Arial" pitchFamily="34" charset="-120"/>
                        </a:rPr>
                        <a:t>A course is just a product: no lead stages, tutoring sessions or corporate training</a:t>
                      </a:r>
                      <a:endParaRPr lang="en-US" sz="980" dirty="0">
                        <a:latin typeface="Arial" charset="0"/>
                        <a:ea typeface="Arial" charset="0"/>
                        <a:cs typeface="Arial" charset="0"/>
                      </a:endParaRPr>
                    </a:p>
                  </a:txBody>
                  <a:tcPr marL="88900" marR="889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bl>
          </a:graphicData>
        </a:graphic>
      </p:graphicFrame>
      <p:sp>
        <p:nvSpPr>
          <p:cNvPr id="12" name="Shape 8"/>
          <p:cNvSpPr/>
          <p:nvPr/>
        </p:nvSpPr>
        <p:spPr>
          <a:xfrm>
            <a:off x="411480" y="3877056"/>
            <a:ext cx="8321040" cy="658368"/>
          </a:xfrm>
          <a:prstGeom prst="rect">
            <a:avLst/>
          </a:prstGeom>
          <a:solidFill>
            <a:srgbClr val="022461"/>
          </a:solidFill>
          <a:ln/>
        </p:spPr>
        <p:txBody>
          <a:bodyPr/>
          <a:lstStyle/>
          <a:p>
            <a:endParaRPr lang="en-US"/>
          </a:p>
        </p:txBody>
      </p:sp>
      <p:sp>
        <p:nvSpPr>
          <p:cNvPr id="13" name="Text 9"/>
          <p:cNvSpPr/>
          <p:nvPr/>
        </p:nvSpPr>
        <p:spPr>
          <a:xfrm>
            <a:off x="557784" y="3913632"/>
            <a:ext cx="8028432" cy="585216"/>
          </a:xfrm>
          <a:prstGeom prst="rect">
            <a:avLst/>
          </a:prstGeom>
          <a:noFill/>
          <a:ln/>
        </p:spPr>
        <p:txBody>
          <a:bodyPr wrap="square" lIns="0" tIns="0" rIns="0" bIns="0" rtlCol="0" anchor="ctr"/>
          <a:lstStyle/>
          <a:p>
            <a:pPr marL="0" indent="0" algn="ctr">
              <a:lnSpc>
                <a:spcPct val="112000"/>
              </a:lnSpc>
              <a:buNone/>
            </a:pPr>
            <a:r>
              <a:rPr lang="en-US" sz="1050" b="1" dirty="0">
                <a:solidFill>
                  <a:srgbClr val="FFFFFF"/>
                </a:solidFill>
                <a:latin typeface="Arial" pitchFamily="34" charset="0"/>
                <a:ea typeface="Arial" pitchFamily="34" charset="-122"/>
                <a:cs typeface="Arial" pitchFamily="34" charset="-120"/>
              </a:rPr>
              <a:t>TrainingIT unifies both sides in one application built on one shared data model, and specialises the generic CRM notions for the training domain: course sessions, trainer calendars, per-hour tutoring with employee discounts, and course-level click-through analytics.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Contribution</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A working product, not a prototype: storefront and CRM as one system</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3 / 13</a:t>
            </a:r>
            <a:endParaRPr lang="en-US" sz="750" dirty="0"/>
          </a:p>
        </p:txBody>
      </p:sp>
      <p:sp>
        <p:nvSpPr>
          <p:cNvPr id="10" name="Shape 7"/>
          <p:cNvSpPr/>
          <p:nvPr/>
        </p:nvSpPr>
        <p:spPr>
          <a:xfrm>
            <a:off x="411480" y="1024128"/>
            <a:ext cx="8321040" cy="329184"/>
          </a:xfrm>
          <a:prstGeom prst="rect">
            <a:avLst/>
          </a:prstGeom>
          <a:solidFill>
            <a:srgbClr val="022461"/>
          </a:solidFill>
          <a:ln/>
        </p:spPr>
        <p:txBody>
          <a:bodyPr/>
          <a:lstStyle/>
          <a:p>
            <a:endParaRPr lang="en-US"/>
          </a:p>
        </p:txBody>
      </p:sp>
      <p:sp>
        <p:nvSpPr>
          <p:cNvPr id="11" name="Text 8"/>
          <p:cNvSpPr/>
          <p:nvPr/>
        </p:nvSpPr>
        <p:spPr>
          <a:xfrm>
            <a:off x="530352" y="1024128"/>
            <a:ext cx="8083296" cy="32918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Applied contribution</a:t>
            </a:r>
            <a:endParaRPr lang="en-US" sz="1300" dirty="0"/>
          </a:p>
        </p:txBody>
      </p:sp>
      <p:sp>
        <p:nvSpPr>
          <p:cNvPr id="12" name="Shape 9"/>
          <p:cNvSpPr/>
          <p:nvPr/>
        </p:nvSpPr>
        <p:spPr>
          <a:xfrm>
            <a:off x="411480" y="1353312"/>
            <a:ext cx="8321040" cy="658368"/>
          </a:xfrm>
          <a:prstGeom prst="rect">
            <a:avLst/>
          </a:prstGeom>
          <a:solidFill>
            <a:srgbClr val="FEF3F7"/>
          </a:solidFill>
          <a:ln/>
        </p:spPr>
        <p:txBody>
          <a:bodyPr/>
          <a:lstStyle/>
          <a:p>
            <a:endParaRPr lang="en-US"/>
          </a:p>
        </p:txBody>
      </p:sp>
      <p:sp>
        <p:nvSpPr>
          <p:cNvPr id="13" name="Text 10"/>
          <p:cNvSpPr/>
          <p:nvPr/>
        </p:nvSpPr>
        <p:spPr>
          <a:xfrm>
            <a:off x="557784" y="1399032"/>
            <a:ext cx="8028432" cy="566928"/>
          </a:xfrm>
          <a:prstGeom prst="rect">
            <a:avLst/>
          </a:prstGeom>
          <a:noFill/>
          <a:ln/>
        </p:spPr>
        <p:txBody>
          <a:bodyPr wrap="square" lIns="0" tIns="0" rIns="0" bIns="0" rtlCol="0" anchor="t"/>
          <a:lstStyle/>
          <a:p>
            <a:pPr marL="0" indent="0">
              <a:lnSpc>
                <a:spcPct val="112000"/>
              </a:lnSpc>
              <a:buNone/>
            </a:pPr>
            <a:r>
              <a:rPr lang="en-US" sz="1100" dirty="0">
                <a:solidFill>
                  <a:srgbClr val="1A1A1A"/>
                </a:solidFill>
                <a:latin typeface="Arial" pitchFamily="34" charset="0"/>
                <a:ea typeface="Arial" pitchFamily="34" charset="-122"/>
                <a:cs typeface="Arial" pitchFamily="34" charset="-120"/>
              </a:rPr>
              <a:t>TrainingIT is a functional web application: a course marketplace whose every customer action is recorded exactly once in a complete CRM back office, on a Java domain layer organised around classic design patterns and an event-driven core, with an optional Claude-powered AI layer.</a:t>
            </a:r>
            <a:endParaRPr lang="en-US" sz="1100" dirty="0"/>
          </a:p>
        </p:txBody>
      </p:sp>
      <p:sp>
        <p:nvSpPr>
          <p:cNvPr id="14" name="Shape 11"/>
          <p:cNvSpPr/>
          <p:nvPr/>
        </p:nvSpPr>
        <p:spPr>
          <a:xfrm>
            <a:off x="411480" y="2084832"/>
            <a:ext cx="4069080" cy="329184"/>
          </a:xfrm>
          <a:prstGeom prst="rect">
            <a:avLst/>
          </a:prstGeom>
          <a:solidFill>
            <a:srgbClr val="2588E6"/>
          </a:solidFill>
          <a:ln/>
        </p:spPr>
        <p:txBody>
          <a:bodyPr/>
          <a:lstStyle/>
          <a:p>
            <a:endParaRPr lang="en-US"/>
          </a:p>
        </p:txBody>
      </p:sp>
      <p:sp>
        <p:nvSpPr>
          <p:cNvPr id="15" name="Text 12"/>
          <p:cNvSpPr/>
          <p:nvPr/>
        </p:nvSpPr>
        <p:spPr>
          <a:xfrm>
            <a:off x="530352" y="2084832"/>
            <a:ext cx="3831336" cy="32918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Objectives</a:t>
            </a:r>
            <a:endParaRPr lang="en-US" sz="1300" dirty="0"/>
          </a:p>
        </p:txBody>
      </p:sp>
      <p:sp>
        <p:nvSpPr>
          <p:cNvPr id="16" name="Shape 13"/>
          <p:cNvSpPr/>
          <p:nvPr/>
        </p:nvSpPr>
        <p:spPr>
          <a:xfrm>
            <a:off x="411480" y="2414016"/>
            <a:ext cx="4069080" cy="1938528"/>
          </a:xfrm>
          <a:prstGeom prst="rect">
            <a:avLst/>
          </a:prstGeom>
          <a:solidFill>
            <a:srgbClr val="FEF3F7"/>
          </a:solidFill>
          <a:ln/>
        </p:spPr>
        <p:txBody>
          <a:bodyPr/>
          <a:lstStyle/>
          <a:p>
            <a:endParaRPr lang="en-US"/>
          </a:p>
        </p:txBody>
      </p:sp>
      <p:sp>
        <p:nvSpPr>
          <p:cNvPr id="17" name="Text 14"/>
          <p:cNvSpPr/>
          <p:nvPr/>
        </p:nvSpPr>
        <p:spPr>
          <a:xfrm>
            <a:off x="557784" y="2478024"/>
            <a:ext cx="3776472" cy="1810512"/>
          </a:xfrm>
          <a:prstGeom prst="rect">
            <a:avLst/>
          </a:prstGeom>
          <a:noFill/>
          <a:ln/>
        </p:spPr>
        <p:txBody>
          <a:bodyPr wrap="square" lIns="0" tIns="0" rIns="0" bIns="0" rtlCol="0" anchor="t"/>
          <a:lstStyle/>
          <a:p>
            <a:pPr marL="177800" indent="-177800">
              <a:lnSpc>
                <a:spcPct val="110000"/>
              </a:lnSpc>
              <a:spcAft>
                <a:spcPts val="500"/>
              </a:spcAft>
              <a:buSzPct val="100000"/>
              <a:buChar char="○"/>
            </a:pPr>
            <a:r>
              <a:rPr lang="en-US" sz="1050" dirty="0">
                <a:solidFill>
                  <a:srgbClr val="1A1A1A"/>
                </a:solidFill>
                <a:latin typeface="Arial" pitchFamily="34" charset="0"/>
                <a:ea typeface="Arial" pitchFamily="34" charset="-122"/>
                <a:cs typeface="Arial" pitchFamily="34" charset="-120"/>
              </a:rPr>
              <a:t>A public client portal: browse, purchase, review, book one-to-one tutoring.</a:t>
            </a:r>
            <a:endParaRPr lang="en-US" sz="1050" dirty="0"/>
          </a:p>
          <a:p>
            <a:pPr marL="177800" indent="-177800">
              <a:lnSpc>
                <a:spcPct val="110000"/>
              </a:lnSpc>
              <a:spcAft>
                <a:spcPts val="500"/>
              </a:spcAft>
              <a:buSzPct val="100000"/>
              <a:buChar char="○"/>
            </a:pPr>
            <a:r>
              <a:rPr lang="en-US" sz="1050" dirty="0">
                <a:solidFill>
                  <a:srgbClr val="1A1A1A"/>
                </a:solidFill>
                <a:latin typeface="Arial" pitchFamily="34" charset="0"/>
                <a:ea typeface="Arial" pitchFamily="34" charset="-122"/>
                <a:cs typeface="Arial" pitchFamily="34" charset="-120"/>
              </a:rPr>
              <a:t>An administrator portal with seven management tabs.</a:t>
            </a:r>
            <a:endParaRPr lang="en-US" sz="1050" dirty="0"/>
          </a:p>
          <a:p>
            <a:pPr marL="177800" indent="-177800">
              <a:lnSpc>
                <a:spcPct val="110000"/>
              </a:lnSpc>
              <a:spcAft>
                <a:spcPts val="500"/>
              </a:spcAft>
              <a:buSzPct val="100000"/>
              <a:buChar char="○"/>
            </a:pPr>
            <a:r>
              <a:rPr lang="en-US" sz="1050" dirty="0">
                <a:solidFill>
                  <a:srgbClr val="1A1A1A"/>
                </a:solidFill>
                <a:latin typeface="Arial" pitchFamily="34" charset="0"/>
                <a:ea typeface="Arial" pitchFamily="34" charset="-122"/>
                <a:cs typeface="Arial" pitchFamily="34" charset="-120"/>
              </a:rPr>
              <a:t>A domain layer on design patterns and an event-driven core, so one action propagates into several automatic reactions.</a:t>
            </a:r>
            <a:endParaRPr lang="en-US" sz="1050" dirty="0"/>
          </a:p>
          <a:p>
            <a:pPr marL="177800" indent="-177800">
              <a:lnSpc>
                <a:spcPct val="110000"/>
              </a:lnSpc>
              <a:spcAft>
                <a:spcPts val="500"/>
              </a:spcAft>
              <a:buSzPct val="100000"/>
              <a:buChar char="○"/>
            </a:pPr>
            <a:r>
              <a:rPr lang="en-US" sz="1050" dirty="0">
                <a:solidFill>
                  <a:srgbClr val="1A1A1A"/>
                </a:solidFill>
                <a:latin typeface="Arial" pitchFamily="34" charset="0"/>
                <a:ea typeface="Arial" pitchFamily="34" charset="-122"/>
                <a:cs typeface="Arial" pitchFamily="34" charset="-120"/>
              </a:rPr>
              <a:t>An optional AI assistant that degrades gracefully.</a:t>
            </a:r>
            <a:endParaRPr lang="en-US" sz="1050" dirty="0"/>
          </a:p>
          <a:p>
            <a:pPr marL="177800" indent="-177800">
              <a:lnSpc>
                <a:spcPct val="110000"/>
              </a:lnSpc>
              <a:spcAft>
                <a:spcPts val="500"/>
              </a:spcAft>
              <a:buSzPct val="100000"/>
              <a:buChar char="○"/>
            </a:pPr>
            <a:r>
              <a:rPr lang="en-US" sz="1050" dirty="0">
                <a:solidFill>
                  <a:srgbClr val="1A1A1A"/>
                </a:solidFill>
                <a:latin typeface="Arial" pitchFamily="34" charset="0"/>
                <a:ea typeface="Arial" pitchFamily="34" charset="-122"/>
                <a:cs typeface="Arial" pitchFamily="34" charset="-120"/>
              </a:rPr>
              <a:t>All operational and CRM data persisted in MariaDB.</a:t>
            </a:r>
            <a:endParaRPr lang="en-US" sz="1050" dirty="0"/>
          </a:p>
        </p:txBody>
      </p:sp>
      <p:sp>
        <p:nvSpPr>
          <p:cNvPr id="18" name="Shape 15"/>
          <p:cNvSpPr/>
          <p:nvPr/>
        </p:nvSpPr>
        <p:spPr>
          <a:xfrm>
            <a:off x="4663440" y="2084832"/>
            <a:ext cx="4069080" cy="329184"/>
          </a:xfrm>
          <a:prstGeom prst="rect">
            <a:avLst/>
          </a:prstGeom>
          <a:solidFill>
            <a:srgbClr val="E4AB26"/>
          </a:solidFill>
          <a:ln/>
        </p:spPr>
        <p:txBody>
          <a:bodyPr/>
          <a:lstStyle/>
          <a:p>
            <a:endParaRPr lang="en-US"/>
          </a:p>
        </p:txBody>
      </p:sp>
      <p:sp>
        <p:nvSpPr>
          <p:cNvPr id="19" name="Text 16"/>
          <p:cNvSpPr/>
          <p:nvPr/>
        </p:nvSpPr>
        <p:spPr>
          <a:xfrm>
            <a:off x="4782312" y="2084832"/>
            <a:ext cx="3831336" cy="329184"/>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Design boundary</a:t>
            </a:r>
            <a:endParaRPr lang="en-US" sz="1300" dirty="0"/>
          </a:p>
        </p:txBody>
      </p:sp>
      <p:sp>
        <p:nvSpPr>
          <p:cNvPr id="20" name="Shape 17"/>
          <p:cNvSpPr/>
          <p:nvPr/>
        </p:nvSpPr>
        <p:spPr>
          <a:xfrm>
            <a:off x="4663440" y="2414016"/>
            <a:ext cx="4069080" cy="1938528"/>
          </a:xfrm>
          <a:prstGeom prst="rect">
            <a:avLst/>
          </a:prstGeom>
          <a:solidFill>
            <a:srgbClr val="FEF3F7"/>
          </a:solidFill>
          <a:ln/>
        </p:spPr>
        <p:txBody>
          <a:bodyPr/>
          <a:lstStyle/>
          <a:p>
            <a:endParaRPr lang="en-US"/>
          </a:p>
        </p:txBody>
      </p:sp>
      <p:sp>
        <p:nvSpPr>
          <p:cNvPr id="21" name="Text 18"/>
          <p:cNvSpPr/>
          <p:nvPr/>
        </p:nvSpPr>
        <p:spPr>
          <a:xfrm>
            <a:off x="4809744" y="2459736"/>
            <a:ext cx="3776472" cy="1847088"/>
          </a:xfrm>
          <a:prstGeom prst="rect">
            <a:avLst/>
          </a:prstGeom>
          <a:noFill/>
          <a:ln/>
        </p:spPr>
        <p:txBody>
          <a:bodyPr wrap="square" lIns="0" tIns="0" rIns="0" bIns="0" rtlCol="0" anchor="t"/>
          <a:lstStyle/>
          <a:p>
            <a:pPr marL="0" indent="0">
              <a:lnSpc>
                <a:spcPct val="112000"/>
              </a:lnSpc>
              <a:buNone/>
            </a:pPr>
            <a:r>
              <a:rPr lang="en-US" sz="1050" dirty="0">
                <a:solidFill>
                  <a:srgbClr val="1A1A1A"/>
                </a:solidFill>
                <a:latin typeface="Arial" pitchFamily="34" charset="0"/>
                <a:ea typeface="Arial" pitchFamily="34" charset="-122"/>
                <a:cs typeface="Arial" pitchFamily="34" charset="-120"/>
              </a:rPr>
              <a:t>The goal is not a general-purpose e-commerce platform, nor a general-purpose CRM.</a:t>
            </a:r>
            <a:endParaRPr lang="en-US" sz="1050" dirty="0"/>
          </a:p>
          <a:p>
            <a:pPr marL="0" indent="0">
              <a:lnSpc>
                <a:spcPct val="112000"/>
              </a:lnSpc>
              <a:buNone/>
            </a:pPr>
            <a:endParaRPr lang="en-US" sz="1050" dirty="0"/>
          </a:p>
          <a:p>
            <a:pPr marL="0" indent="0">
              <a:lnSpc>
                <a:spcPct val="112000"/>
              </a:lnSpc>
              <a:buNone/>
            </a:pPr>
            <a:r>
              <a:rPr lang="en-US" sz="1050" dirty="0">
                <a:solidFill>
                  <a:srgbClr val="1A1A1A"/>
                </a:solidFill>
                <a:latin typeface="Arial" pitchFamily="34" charset="0"/>
                <a:ea typeface="Arial" pitchFamily="34" charset="-122"/>
                <a:cs typeface="Arial" pitchFamily="34" charset="-120"/>
              </a:rPr>
              <a:t>The goal is one coherent product for a training company: a storefront a learner can use without instructions, over a CRM core a small team can actually run - where the AI layer is strictly additive and never a dependency.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System Context</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Three actors, one platform, two external services</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4 / 13</a:t>
            </a:r>
            <a:endParaRPr lang="en-US" sz="750" dirty="0"/>
          </a:p>
        </p:txBody>
      </p:sp>
      <p:pic>
        <p:nvPicPr>
          <p:cNvPr id="10" name="Image 1" descr="assets/d_context.png"/>
          <p:cNvPicPr>
            <a:picLocks noChangeAspect="1"/>
          </p:cNvPicPr>
          <p:nvPr/>
        </p:nvPicPr>
        <p:blipFill>
          <a:blip r:embed="rId4"/>
          <a:stretch>
            <a:fillRect/>
          </a:stretch>
        </p:blipFill>
        <p:spPr>
          <a:xfrm>
            <a:off x="731520" y="1115568"/>
            <a:ext cx="7680960" cy="2345436"/>
          </a:xfrm>
          <a:prstGeom prst="rect">
            <a:avLst/>
          </a:prstGeom>
        </p:spPr>
      </p:pic>
      <p:sp>
        <p:nvSpPr>
          <p:cNvPr id="11" name="Shape 7"/>
          <p:cNvSpPr/>
          <p:nvPr/>
        </p:nvSpPr>
        <p:spPr>
          <a:xfrm>
            <a:off x="731520" y="3657600"/>
            <a:ext cx="7680960" cy="603504"/>
          </a:xfrm>
          <a:prstGeom prst="rect">
            <a:avLst/>
          </a:prstGeom>
          <a:solidFill>
            <a:srgbClr val="FEF3F7"/>
          </a:solidFill>
          <a:ln/>
        </p:spPr>
        <p:txBody>
          <a:bodyPr/>
          <a:lstStyle/>
          <a:p>
            <a:endParaRPr lang="en-US"/>
          </a:p>
        </p:txBody>
      </p:sp>
      <p:sp>
        <p:nvSpPr>
          <p:cNvPr id="12" name="Text 8"/>
          <p:cNvSpPr/>
          <p:nvPr/>
        </p:nvSpPr>
        <p:spPr>
          <a:xfrm>
            <a:off x="877824" y="3694176"/>
            <a:ext cx="7388352" cy="530352"/>
          </a:xfrm>
          <a:prstGeom prst="rect">
            <a:avLst/>
          </a:prstGeom>
          <a:noFill/>
          <a:ln/>
        </p:spPr>
        <p:txBody>
          <a:bodyPr wrap="square" lIns="0" tIns="0" rIns="0" bIns="0" rtlCol="0" anchor="ctr"/>
          <a:lstStyle/>
          <a:p>
            <a:pPr marL="0" indent="0" algn="l">
              <a:lnSpc>
                <a:spcPct val="112000"/>
              </a:lnSpc>
              <a:buNone/>
            </a:pPr>
            <a:r>
              <a:rPr lang="en-US" sz="1080" dirty="0">
                <a:solidFill>
                  <a:srgbClr val="1A1A1A"/>
                </a:solidFill>
                <a:latin typeface="Arial" pitchFamily="34" charset="0"/>
                <a:ea typeface="Arial" pitchFamily="34" charset="-122"/>
                <a:cs typeface="Arial" pitchFamily="34" charset="-120"/>
              </a:rPr>
              <a:t>Learners and partner-company employees buy and review courses; administrators run the CRM, catalogue, billing and analytics; trainers provide tutoring availability. MariaDB stores everything; the Anthropic Claude API is the only other dependency - and it is optional.</a:t>
            </a:r>
            <a:endParaRPr lang="en-US" sz="10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Application Architecture</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Four layers behind one REST API and a real-time event stream</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5 / 13</a:t>
            </a:r>
            <a:endParaRPr lang="en-US" sz="750" dirty="0"/>
          </a:p>
        </p:txBody>
      </p:sp>
      <p:pic>
        <p:nvPicPr>
          <p:cNvPr id="10" name="Image 1" descr="assets/d_arch.png"/>
          <p:cNvPicPr>
            <a:picLocks noChangeAspect="1"/>
          </p:cNvPicPr>
          <p:nvPr/>
        </p:nvPicPr>
        <p:blipFill>
          <a:blip r:embed="rId4"/>
          <a:stretch>
            <a:fillRect/>
          </a:stretch>
        </p:blipFill>
        <p:spPr>
          <a:xfrm>
            <a:off x="384048" y="1060704"/>
            <a:ext cx="3986784" cy="3218688"/>
          </a:xfrm>
          <a:prstGeom prst="rect">
            <a:avLst/>
          </a:prstGeom>
        </p:spPr>
      </p:pic>
      <p:sp>
        <p:nvSpPr>
          <p:cNvPr id="11" name="Shape 7"/>
          <p:cNvSpPr/>
          <p:nvPr/>
        </p:nvSpPr>
        <p:spPr>
          <a:xfrm>
            <a:off x="4617720" y="1097280"/>
            <a:ext cx="4114800" cy="731520"/>
          </a:xfrm>
          <a:prstGeom prst="rect">
            <a:avLst/>
          </a:prstGeom>
          <a:solidFill>
            <a:srgbClr val="FEF3F7"/>
          </a:solidFill>
          <a:ln/>
        </p:spPr>
        <p:txBody>
          <a:bodyPr/>
          <a:lstStyle/>
          <a:p>
            <a:endParaRPr lang="en-US"/>
          </a:p>
        </p:txBody>
      </p:sp>
      <p:sp>
        <p:nvSpPr>
          <p:cNvPr id="12" name="Text 8"/>
          <p:cNvSpPr/>
          <p:nvPr/>
        </p:nvSpPr>
        <p:spPr>
          <a:xfrm>
            <a:off x="4745736" y="1133856"/>
            <a:ext cx="3858768" cy="658368"/>
          </a:xfrm>
          <a:prstGeom prst="rect">
            <a:avLst/>
          </a:prstGeom>
          <a:noFill/>
          <a:ln/>
        </p:spPr>
        <p:txBody>
          <a:bodyPr wrap="square" lIns="0" tIns="0" rIns="0" bIns="0" rtlCol="0" anchor="ctr"/>
          <a:lstStyle/>
          <a:p>
            <a:pPr marL="0" indent="0">
              <a:lnSpc>
                <a:spcPct val="106000"/>
              </a:lnSpc>
              <a:buNone/>
            </a:pPr>
            <a:r>
              <a:rPr lang="en-US" sz="1050" b="1" dirty="0">
                <a:solidFill>
                  <a:srgbClr val="022461"/>
                </a:solidFill>
                <a:latin typeface="Arial" pitchFamily="34" charset="0"/>
                <a:ea typeface="Arial" pitchFamily="34" charset="-122"/>
                <a:cs typeface="Arial" pitchFamily="34" charset="-120"/>
              </a:rPr>
              <a:t>Presentation - Next.js 16, React, Tailwind v4
</a:t>
            </a:r>
            <a:r>
              <a:rPr lang="en-US" sz="980" dirty="0">
                <a:solidFill>
                  <a:srgbClr val="1A1A1A"/>
                </a:solidFill>
                <a:latin typeface="Arial" pitchFamily="34" charset="0"/>
                <a:ea typeface="Arial" pitchFamily="34" charset="-122"/>
                <a:cs typeface="Arial" pitchFamily="34" charset="-120"/>
              </a:rPr>
              <a:t>Pages, route guards from the local session, a typed REST client and a Server-Sent Events client for live statistics.</a:t>
            </a:r>
            <a:endParaRPr lang="en-US" sz="1050" dirty="0"/>
          </a:p>
        </p:txBody>
      </p:sp>
      <p:sp>
        <p:nvSpPr>
          <p:cNvPr id="13" name="Shape 9"/>
          <p:cNvSpPr/>
          <p:nvPr/>
        </p:nvSpPr>
        <p:spPr>
          <a:xfrm>
            <a:off x="4617720" y="1901952"/>
            <a:ext cx="4114800" cy="731520"/>
          </a:xfrm>
          <a:prstGeom prst="rect">
            <a:avLst/>
          </a:prstGeom>
          <a:solidFill>
            <a:srgbClr val="F0F7FF"/>
          </a:solidFill>
          <a:ln/>
        </p:spPr>
        <p:txBody>
          <a:bodyPr/>
          <a:lstStyle/>
          <a:p>
            <a:endParaRPr lang="en-US"/>
          </a:p>
        </p:txBody>
      </p:sp>
      <p:sp>
        <p:nvSpPr>
          <p:cNvPr id="14" name="Text 10"/>
          <p:cNvSpPr/>
          <p:nvPr/>
        </p:nvSpPr>
        <p:spPr>
          <a:xfrm>
            <a:off x="4745736" y="1938528"/>
            <a:ext cx="3858768" cy="658368"/>
          </a:xfrm>
          <a:prstGeom prst="rect">
            <a:avLst/>
          </a:prstGeom>
          <a:noFill/>
          <a:ln/>
        </p:spPr>
        <p:txBody>
          <a:bodyPr wrap="square" lIns="0" tIns="0" rIns="0" bIns="0" rtlCol="0" anchor="ctr"/>
          <a:lstStyle/>
          <a:p>
            <a:pPr marL="0" indent="0">
              <a:lnSpc>
                <a:spcPct val="106000"/>
              </a:lnSpc>
              <a:buNone/>
            </a:pPr>
            <a:r>
              <a:rPr lang="en-US" sz="1050" b="1" dirty="0">
                <a:solidFill>
                  <a:srgbClr val="022461"/>
                </a:solidFill>
                <a:latin typeface="Arial" pitchFamily="34" charset="0"/>
                <a:ea typeface="Arial" pitchFamily="34" charset="-122"/>
                <a:cs typeface="Arial" pitchFamily="34" charset="-120"/>
              </a:rPr>
              <a:t>Application - Spring Boot 3.5, Java 17
</a:t>
            </a:r>
            <a:r>
              <a:rPr lang="en-US" sz="980" dirty="0">
                <a:solidFill>
                  <a:srgbClr val="1A1A1A"/>
                </a:solidFill>
                <a:latin typeface="Arial" pitchFamily="34" charset="0"/>
                <a:ea typeface="Arial" pitchFamily="34" charset="-122"/>
                <a:cs typeface="Arial" pitchFamily="34" charset="-120"/>
              </a:rPr>
              <a:t>REST controllers under /api, the auth, AI, trainer and report services, and a public statistics broadcaster.</a:t>
            </a:r>
            <a:endParaRPr lang="en-US" sz="1050" dirty="0"/>
          </a:p>
        </p:txBody>
      </p:sp>
      <p:sp>
        <p:nvSpPr>
          <p:cNvPr id="15" name="Shape 11"/>
          <p:cNvSpPr/>
          <p:nvPr/>
        </p:nvSpPr>
        <p:spPr>
          <a:xfrm>
            <a:off x="4617720" y="2706624"/>
            <a:ext cx="4114800" cy="731520"/>
          </a:xfrm>
          <a:prstGeom prst="rect">
            <a:avLst/>
          </a:prstGeom>
          <a:solidFill>
            <a:srgbClr val="FEF3F7"/>
          </a:solidFill>
          <a:ln/>
        </p:spPr>
        <p:txBody>
          <a:bodyPr/>
          <a:lstStyle/>
          <a:p>
            <a:endParaRPr lang="en-US"/>
          </a:p>
        </p:txBody>
      </p:sp>
      <p:sp>
        <p:nvSpPr>
          <p:cNvPr id="16" name="Text 12"/>
          <p:cNvSpPr/>
          <p:nvPr/>
        </p:nvSpPr>
        <p:spPr>
          <a:xfrm>
            <a:off x="4745736" y="2743200"/>
            <a:ext cx="3858768" cy="658368"/>
          </a:xfrm>
          <a:prstGeom prst="rect">
            <a:avLst/>
          </a:prstGeom>
          <a:noFill/>
          <a:ln/>
        </p:spPr>
        <p:txBody>
          <a:bodyPr wrap="square" lIns="0" tIns="0" rIns="0" bIns="0" rtlCol="0" anchor="ctr"/>
          <a:lstStyle/>
          <a:p>
            <a:pPr marL="0" indent="0">
              <a:lnSpc>
                <a:spcPct val="106000"/>
              </a:lnSpc>
              <a:buNone/>
            </a:pPr>
            <a:r>
              <a:rPr lang="en-US" sz="1050" b="1" dirty="0">
                <a:solidFill>
                  <a:srgbClr val="022461"/>
                </a:solidFill>
                <a:latin typeface="Arial" pitchFamily="34" charset="0"/>
                <a:ea typeface="Arial" pitchFamily="34" charset="-122"/>
                <a:cs typeface="Arial" pitchFamily="34" charset="-120"/>
              </a:rPr>
              <a:t>Domain - plain Java
</a:t>
            </a:r>
            <a:r>
              <a:rPr lang="en-US" sz="980" dirty="0">
                <a:solidFill>
                  <a:srgbClr val="1A1A1A"/>
                </a:solidFill>
                <a:latin typeface="Arial" pitchFamily="34" charset="0"/>
                <a:ea typeface="Arial" pitchFamily="34" charset="-122"/>
                <a:cs typeface="Arial" pitchFamily="34" charset="-120"/>
              </a:rPr>
              <a:t>Commands, domain services, an EventBus with observers, and repositories. CrmFacade is the single entry point over all of it.</a:t>
            </a:r>
            <a:endParaRPr lang="en-US" sz="1050" dirty="0"/>
          </a:p>
        </p:txBody>
      </p:sp>
      <p:sp>
        <p:nvSpPr>
          <p:cNvPr id="17" name="Shape 13"/>
          <p:cNvSpPr/>
          <p:nvPr/>
        </p:nvSpPr>
        <p:spPr>
          <a:xfrm>
            <a:off x="4617720" y="3511296"/>
            <a:ext cx="4114800" cy="731520"/>
          </a:xfrm>
          <a:prstGeom prst="rect">
            <a:avLst/>
          </a:prstGeom>
          <a:solidFill>
            <a:srgbClr val="F0F7FF"/>
          </a:solidFill>
          <a:ln/>
        </p:spPr>
        <p:txBody>
          <a:bodyPr/>
          <a:lstStyle/>
          <a:p>
            <a:endParaRPr lang="en-US"/>
          </a:p>
        </p:txBody>
      </p:sp>
      <p:sp>
        <p:nvSpPr>
          <p:cNvPr id="18" name="Text 14"/>
          <p:cNvSpPr/>
          <p:nvPr/>
        </p:nvSpPr>
        <p:spPr>
          <a:xfrm>
            <a:off x="4745736" y="3547872"/>
            <a:ext cx="3858768" cy="658368"/>
          </a:xfrm>
          <a:prstGeom prst="rect">
            <a:avLst/>
          </a:prstGeom>
          <a:noFill/>
          <a:ln/>
        </p:spPr>
        <p:txBody>
          <a:bodyPr wrap="square" lIns="0" tIns="0" rIns="0" bIns="0" rtlCol="0" anchor="ctr"/>
          <a:lstStyle/>
          <a:p>
            <a:pPr marL="0" indent="0">
              <a:lnSpc>
                <a:spcPct val="106000"/>
              </a:lnSpc>
              <a:buNone/>
            </a:pPr>
            <a:r>
              <a:rPr lang="en-US" sz="1050" b="1" dirty="0">
                <a:solidFill>
                  <a:srgbClr val="022461"/>
                </a:solidFill>
                <a:latin typeface="Arial" pitchFamily="34" charset="0"/>
                <a:ea typeface="Arial" pitchFamily="34" charset="-122"/>
                <a:cs typeface="Arial" pitchFamily="34" charset="-120"/>
              </a:rPr>
              <a:t>Persistence - MariaDB via JDBC and HikariCP
</a:t>
            </a:r>
            <a:r>
              <a:rPr lang="en-US" sz="980" dirty="0">
                <a:solidFill>
                  <a:srgbClr val="1A1A1A"/>
                </a:solidFill>
                <a:latin typeface="Arial" pitchFamily="34" charset="0"/>
                <a:ea typeface="Arial" pitchFamily="34" charset="-122"/>
                <a:cs typeface="Arial" pitchFamily="34" charset="-120"/>
              </a:rPr>
              <a:t>Contacts, enrolments, invoices and issues survive restarts; the schema is created and updated at start-up.</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Role-Based Navigation</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The login result decides the portal, and the two never mix</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6 / 13</a:t>
            </a:r>
            <a:endParaRPr lang="en-US" sz="750" dirty="0"/>
          </a:p>
        </p:txBody>
      </p:sp>
      <p:pic>
        <p:nvPicPr>
          <p:cNvPr id="10" name="Image 1" descr="assets/d_roleflow.png"/>
          <p:cNvPicPr>
            <a:picLocks noChangeAspect="1"/>
          </p:cNvPicPr>
          <p:nvPr/>
        </p:nvPicPr>
        <p:blipFill>
          <a:blip r:embed="rId4"/>
          <a:stretch>
            <a:fillRect/>
          </a:stretch>
        </p:blipFill>
        <p:spPr>
          <a:xfrm>
            <a:off x="502920" y="1024128"/>
            <a:ext cx="2624328" cy="3392424"/>
          </a:xfrm>
          <a:prstGeom prst="rect">
            <a:avLst/>
          </a:prstGeom>
        </p:spPr>
      </p:pic>
      <p:sp>
        <p:nvSpPr>
          <p:cNvPr id="11" name="Text 7"/>
          <p:cNvSpPr/>
          <p:nvPr/>
        </p:nvSpPr>
        <p:spPr>
          <a:xfrm>
            <a:off x="3474720" y="1078992"/>
            <a:ext cx="5257800" cy="1005840"/>
          </a:xfrm>
          <a:prstGeom prst="rect">
            <a:avLst/>
          </a:prstGeom>
          <a:noFill/>
          <a:ln/>
        </p:spPr>
        <p:txBody>
          <a:bodyPr wrap="square" lIns="0" tIns="0" rIns="0" bIns="0" rtlCol="0" anchor="ctr"/>
          <a:lstStyle/>
          <a:p>
            <a:pPr marL="0" indent="0">
              <a:lnSpc>
                <a:spcPct val="112000"/>
              </a:lnSpc>
              <a:buNone/>
            </a:pPr>
            <a:r>
              <a:rPr lang="en-US" sz="1200" b="1" dirty="0">
                <a:solidFill>
                  <a:srgbClr val="022461"/>
                </a:solidFill>
                <a:latin typeface="Arial" pitchFamily="34" charset="0"/>
                <a:ea typeface="Arial" pitchFamily="34" charset="-122"/>
                <a:cs typeface="Arial" pitchFamily="34" charset="-120"/>
              </a:rPr>
              <a:t>One login, two experiences.
</a:t>
            </a:r>
            <a:r>
              <a:rPr lang="en-US" sz="1100" dirty="0">
                <a:solidFill>
                  <a:srgbClr val="1A1A1A"/>
                </a:solidFill>
                <a:latin typeface="Arial" pitchFamily="34" charset="0"/>
                <a:ea typeface="Arial" pitchFamily="34" charset="-122"/>
                <a:cs typeface="Arial" pitchFamily="34" charset="-120"/>
              </a:rPr>
              <a:t>The back end looks the e-mail up across the contact, administrator and employee tables and verifies the password. The role it returns decides the destination: a USER lands on the public portal, an ADMIN on /admin.</a:t>
            </a:r>
            <a:endParaRPr lang="en-US" sz="1200" dirty="0"/>
          </a:p>
        </p:txBody>
      </p:sp>
      <p:sp>
        <p:nvSpPr>
          <p:cNvPr id="12" name="Shape 8"/>
          <p:cNvSpPr/>
          <p:nvPr/>
        </p:nvSpPr>
        <p:spPr>
          <a:xfrm>
            <a:off x="3474720" y="2176272"/>
            <a:ext cx="5257800" cy="292608"/>
          </a:xfrm>
          <a:prstGeom prst="rect">
            <a:avLst/>
          </a:prstGeom>
          <a:solidFill>
            <a:srgbClr val="022461"/>
          </a:solidFill>
          <a:ln/>
        </p:spPr>
        <p:txBody>
          <a:bodyPr/>
          <a:lstStyle/>
          <a:p>
            <a:endParaRPr lang="en-US"/>
          </a:p>
        </p:txBody>
      </p:sp>
      <p:sp>
        <p:nvSpPr>
          <p:cNvPr id="13" name="Text 9"/>
          <p:cNvSpPr/>
          <p:nvPr/>
        </p:nvSpPr>
        <p:spPr>
          <a:xfrm>
            <a:off x="3593592" y="2176272"/>
            <a:ext cx="5020056"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Enforced separation</a:t>
            </a:r>
            <a:endParaRPr lang="en-US" sz="1200" dirty="0"/>
          </a:p>
        </p:txBody>
      </p:sp>
      <p:sp>
        <p:nvSpPr>
          <p:cNvPr id="14" name="Shape 10"/>
          <p:cNvSpPr/>
          <p:nvPr/>
        </p:nvSpPr>
        <p:spPr>
          <a:xfrm>
            <a:off x="3474720" y="2468880"/>
            <a:ext cx="5257800" cy="932688"/>
          </a:xfrm>
          <a:prstGeom prst="rect">
            <a:avLst/>
          </a:prstGeom>
          <a:solidFill>
            <a:srgbClr val="FEF3F7"/>
          </a:solidFill>
          <a:ln/>
        </p:spPr>
        <p:txBody>
          <a:bodyPr/>
          <a:lstStyle/>
          <a:p>
            <a:endParaRPr lang="en-US"/>
          </a:p>
        </p:txBody>
      </p:sp>
      <p:sp>
        <p:nvSpPr>
          <p:cNvPr id="15" name="Text 11"/>
          <p:cNvSpPr/>
          <p:nvPr/>
        </p:nvSpPr>
        <p:spPr>
          <a:xfrm>
            <a:off x="3621024" y="2514600"/>
            <a:ext cx="4965192" cy="841248"/>
          </a:xfrm>
          <a:prstGeom prst="rect">
            <a:avLst/>
          </a:prstGeom>
          <a:noFill/>
          <a:ln/>
        </p:spPr>
        <p:txBody>
          <a:bodyPr wrap="square" lIns="0" tIns="0" rIns="0" bIns="0" rtlCol="0" anchor="t"/>
          <a:lstStyle/>
          <a:p>
            <a:pPr marL="0" indent="0">
              <a:lnSpc>
                <a:spcPct val="112000"/>
              </a:lnSpc>
              <a:buNone/>
            </a:pPr>
            <a:r>
              <a:rPr lang="en-US" sz="1050" dirty="0">
                <a:solidFill>
                  <a:srgbClr val="1A1A1A"/>
                </a:solidFill>
                <a:latin typeface="Arial" pitchFamily="34" charset="0"/>
                <a:ea typeface="Arial" pitchFamily="34" charset="-122"/>
                <a:cs typeface="Arial" pitchFamily="34" charset="-120"/>
              </a:rPr>
              <a:t>If an administrator requests a client route, or a client requests an administrator route, the application redirects them back to their own portal. An unauthenticated visitor reaches only the login, registration and password-recovery screens.</a:t>
            </a:r>
            <a:endParaRPr lang="en-US" sz="1050" dirty="0"/>
          </a:p>
        </p:txBody>
      </p:sp>
      <p:sp>
        <p:nvSpPr>
          <p:cNvPr id="16" name="Shape 12"/>
          <p:cNvSpPr/>
          <p:nvPr/>
        </p:nvSpPr>
        <p:spPr>
          <a:xfrm>
            <a:off x="3474720" y="3310128"/>
            <a:ext cx="5257800" cy="292608"/>
          </a:xfrm>
          <a:prstGeom prst="rect">
            <a:avLst/>
          </a:prstGeom>
          <a:solidFill>
            <a:srgbClr val="2588E6"/>
          </a:solidFill>
          <a:ln/>
        </p:spPr>
        <p:txBody>
          <a:bodyPr/>
          <a:lstStyle/>
          <a:p>
            <a:endParaRPr lang="en-US"/>
          </a:p>
        </p:txBody>
      </p:sp>
      <p:sp>
        <p:nvSpPr>
          <p:cNvPr id="17" name="Text 13"/>
          <p:cNvSpPr/>
          <p:nvPr/>
        </p:nvSpPr>
        <p:spPr>
          <a:xfrm>
            <a:off x="3593592" y="3310128"/>
            <a:ext cx="5020056"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Employees are resolved on the way in</a:t>
            </a:r>
            <a:endParaRPr lang="en-US" sz="1200" dirty="0"/>
          </a:p>
        </p:txBody>
      </p:sp>
      <p:sp>
        <p:nvSpPr>
          <p:cNvPr id="18" name="Shape 14"/>
          <p:cNvSpPr/>
          <p:nvPr/>
        </p:nvSpPr>
        <p:spPr>
          <a:xfrm>
            <a:off x="3474720" y="3602736"/>
            <a:ext cx="5257800" cy="932688"/>
          </a:xfrm>
          <a:prstGeom prst="rect">
            <a:avLst/>
          </a:prstGeom>
          <a:solidFill>
            <a:srgbClr val="FEF3F7"/>
          </a:solidFill>
          <a:ln/>
        </p:spPr>
        <p:txBody>
          <a:bodyPr/>
          <a:lstStyle/>
          <a:p>
            <a:endParaRPr lang="en-US"/>
          </a:p>
        </p:txBody>
      </p:sp>
      <p:sp>
        <p:nvSpPr>
          <p:cNvPr id="19" name="Text 15"/>
          <p:cNvSpPr/>
          <p:nvPr/>
        </p:nvSpPr>
        <p:spPr>
          <a:xfrm>
            <a:off x="3621024" y="3648456"/>
            <a:ext cx="4965192" cy="841248"/>
          </a:xfrm>
          <a:prstGeom prst="rect">
            <a:avLst/>
          </a:prstGeom>
          <a:noFill/>
          <a:ln/>
        </p:spPr>
        <p:txBody>
          <a:bodyPr wrap="square" lIns="0" tIns="0" rIns="0" bIns="0" rtlCol="0" anchor="t"/>
          <a:lstStyle/>
          <a:p>
            <a:pPr marL="0" indent="0">
              <a:lnSpc>
                <a:spcPct val="112000"/>
              </a:lnSpc>
              <a:buNone/>
            </a:pPr>
            <a:r>
              <a:rPr lang="en-US" sz="1050" dirty="0">
                <a:solidFill>
                  <a:srgbClr val="1A1A1A"/>
                </a:solidFill>
                <a:latin typeface="Arial" pitchFamily="34" charset="0"/>
                <a:ea typeface="Arial" pitchFamily="34" charset="-122"/>
                <a:cs typeface="Arial" pitchFamily="34" charset="-120"/>
              </a:rPr>
              <a:t>When a partner-company employee signs in, the system resolves or creates their portal contact and applies the negotiated employee discount automatically - so corporate pricing needs no separate account type.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Domain Design</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Classic design patterns keep the unified model maintainable</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7 / 13</a:t>
            </a:r>
            <a:endParaRPr lang="en-US" sz="750" dirty="0"/>
          </a:p>
        </p:txBody>
      </p:sp>
      <p:pic>
        <p:nvPicPr>
          <p:cNvPr id="10" name="Image 1" descr="assets/d_patterns.png"/>
          <p:cNvPicPr>
            <a:picLocks noChangeAspect="1"/>
          </p:cNvPicPr>
          <p:nvPr/>
        </p:nvPicPr>
        <p:blipFill>
          <a:blip r:embed="rId4"/>
          <a:stretch>
            <a:fillRect/>
          </a:stretch>
        </p:blipFill>
        <p:spPr>
          <a:xfrm>
            <a:off x="502920" y="1042416"/>
            <a:ext cx="8138160" cy="2697480"/>
          </a:xfrm>
          <a:prstGeom prst="rect">
            <a:avLst/>
          </a:prstGeom>
        </p:spPr>
      </p:pic>
      <p:sp>
        <p:nvSpPr>
          <p:cNvPr id="11" name="Shape 7"/>
          <p:cNvSpPr/>
          <p:nvPr/>
        </p:nvSpPr>
        <p:spPr>
          <a:xfrm>
            <a:off x="502920" y="3840480"/>
            <a:ext cx="8138160" cy="658368"/>
          </a:xfrm>
          <a:prstGeom prst="rect">
            <a:avLst/>
          </a:prstGeom>
          <a:solidFill>
            <a:srgbClr val="FEF3F7"/>
          </a:solidFill>
          <a:ln/>
        </p:spPr>
        <p:txBody>
          <a:bodyPr/>
          <a:lstStyle/>
          <a:p>
            <a:endParaRPr lang="en-US"/>
          </a:p>
        </p:txBody>
      </p:sp>
      <p:sp>
        <p:nvSpPr>
          <p:cNvPr id="12" name="Text 8"/>
          <p:cNvSpPr/>
          <p:nvPr/>
        </p:nvSpPr>
        <p:spPr>
          <a:xfrm>
            <a:off x="649224" y="3877056"/>
            <a:ext cx="7845552" cy="585216"/>
          </a:xfrm>
          <a:prstGeom prst="rect">
            <a:avLst/>
          </a:prstGeom>
          <a:noFill/>
          <a:ln/>
        </p:spPr>
        <p:txBody>
          <a:bodyPr wrap="square" lIns="0" tIns="0" rIns="0" bIns="0" rtlCol="0" anchor="ctr"/>
          <a:lstStyle/>
          <a:p>
            <a:pPr marL="0" indent="0" algn="l">
              <a:lnSpc>
                <a:spcPct val="112000"/>
              </a:lnSpc>
              <a:buNone/>
            </a:pPr>
            <a:r>
              <a:rPr lang="en-US" sz="1020" dirty="0">
                <a:solidFill>
                  <a:srgbClr val="1A1A1A"/>
                </a:solidFill>
                <a:latin typeface="Arial" pitchFamily="34" charset="0"/>
                <a:ea typeface="Arial" pitchFamily="34" charset="-122"/>
                <a:cs typeface="Arial" pitchFamily="34" charset="-120"/>
              </a:rPr>
              <a:t>Facade - one entry point over the CRM  ·  Command - every write is an executable command  ·  Observer - an EventBus fans one event out to invoice generation, audit logging, confirmations and lead re-scoring  ·  Strategy - individuals and companies score differently  ·  Factory and Builder - notifications, activities, contacts and opportunities</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Data Model</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One shared schema for the storefront and the CRM</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8 / 13</a:t>
            </a:r>
            <a:endParaRPr lang="en-US" sz="750" dirty="0"/>
          </a:p>
        </p:txBody>
      </p:sp>
      <p:pic>
        <p:nvPicPr>
          <p:cNvPr id="10" name="Image 1" descr="assets/d_erd.png"/>
          <p:cNvPicPr>
            <a:picLocks noChangeAspect="1"/>
          </p:cNvPicPr>
          <p:nvPr/>
        </p:nvPicPr>
        <p:blipFill>
          <a:blip r:embed="rId4"/>
          <a:stretch>
            <a:fillRect/>
          </a:stretch>
        </p:blipFill>
        <p:spPr>
          <a:xfrm>
            <a:off x="1536192" y="1042416"/>
            <a:ext cx="6071616" cy="3429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One Click, Several Reactions</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Purchase and review, from the client's confirmation to live statistics</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9 / 13</a:t>
            </a:r>
            <a:endParaRPr lang="en-US" sz="750" dirty="0"/>
          </a:p>
        </p:txBody>
      </p:sp>
      <p:pic>
        <p:nvPicPr>
          <p:cNvPr id="10" name="Image 1" descr="assets/d_sequence.png"/>
          <p:cNvPicPr>
            <a:picLocks noChangeAspect="1"/>
          </p:cNvPicPr>
          <p:nvPr/>
        </p:nvPicPr>
        <p:blipFill>
          <a:blip r:embed="rId4"/>
          <a:stretch>
            <a:fillRect/>
          </a:stretch>
        </p:blipFill>
        <p:spPr>
          <a:xfrm>
            <a:off x="1243584" y="969264"/>
            <a:ext cx="6656832" cy="3154680"/>
          </a:xfrm>
          <a:prstGeom prst="rect">
            <a:avLst/>
          </a:prstGeom>
        </p:spPr>
      </p:pic>
      <p:sp>
        <p:nvSpPr>
          <p:cNvPr id="11" name="Text 7"/>
          <p:cNvSpPr/>
          <p:nvPr/>
        </p:nvSpPr>
        <p:spPr>
          <a:xfrm>
            <a:off x="502920" y="4187952"/>
            <a:ext cx="8138160" cy="420624"/>
          </a:xfrm>
          <a:prstGeom prst="rect">
            <a:avLst/>
          </a:prstGeom>
          <a:noFill/>
          <a:ln/>
        </p:spPr>
        <p:txBody>
          <a:bodyPr wrap="square" lIns="0" tIns="0" rIns="0" bIns="0" rtlCol="0" anchor="ctr"/>
          <a:lstStyle/>
          <a:p>
            <a:pPr marL="0" indent="0" algn="ctr">
              <a:lnSpc>
                <a:spcPct val="110000"/>
              </a:lnSpc>
              <a:buNone/>
            </a:pPr>
            <a:r>
              <a:rPr lang="en-US" sz="1020" dirty="0">
                <a:solidFill>
                  <a:srgbClr val="5A6472"/>
                </a:solidFill>
                <a:latin typeface="Arial" pitchFamily="34" charset="0"/>
                <a:ea typeface="Arial" pitchFamily="34" charset="-122"/>
                <a:cs typeface="Arial" pitchFamily="34" charset="-120"/>
              </a:rPr>
              <a:t>A single purchase finds or creates the contact and the course session, saves the enrolment, publishes an event, notifies the observers, and updates the live figures over SSE - with no manual reconciliation anywhere.</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The AI Layer</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Optional intelligence, powered by the Anthropic Claude API</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10 / 13</a:t>
            </a:r>
            <a:endParaRPr lang="en-US" sz="750" dirty="0"/>
          </a:p>
        </p:txBody>
      </p:sp>
      <p:sp>
        <p:nvSpPr>
          <p:cNvPr id="10" name="Shape 7"/>
          <p:cNvSpPr/>
          <p:nvPr/>
        </p:nvSpPr>
        <p:spPr>
          <a:xfrm>
            <a:off x="411480" y="1078992"/>
            <a:ext cx="4572000" cy="713232"/>
          </a:xfrm>
          <a:prstGeom prst="rect">
            <a:avLst/>
          </a:prstGeom>
          <a:solidFill>
            <a:srgbClr val="FEF3F7"/>
          </a:solidFill>
          <a:ln/>
        </p:spPr>
        <p:txBody>
          <a:bodyPr/>
          <a:lstStyle/>
          <a:p>
            <a:endParaRPr lang="en-US"/>
          </a:p>
        </p:txBody>
      </p:sp>
      <p:sp>
        <p:nvSpPr>
          <p:cNvPr id="11" name="Text 8"/>
          <p:cNvSpPr/>
          <p:nvPr/>
        </p:nvSpPr>
        <p:spPr>
          <a:xfrm>
            <a:off x="539496" y="1115568"/>
            <a:ext cx="4315968" cy="640080"/>
          </a:xfrm>
          <a:prstGeom prst="rect">
            <a:avLst/>
          </a:prstGeom>
          <a:noFill/>
          <a:ln/>
        </p:spPr>
        <p:txBody>
          <a:bodyPr wrap="square" lIns="0" tIns="0" rIns="0" bIns="0" rtlCol="0" anchor="ctr"/>
          <a:lstStyle/>
          <a:p>
            <a:pPr marL="0" indent="0">
              <a:lnSpc>
                <a:spcPct val="106000"/>
              </a:lnSpc>
              <a:buNone/>
            </a:pPr>
            <a:r>
              <a:rPr lang="en-US" sz="1080" b="1" dirty="0">
                <a:solidFill>
                  <a:srgbClr val="022461"/>
                </a:solidFill>
                <a:latin typeface="Arial" pitchFamily="34" charset="0"/>
                <a:ea typeface="Arial" pitchFamily="34" charset="-122"/>
                <a:cs typeface="Arial" pitchFamily="34" charset="-120"/>
              </a:rPr>
              <a:t>Conversational assistant   </a:t>
            </a:r>
            <a:r>
              <a:rPr lang="en-US" sz="860" dirty="0">
                <a:solidFill>
                  <a:srgbClr val="2588E6"/>
                </a:solidFill>
                <a:latin typeface="Courier New" pitchFamily="34" charset="0"/>
                <a:ea typeface="Courier New" pitchFamily="34" charset="-122"/>
                <a:cs typeface="Courier New" pitchFamily="34" charset="-120"/>
              </a:rPr>
              <a:t>/api/ai/chat
</a:t>
            </a:r>
            <a:r>
              <a:rPr lang="en-US" sz="980" dirty="0">
                <a:solidFill>
                  <a:srgbClr val="1A1A1A"/>
                </a:solidFill>
                <a:latin typeface="Arial" pitchFamily="34" charset="0"/>
                <a:ea typeface="Arial" pitchFamily="34" charset="-122"/>
                <a:cs typeface="Arial" pitchFamily="34" charset="-120"/>
              </a:rPr>
              <a:t>Answers questions about courses, enrolment and corporate training, using the live catalogue as context.</a:t>
            </a:r>
            <a:endParaRPr lang="en-US" sz="1080" dirty="0"/>
          </a:p>
        </p:txBody>
      </p:sp>
      <p:sp>
        <p:nvSpPr>
          <p:cNvPr id="12" name="Shape 9"/>
          <p:cNvSpPr/>
          <p:nvPr/>
        </p:nvSpPr>
        <p:spPr>
          <a:xfrm>
            <a:off x="411480" y="1865376"/>
            <a:ext cx="4572000" cy="713232"/>
          </a:xfrm>
          <a:prstGeom prst="rect">
            <a:avLst/>
          </a:prstGeom>
          <a:solidFill>
            <a:srgbClr val="F0F7FF"/>
          </a:solidFill>
          <a:ln/>
        </p:spPr>
        <p:txBody>
          <a:bodyPr/>
          <a:lstStyle/>
          <a:p>
            <a:endParaRPr lang="en-US"/>
          </a:p>
        </p:txBody>
      </p:sp>
      <p:sp>
        <p:nvSpPr>
          <p:cNvPr id="13" name="Text 10"/>
          <p:cNvSpPr/>
          <p:nvPr/>
        </p:nvSpPr>
        <p:spPr>
          <a:xfrm>
            <a:off x="539496" y="1901952"/>
            <a:ext cx="4315968" cy="640080"/>
          </a:xfrm>
          <a:prstGeom prst="rect">
            <a:avLst/>
          </a:prstGeom>
          <a:noFill/>
          <a:ln/>
        </p:spPr>
        <p:txBody>
          <a:bodyPr wrap="square" lIns="0" tIns="0" rIns="0" bIns="0" rtlCol="0" anchor="ctr"/>
          <a:lstStyle/>
          <a:p>
            <a:pPr marL="0" indent="0">
              <a:lnSpc>
                <a:spcPct val="106000"/>
              </a:lnSpc>
              <a:buNone/>
            </a:pPr>
            <a:r>
              <a:rPr lang="en-US" sz="1080" b="1" dirty="0">
                <a:solidFill>
                  <a:srgbClr val="022461"/>
                </a:solidFill>
                <a:latin typeface="Arial" pitchFamily="34" charset="0"/>
                <a:ea typeface="Arial" pitchFamily="34" charset="-122"/>
                <a:cs typeface="Arial" pitchFamily="34" charset="-120"/>
              </a:rPr>
              <a:t>Recommendation quiz   </a:t>
            </a:r>
            <a:r>
              <a:rPr lang="en-US" sz="860" dirty="0">
                <a:solidFill>
                  <a:srgbClr val="2588E6"/>
                </a:solidFill>
                <a:latin typeface="Courier New" pitchFamily="34" charset="0"/>
                <a:ea typeface="Courier New" pitchFamily="34" charset="-122"/>
                <a:cs typeface="Courier New" pitchFamily="34" charset="-120"/>
              </a:rPr>
              <a:t>/api/ai/recommendations/visitor
</a:t>
            </a:r>
            <a:r>
              <a:rPr lang="en-US" sz="980" dirty="0">
                <a:solidFill>
                  <a:srgbClr val="1A1A1A"/>
                </a:solidFill>
                <a:latin typeface="Arial" pitchFamily="34" charset="0"/>
                <a:ea typeface="Arial" pitchFamily="34" charset="-122"/>
                <a:cs typeface="Arial" pitchFamily="34" charset="-120"/>
              </a:rPr>
              <a:t>Matches a visitor's interests, level and goal to courses, each with a fit score and a reason.</a:t>
            </a:r>
            <a:endParaRPr lang="en-US" sz="1080" dirty="0"/>
          </a:p>
        </p:txBody>
      </p:sp>
      <p:sp>
        <p:nvSpPr>
          <p:cNvPr id="14" name="Shape 11"/>
          <p:cNvSpPr/>
          <p:nvPr/>
        </p:nvSpPr>
        <p:spPr>
          <a:xfrm>
            <a:off x="411480" y="2651760"/>
            <a:ext cx="4572000" cy="713232"/>
          </a:xfrm>
          <a:prstGeom prst="rect">
            <a:avLst/>
          </a:prstGeom>
          <a:solidFill>
            <a:srgbClr val="FEF3F7"/>
          </a:solidFill>
          <a:ln/>
        </p:spPr>
        <p:txBody>
          <a:bodyPr/>
          <a:lstStyle/>
          <a:p>
            <a:endParaRPr lang="en-US"/>
          </a:p>
        </p:txBody>
      </p:sp>
      <p:sp>
        <p:nvSpPr>
          <p:cNvPr id="15" name="Text 12"/>
          <p:cNvSpPr/>
          <p:nvPr/>
        </p:nvSpPr>
        <p:spPr>
          <a:xfrm>
            <a:off x="539496" y="2688336"/>
            <a:ext cx="4315968" cy="640080"/>
          </a:xfrm>
          <a:prstGeom prst="rect">
            <a:avLst/>
          </a:prstGeom>
          <a:noFill/>
          <a:ln/>
        </p:spPr>
        <p:txBody>
          <a:bodyPr wrap="square" lIns="0" tIns="0" rIns="0" bIns="0" rtlCol="0" anchor="ctr"/>
          <a:lstStyle/>
          <a:p>
            <a:pPr marL="0" indent="0">
              <a:lnSpc>
                <a:spcPct val="106000"/>
              </a:lnSpc>
              <a:buNone/>
            </a:pPr>
            <a:r>
              <a:rPr lang="en-US" sz="1080" b="1" dirty="0">
                <a:solidFill>
                  <a:srgbClr val="022461"/>
                </a:solidFill>
                <a:latin typeface="Arial" pitchFamily="34" charset="0"/>
                <a:ea typeface="Arial" pitchFamily="34" charset="-122"/>
                <a:cs typeface="Arial" pitchFamily="34" charset="-120"/>
              </a:rPr>
              <a:t>Per-company recommendations   </a:t>
            </a:r>
            <a:r>
              <a:rPr lang="en-US" sz="860" dirty="0">
                <a:solidFill>
                  <a:srgbClr val="2588E6"/>
                </a:solidFill>
                <a:latin typeface="Courier New" pitchFamily="34" charset="0"/>
                <a:ea typeface="Courier New" pitchFamily="34" charset="-122"/>
                <a:cs typeface="Courier New" pitchFamily="34" charset="-120"/>
              </a:rPr>
              <a:t>/api/ai/recommendations/company
</a:t>
            </a:r>
            <a:r>
              <a:rPr lang="en-US" sz="980" dirty="0">
                <a:solidFill>
                  <a:srgbClr val="1A1A1A"/>
                </a:solidFill>
                <a:latin typeface="Arial" pitchFamily="34" charset="0"/>
                <a:ea typeface="Arial" pitchFamily="34" charset="-122"/>
                <a:cs typeface="Arial" pitchFamily="34" charset="-120"/>
              </a:rPr>
              <a:t>Analyses employee roles and interests to propose a training programme for a whole team.</a:t>
            </a:r>
            <a:endParaRPr lang="en-US" sz="1080" dirty="0"/>
          </a:p>
        </p:txBody>
      </p:sp>
      <p:sp>
        <p:nvSpPr>
          <p:cNvPr id="16" name="Shape 13"/>
          <p:cNvSpPr/>
          <p:nvPr/>
        </p:nvSpPr>
        <p:spPr>
          <a:xfrm>
            <a:off x="411480" y="3438144"/>
            <a:ext cx="4572000" cy="713232"/>
          </a:xfrm>
          <a:prstGeom prst="rect">
            <a:avLst/>
          </a:prstGeom>
          <a:solidFill>
            <a:srgbClr val="F0F7FF"/>
          </a:solidFill>
          <a:ln/>
        </p:spPr>
        <p:txBody>
          <a:bodyPr/>
          <a:lstStyle/>
          <a:p>
            <a:endParaRPr lang="en-US"/>
          </a:p>
        </p:txBody>
      </p:sp>
      <p:sp>
        <p:nvSpPr>
          <p:cNvPr id="17" name="Text 14"/>
          <p:cNvSpPr/>
          <p:nvPr/>
        </p:nvSpPr>
        <p:spPr>
          <a:xfrm>
            <a:off x="539496" y="3474720"/>
            <a:ext cx="4315968" cy="640080"/>
          </a:xfrm>
          <a:prstGeom prst="rect">
            <a:avLst/>
          </a:prstGeom>
          <a:noFill/>
          <a:ln/>
        </p:spPr>
        <p:txBody>
          <a:bodyPr wrap="square" lIns="0" tIns="0" rIns="0" bIns="0" rtlCol="0" anchor="ctr"/>
          <a:lstStyle/>
          <a:p>
            <a:pPr marL="0" indent="0">
              <a:lnSpc>
                <a:spcPct val="106000"/>
              </a:lnSpc>
              <a:buNone/>
            </a:pPr>
            <a:r>
              <a:rPr lang="en-US" sz="1080" b="1" dirty="0">
                <a:solidFill>
                  <a:srgbClr val="022461"/>
                </a:solidFill>
                <a:latin typeface="Arial" pitchFamily="34" charset="0"/>
                <a:ea typeface="Arial" pitchFamily="34" charset="-122"/>
                <a:cs typeface="Arial" pitchFamily="34" charset="-120"/>
              </a:rPr>
              <a:t>Live page translation   </a:t>
            </a:r>
            <a:r>
              <a:rPr lang="en-US" sz="860" dirty="0">
                <a:solidFill>
                  <a:srgbClr val="2588E6"/>
                </a:solidFill>
                <a:latin typeface="Courier New" pitchFamily="34" charset="0"/>
                <a:ea typeface="Courier New" pitchFamily="34" charset="-122"/>
                <a:cs typeface="Courier New" pitchFamily="34" charset="-120"/>
              </a:rPr>
              <a:t>/api/ai/translate
</a:t>
            </a:r>
            <a:r>
              <a:rPr lang="en-US" sz="980" dirty="0">
                <a:solidFill>
                  <a:srgbClr val="1A1A1A"/>
                </a:solidFill>
                <a:latin typeface="Arial" pitchFamily="34" charset="0"/>
                <a:ea typeface="Arial" pitchFamily="34" charset="-122"/>
                <a:cs typeface="Arial" pitchFamily="34" charset="-120"/>
              </a:rPr>
              <a:t>Translates the interface into any language, preserving brand names, people, e-mails and numbers.</a:t>
            </a:r>
            <a:endParaRPr lang="en-US" sz="1080" dirty="0"/>
          </a:p>
        </p:txBody>
      </p:sp>
      <p:sp>
        <p:nvSpPr>
          <p:cNvPr id="18" name="Shape 15"/>
          <p:cNvSpPr/>
          <p:nvPr/>
        </p:nvSpPr>
        <p:spPr>
          <a:xfrm>
            <a:off x="411480" y="4224528"/>
            <a:ext cx="4572000" cy="310896"/>
          </a:xfrm>
          <a:prstGeom prst="rect">
            <a:avLst/>
          </a:prstGeom>
          <a:solidFill>
            <a:srgbClr val="022461"/>
          </a:solidFill>
          <a:ln/>
        </p:spPr>
        <p:txBody>
          <a:bodyPr/>
          <a:lstStyle/>
          <a:p>
            <a:endParaRPr lang="en-US"/>
          </a:p>
        </p:txBody>
      </p:sp>
      <p:sp>
        <p:nvSpPr>
          <p:cNvPr id="19" name="Text 16"/>
          <p:cNvSpPr/>
          <p:nvPr/>
        </p:nvSpPr>
        <p:spPr>
          <a:xfrm>
            <a:off x="530352" y="4224528"/>
            <a:ext cx="4334256" cy="310896"/>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Strictly additive: with no API key the buttons disappear</a:t>
            </a:r>
            <a:endParaRPr lang="en-US" sz="1050" dirty="0"/>
          </a:p>
        </p:txBody>
      </p:sp>
      <p:sp>
        <p:nvSpPr>
          <p:cNvPr id="20" name="Shape 17"/>
          <p:cNvSpPr/>
          <p:nvPr/>
        </p:nvSpPr>
        <p:spPr>
          <a:xfrm>
            <a:off x="411480" y="4535424"/>
            <a:ext cx="4572000" cy="0"/>
          </a:xfrm>
          <a:prstGeom prst="rect">
            <a:avLst/>
          </a:prstGeom>
          <a:solidFill>
            <a:srgbClr val="FEF3F7"/>
          </a:solidFill>
          <a:ln/>
        </p:spPr>
        <p:txBody>
          <a:bodyPr/>
          <a:lstStyle/>
          <a:p>
            <a:endParaRPr lang="en-US"/>
          </a:p>
        </p:txBody>
      </p:sp>
      <p:pic>
        <p:nvPicPr>
          <p:cNvPr id="21" name="Image 1" descr="assets/s_aiquiz.png"/>
          <p:cNvPicPr>
            <a:picLocks noChangeAspect="1"/>
          </p:cNvPicPr>
          <p:nvPr/>
        </p:nvPicPr>
        <p:blipFill>
          <a:blip r:embed="rId4"/>
          <a:stretch>
            <a:fillRect/>
          </a:stretch>
        </p:blipFill>
        <p:spPr>
          <a:xfrm>
            <a:off x="5230368" y="1115568"/>
            <a:ext cx="3502152" cy="2185416"/>
          </a:xfrm>
          <a:prstGeom prst="rect">
            <a:avLst/>
          </a:prstGeom>
        </p:spPr>
      </p:pic>
      <p:sp>
        <p:nvSpPr>
          <p:cNvPr id="22" name="Shape 18"/>
          <p:cNvSpPr/>
          <p:nvPr/>
        </p:nvSpPr>
        <p:spPr>
          <a:xfrm>
            <a:off x="5230368" y="3419856"/>
            <a:ext cx="3502152" cy="1115568"/>
          </a:xfrm>
          <a:prstGeom prst="rect">
            <a:avLst/>
          </a:prstGeom>
          <a:solidFill>
            <a:srgbClr val="FEF3F7"/>
          </a:solidFill>
          <a:ln/>
        </p:spPr>
        <p:txBody>
          <a:bodyPr/>
          <a:lstStyle/>
          <a:p>
            <a:endParaRPr lang="en-US"/>
          </a:p>
        </p:txBody>
      </p:sp>
      <p:sp>
        <p:nvSpPr>
          <p:cNvPr id="23" name="Text 19"/>
          <p:cNvSpPr/>
          <p:nvPr/>
        </p:nvSpPr>
        <p:spPr>
          <a:xfrm>
            <a:off x="5376672" y="3456432"/>
            <a:ext cx="3209544" cy="1042416"/>
          </a:xfrm>
          <a:prstGeom prst="rect">
            <a:avLst/>
          </a:prstGeom>
          <a:noFill/>
          <a:ln/>
        </p:spPr>
        <p:txBody>
          <a:bodyPr wrap="square" lIns="0" tIns="0" rIns="0" bIns="0" rtlCol="0" anchor="ctr"/>
          <a:lstStyle/>
          <a:p>
            <a:pPr marL="0" indent="0" algn="l">
              <a:lnSpc>
                <a:spcPct val="112000"/>
              </a:lnSpc>
              <a:buNone/>
            </a:pPr>
            <a:r>
              <a:rPr lang="en-US" sz="1000" dirty="0">
                <a:solidFill>
                  <a:srgbClr val="1A1A1A"/>
                </a:solidFill>
                <a:latin typeface="Arial" pitchFamily="34" charset="0"/>
                <a:ea typeface="Arial" pitchFamily="34" charset="-122"/>
                <a:cs typeface="Arial" pitchFamily="34" charset="-120"/>
              </a:rPr>
              <a:t>All four features share one Claude client and one API key. I implemented the prompts, the REST endpoints, the structured JSON response handling and the matching interfaces - and made sure the rest of the application stays fully operational when AI is not configured.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Application Demo</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The running application</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11 / 13</a:t>
            </a:r>
            <a:endParaRPr lang="en-US" sz="750" dirty="0"/>
          </a:p>
        </p:txBody>
      </p:sp>
      <p:pic>
        <p:nvPicPr>
          <p:cNvPr id="10" name="Image 1" descr="assets/s_dashboard.png"/>
          <p:cNvPicPr>
            <a:picLocks noChangeAspect="1"/>
          </p:cNvPicPr>
          <p:nvPr/>
        </p:nvPicPr>
        <p:blipFill>
          <a:blip r:embed="rId4"/>
          <a:stretch>
            <a:fillRect/>
          </a:stretch>
        </p:blipFill>
        <p:spPr>
          <a:xfrm>
            <a:off x="384048" y="1115568"/>
            <a:ext cx="2706624" cy="1691640"/>
          </a:xfrm>
          <a:prstGeom prst="rect">
            <a:avLst/>
          </a:prstGeom>
        </p:spPr>
      </p:pic>
      <p:sp>
        <p:nvSpPr>
          <p:cNvPr id="11" name="Shape 7"/>
          <p:cNvSpPr/>
          <p:nvPr/>
        </p:nvSpPr>
        <p:spPr>
          <a:xfrm>
            <a:off x="384048" y="1115568"/>
            <a:ext cx="2706624" cy="1691640"/>
          </a:xfrm>
          <a:prstGeom prst="rect">
            <a:avLst/>
          </a:prstGeom>
          <a:ln w="9525">
            <a:solidFill>
              <a:srgbClr val="D9DEE6"/>
            </a:solidFill>
            <a:prstDash val="solid"/>
          </a:ln>
        </p:spPr>
        <p:txBody>
          <a:bodyPr/>
          <a:lstStyle/>
          <a:p>
            <a:endParaRPr lang="en-US"/>
          </a:p>
        </p:txBody>
      </p:sp>
      <p:sp>
        <p:nvSpPr>
          <p:cNvPr id="12" name="Text 8"/>
          <p:cNvSpPr/>
          <p:nvPr/>
        </p:nvSpPr>
        <p:spPr>
          <a:xfrm>
            <a:off x="384048" y="2889504"/>
            <a:ext cx="2706624" cy="603504"/>
          </a:xfrm>
          <a:prstGeom prst="rect">
            <a:avLst/>
          </a:prstGeom>
          <a:noFill/>
          <a:ln/>
        </p:spPr>
        <p:txBody>
          <a:bodyPr wrap="square" lIns="0" tIns="0" rIns="0" bIns="0" rtlCol="0" anchor="ctr"/>
          <a:lstStyle/>
          <a:p>
            <a:pPr marL="0" indent="0">
              <a:lnSpc>
                <a:spcPct val="108000"/>
              </a:lnSpc>
              <a:buNone/>
            </a:pPr>
            <a:r>
              <a:rPr lang="en-US" sz="1050" b="1" dirty="0">
                <a:solidFill>
                  <a:srgbClr val="022461"/>
                </a:solidFill>
                <a:latin typeface="Arial" pitchFamily="34" charset="0"/>
                <a:ea typeface="Arial" pitchFamily="34" charset="-122"/>
                <a:cs typeface="Arial" pitchFamily="34" charset="-120"/>
              </a:rPr>
              <a:t>Authenticated learner home
</a:t>
            </a:r>
            <a:r>
              <a:rPr lang="en-US" sz="950" dirty="0">
                <a:solidFill>
                  <a:srgbClr val="5A6472"/>
                </a:solidFill>
                <a:latin typeface="Arial" pitchFamily="34" charset="0"/>
                <a:ea typeface="Arial" pitchFamily="34" charset="-122"/>
                <a:cs typeface="Arial" pitchFamily="34" charset="-120"/>
              </a:rPr>
              <a:t>Personalised greeting and live catalogue statistics over SSE</a:t>
            </a:r>
            <a:endParaRPr lang="en-US" sz="1050" dirty="0"/>
          </a:p>
        </p:txBody>
      </p:sp>
      <p:pic>
        <p:nvPicPr>
          <p:cNvPr id="13" name="Image 2" descr="assets/s_catalog.png"/>
          <p:cNvPicPr>
            <a:picLocks noChangeAspect="1"/>
          </p:cNvPicPr>
          <p:nvPr/>
        </p:nvPicPr>
        <p:blipFill>
          <a:blip r:embed="rId5"/>
          <a:stretch>
            <a:fillRect/>
          </a:stretch>
        </p:blipFill>
        <p:spPr>
          <a:xfrm>
            <a:off x="3218688" y="1115568"/>
            <a:ext cx="2706624" cy="1691640"/>
          </a:xfrm>
          <a:prstGeom prst="rect">
            <a:avLst/>
          </a:prstGeom>
        </p:spPr>
      </p:pic>
      <p:sp>
        <p:nvSpPr>
          <p:cNvPr id="14" name="Shape 9"/>
          <p:cNvSpPr/>
          <p:nvPr/>
        </p:nvSpPr>
        <p:spPr>
          <a:xfrm>
            <a:off x="3218688" y="1115568"/>
            <a:ext cx="2706624" cy="1691640"/>
          </a:xfrm>
          <a:prstGeom prst="rect">
            <a:avLst/>
          </a:prstGeom>
          <a:ln w="9525">
            <a:solidFill>
              <a:srgbClr val="D9DEE6"/>
            </a:solidFill>
            <a:prstDash val="solid"/>
          </a:ln>
        </p:spPr>
        <p:txBody>
          <a:bodyPr/>
          <a:lstStyle/>
          <a:p>
            <a:endParaRPr lang="en-US"/>
          </a:p>
        </p:txBody>
      </p:sp>
      <p:sp>
        <p:nvSpPr>
          <p:cNvPr id="15" name="Text 10"/>
          <p:cNvSpPr/>
          <p:nvPr/>
        </p:nvSpPr>
        <p:spPr>
          <a:xfrm>
            <a:off x="3218688" y="2889504"/>
            <a:ext cx="2706624" cy="603504"/>
          </a:xfrm>
          <a:prstGeom prst="rect">
            <a:avLst/>
          </a:prstGeom>
          <a:noFill/>
          <a:ln/>
        </p:spPr>
        <p:txBody>
          <a:bodyPr wrap="square" lIns="0" tIns="0" rIns="0" bIns="0" rtlCol="0" anchor="ctr"/>
          <a:lstStyle/>
          <a:p>
            <a:pPr marL="0" indent="0">
              <a:lnSpc>
                <a:spcPct val="108000"/>
              </a:lnSpc>
              <a:buNone/>
            </a:pPr>
            <a:r>
              <a:rPr lang="en-US" sz="1050" b="1" dirty="0">
                <a:solidFill>
                  <a:srgbClr val="022461"/>
                </a:solidFill>
                <a:latin typeface="Arial" pitchFamily="34" charset="0"/>
                <a:ea typeface="Arial" pitchFamily="34" charset="-122"/>
                <a:cs typeface="Arial" pitchFamily="34" charset="-120"/>
              </a:rPr>
              <a:t>Course catalogue
</a:t>
            </a:r>
            <a:r>
              <a:rPr lang="en-US" sz="950" dirty="0">
                <a:solidFill>
                  <a:srgbClr val="5A6472"/>
                </a:solidFill>
                <a:latin typeface="Arial" pitchFamily="34" charset="0"/>
                <a:ea typeface="Arial" pitchFamily="34" charset="-122"/>
                <a:cs typeface="Arial" pitchFamily="34" charset="-120"/>
              </a:rPr>
              <a:t>Category filters; each card counts an impression and a click for CTR</a:t>
            </a:r>
            <a:endParaRPr lang="en-US" sz="1050" dirty="0"/>
          </a:p>
        </p:txBody>
      </p:sp>
      <p:pic>
        <p:nvPicPr>
          <p:cNvPr id="16" name="Image 3" descr="assets/s_employees.png"/>
          <p:cNvPicPr>
            <a:picLocks noChangeAspect="1"/>
          </p:cNvPicPr>
          <p:nvPr/>
        </p:nvPicPr>
        <p:blipFill>
          <a:blip r:embed="rId6"/>
          <a:stretch>
            <a:fillRect/>
          </a:stretch>
        </p:blipFill>
        <p:spPr>
          <a:xfrm>
            <a:off x="6053328" y="1115568"/>
            <a:ext cx="2706624" cy="1691640"/>
          </a:xfrm>
          <a:prstGeom prst="rect">
            <a:avLst/>
          </a:prstGeom>
        </p:spPr>
      </p:pic>
      <p:sp>
        <p:nvSpPr>
          <p:cNvPr id="17" name="Shape 11"/>
          <p:cNvSpPr/>
          <p:nvPr/>
        </p:nvSpPr>
        <p:spPr>
          <a:xfrm>
            <a:off x="6053328" y="1115568"/>
            <a:ext cx="2706624" cy="1691640"/>
          </a:xfrm>
          <a:prstGeom prst="rect">
            <a:avLst/>
          </a:prstGeom>
          <a:ln w="9525">
            <a:solidFill>
              <a:srgbClr val="D9DEE6"/>
            </a:solidFill>
            <a:prstDash val="solid"/>
          </a:ln>
        </p:spPr>
        <p:txBody>
          <a:bodyPr/>
          <a:lstStyle/>
          <a:p>
            <a:endParaRPr lang="en-US"/>
          </a:p>
        </p:txBody>
      </p:sp>
      <p:sp>
        <p:nvSpPr>
          <p:cNvPr id="18" name="Text 12"/>
          <p:cNvSpPr/>
          <p:nvPr/>
        </p:nvSpPr>
        <p:spPr>
          <a:xfrm>
            <a:off x="6053328" y="2889504"/>
            <a:ext cx="2706624" cy="603504"/>
          </a:xfrm>
          <a:prstGeom prst="rect">
            <a:avLst/>
          </a:prstGeom>
          <a:noFill/>
          <a:ln/>
        </p:spPr>
        <p:txBody>
          <a:bodyPr wrap="square" lIns="0" tIns="0" rIns="0" bIns="0" rtlCol="0" anchor="ctr"/>
          <a:lstStyle/>
          <a:p>
            <a:pPr marL="0" indent="0">
              <a:lnSpc>
                <a:spcPct val="108000"/>
              </a:lnSpc>
              <a:buNone/>
            </a:pPr>
            <a:r>
              <a:rPr lang="en-US" sz="1050" b="1" dirty="0">
                <a:solidFill>
                  <a:srgbClr val="022461"/>
                </a:solidFill>
                <a:latin typeface="Arial" pitchFamily="34" charset="0"/>
                <a:ea typeface="Arial" pitchFamily="34" charset="-122"/>
                <a:cs typeface="Arial" pitchFamily="34" charset="-120"/>
              </a:rPr>
              <a:t>Administrator · Employees
</a:t>
            </a:r>
            <a:r>
              <a:rPr lang="en-US" sz="950" dirty="0">
                <a:solidFill>
                  <a:srgbClr val="5A6472"/>
                </a:solidFill>
                <a:latin typeface="Arial" pitchFamily="34" charset="0"/>
                <a:ea typeface="Arial" pitchFamily="34" charset="-122"/>
                <a:cs typeface="Arial" pitchFamily="34" charset="-120"/>
              </a:rPr>
              <a:t>Company teams, Excel import and AI course recommendations</a:t>
            </a:r>
            <a:endParaRPr lang="en-US" sz="1050" dirty="0"/>
          </a:p>
        </p:txBody>
      </p:sp>
      <p:sp>
        <p:nvSpPr>
          <p:cNvPr id="19" name="Shape 13"/>
          <p:cNvSpPr/>
          <p:nvPr/>
        </p:nvSpPr>
        <p:spPr>
          <a:xfrm>
            <a:off x="384048" y="3639312"/>
            <a:ext cx="8375904" cy="621792"/>
          </a:xfrm>
          <a:prstGeom prst="rect">
            <a:avLst/>
          </a:prstGeom>
          <a:solidFill>
            <a:srgbClr val="FEF3F7"/>
          </a:solidFill>
          <a:ln/>
        </p:spPr>
        <p:txBody>
          <a:bodyPr/>
          <a:lstStyle/>
          <a:p>
            <a:endParaRPr lang="en-US"/>
          </a:p>
        </p:txBody>
      </p:sp>
      <p:sp>
        <p:nvSpPr>
          <p:cNvPr id="20" name="Text 14"/>
          <p:cNvSpPr/>
          <p:nvPr/>
        </p:nvSpPr>
        <p:spPr>
          <a:xfrm>
            <a:off x="530352" y="3675888"/>
            <a:ext cx="8083296" cy="548640"/>
          </a:xfrm>
          <a:prstGeom prst="rect">
            <a:avLst/>
          </a:prstGeom>
          <a:noFill/>
          <a:ln/>
        </p:spPr>
        <p:txBody>
          <a:bodyPr wrap="square" lIns="0" tIns="0" rIns="0" bIns="0" rtlCol="0" anchor="ctr"/>
          <a:lstStyle/>
          <a:p>
            <a:pPr marL="0" indent="0" algn="ctr">
              <a:lnSpc>
                <a:spcPct val="112000"/>
              </a:lnSpc>
              <a:buNone/>
            </a:pPr>
            <a:r>
              <a:rPr lang="en-US" sz="1080" dirty="0">
                <a:solidFill>
                  <a:srgbClr val="1A1A1A"/>
                </a:solidFill>
                <a:latin typeface="Arial" pitchFamily="34" charset="0"/>
                <a:ea typeface="Arial" pitchFamily="34" charset="-122"/>
                <a:cs typeface="Arial" pitchFamily="34" charset="-120"/>
              </a:rPr>
              <a:t>The same session drives both sides: a purchase made on the catalogue appears immediately in the administrator's Purchases tab, a booking generates its invoice by itself, and a reported issue lands straight in the Issues tab.</a:t>
            </a:r>
            <a:endParaRPr lang="en-US"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Testing and Validation</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Correctness here is about propagation, not isolated algorithms</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12 / 13</a:t>
            </a:r>
            <a:endParaRPr lang="en-US" sz="750" dirty="0"/>
          </a:p>
        </p:txBody>
      </p:sp>
      <p:sp>
        <p:nvSpPr>
          <p:cNvPr id="10" name="Shape 7"/>
          <p:cNvSpPr/>
          <p:nvPr/>
        </p:nvSpPr>
        <p:spPr>
          <a:xfrm>
            <a:off x="384048" y="1042416"/>
            <a:ext cx="2706624" cy="310896"/>
          </a:xfrm>
          <a:prstGeom prst="rect">
            <a:avLst/>
          </a:prstGeom>
          <a:solidFill>
            <a:srgbClr val="022461"/>
          </a:solidFill>
          <a:ln/>
        </p:spPr>
        <p:txBody>
          <a:bodyPr/>
          <a:lstStyle/>
          <a:p>
            <a:endParaRPr lang="en-US"/>
          </a:p>
        </p:txBody>
      </p:sp>
      <p:sp>
        <p:nvSpPr>
          <p:cNvPr id="11" name="Text 8"/>
          <p:cNvSpPr/>
          <p:nvPr/>
        </p:nvSpPr>
        <p:spPr>
          <a:xfrm>
            <a:off x="502920" y="1042416"/>
            <a:ext cx="2468880"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Input validation</a:t>
            </a:r>
            <a:endParaRPr lang="en-US" sz="1150" dirty="0"/>
          </a:p>
        </p:txBody>
      </p:sp>
      <p:sp>
        <p:nvSpPr>
          <p:cNvPr id="12" name="Shape 9"/>
          <p:cNvSpPr/>
          <p:nvPr/>
        </p:nvSpPr>
        <p:spPr>
          <a:xfrm>
            <a:off x="384048" y="1353312"/>
            <a:ext cx="2706624" cy="2286000"/>
          </a:xfrm>
          <a:prstGeom prst="rect">
            <a:avLst/>
          </a:prstGeom>
          <a:solidFill>
            <a:srgbClr val="FEF3F7"/>
          </a:solidFill>
          <a:ln/>
        </p:spPr>
        <p:txBody>
          <a:bodyPr/>
          <a:lstStyle/>
          <a:p>
            <a:endParaRPr lang="en-US"/>
          </a:p>
        </p:txBody>
      </p:sp>
      <p:sp>
        <p:nvSpPr>
          <p:cNvPr id="13" name="Text 10"/>
          <p:cNvSpPr/>
          <p:nvPr/>
        </p:nvSpPr>
        <p:spPr>
          <a:xfrm>
            <a:off x="530352" y="1399032"/>
            <a:ext cx="2414016" cy="2194560"/>
          </a:xfrm>
          <a:prstGeom prst="rect">
            <a:avLst/>
          </a:prstGeom>
          <a:noFill/>
          <a:ln/>
        </p:spPr>
        <p:txBody>
          <a:bodyPr wrap="square" lIns="0" tIns="0" rIns="0" bIns="0" rtlCol="0" anchor="t"/>
          <a:lstStyle/>
          <a:p>
            <a:pPr marL="0" indent="0">
              <a:lnSpc>
                <a:spcPct val="112000"/>
              </a:lnSpc>
              <a:buNone/>
            </a:pPr>
            <a:r>
              <a:rPr lang="en-US" sz="960" dirty="0">
                <a:solidFill>
                  <a:srgbClr val="1A1A1A"/>
                </a:solidFill>
                <a:latin typeface="Arial" pitchFamily="34" charset="0"/>
                <a:ea typeface="Arial" pitchFamily="34" charset="-122"/>
                <a:cs typeface="Arial" pitchFamily="34" charset="-120"/>
              </a:rPr>
              <a:t>Validated on two levels. The client checks missing fields, password confirmation and the mandatory GDPR consent. On the server, payloads pass Spring Validation, and contact data additionally goes through a Chain-of-Responsibility validator that checks the e-mail, the phone number, the GDPR flag and the contact type in sequence - so an invalid contact never reaches the database.</a:t>
            </a:r>
            <a:endParaRPr lang="en-US" sz="960" dirty="0"/>
          </a:p>
        </p:txBody>
      </p:sp>
      <p:sp>
        <p:nvSpPr>
          <p:cNvPr id="14" name="Shape 11"/>
          <p:cNvSpPr/>
          <p:nvPr/>
        </p:nvSpPr>
        <p:spPr>
          <a:xfrm>
            <a:off x="3218688" y="1042416"/>
            <a:ext cx="2706624" cy="310896"/>
          </a:xfrm>
          <a:prstGeom prst="rect">
            <a:avLst/>
          </a:prstGeom>
          <a:solidFill>
            <a:srgbClr val="2588E6"/>
          </a:solidFill>
          <a:ln/>
        </p:spPr>
        <p:txBody>
          <a:bodyPr/>
          <a:lstStyle/>
          <a:p>
            <a:endParaRPr lang="en-US"/>
          </a:p>
        </p:txBody>
      </p:sp>
      <p:sp>
        <p:nvSpPr>
          <p:cNvPr id="15" name="Text 12"/>
          <p:cNvSpPr/>
          <p:nvPr/>
        </p:nvSpPr>
        <p:spPr>
          <a:xfrm>
            <a:off x="3337560" y="1042416"/>
            <a:ext cx="2468880"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Robustness by design</a:t>
            </a:r>
            <a:endParaRPr lang="en-US" sz="1150" dirty="0"/>
          </a:p>
        </p:txBody>
      </p:sp>
      <p:sp>
        <p:nvSpPr>
          <p:cNvPr id="16" name="Shape 13"/>
          <p:cNvSpPr/>
          <p:nvPr/>
        </p:nvSpPr>
        <p:spPr>
          <a:xfrm>
            <a:off x="3218688" y="1353312"/>
            <a:ext cx="2706624" cy="2286000"/>
          </a:xfrm>
          <a:prstGeom prst="rect">
            <a:avLst/>
          </a:prstGeom>
          <a:solidFill>
            <a:srgbClr val="FEF3F7"/>
          </a:solidFill>
          <a:ln/>
        </p:spPr>
        <p:txBody>
          <a:bodyPr/>
          <a:lstStyle/>
          <a:p>
            <a:endParaRPr lang="en-US"/>
          </a:p>
        </p:txBody>
      </p:sp>
      <p:sp>
        <p:nvSpPr>
          <p:cNvPr id="17" name="Text 14"/>
          <p:cNvSpPr/>
          <p:nvPr/>
        </p:nvSpPr>
        <p:spPr>
          <a:xfrm>
            <a:off x="3364992" y="1399032"/>
            <a:ext cx="2414016" cy="2194560"/>
          </a:xfrm>
          <a:prstGeom prst="rect">
            <a:avLst/>
          </a:prstGeom>
          <a:noFill/>
          <a:ln/>
        </p:spPr>
        <p:txBody>
          <a:bodyPr wrap="square" lIns="0" tIns="0" rIns="0" bIns="0" rtlCol="0" anchor="t"/>
          <a:lstStyle/>
          <a:p>
            <a:pPr marL="0" indent="0">
              <a:lnSpc>
                <a:spcPct val="112000"/>
              </a:lnSpc>
              <a:buNone/>
            </a:pPr>
            <a:r>
              <a:rPr lang="en-US" sz="960" dirty="0">
                <a:solidFill>
                  <a:srgbClr val="1A1A1A"/>
                </a:solidFill>
                <a:latin typeface="Arial" pitchFamily="34" charset="0"/>
                <a:ea typeface="Arial" pitchFamily="34" charset="-122"/>
                <a:cs typeface="Arial" pitchFamily="34" charset="-120"/>
              </a:rPr>
              <a:t>Invoice generation is idempotent, so a repeated event cannot produce a duplicate. Observer failures are isolated: an error while generating an invoice is logged but does not roll back the booking that triggered it. The AI layer degrades gracefully. Deletions in the Issues tab are guarded by an explicit "this cannot be undone" confirmation.</a:t>
            </a:r>
            <a:endParaRPr lang="en-US" sz="960" dirty="0"/>
          </a:p>
        </p:txBody>
      </p:sp>
      <p:sp>
        <p:nvSpPr>
          <p:cNvPr id="18" name="Shape 15"/>
          <p:cNvSpPr/>
          <p:nvPr/>
        </p:nvSpPr>
        <p:spPr>
          <a:xfrm>
            <a:off x="6053328" y="1042416"/>
            <a:ext cx="2706624" cy="310896"/>
          </a:xfrm>
          <a:prstGeom prst="rect">
            <a:avLst/>
          </a:prstGeom>
          <a:solidFill>
            <a:srgbClr val="E4AB26"/>
          </a:solidFill>
          <a:ln/>
        </p:spPr>
        <p:txBody>
          <a:bodyPr/>
          <a:lstStyle/>
          <a:p>
            <a:endParaRPr lang="en-US"/>
          </a:p>
        </p:txBody>
      </p:sp>
      <p:sp>
        <p:nvSpPr>
          <p:cNvPr id="19" name="Text 16"/>
          <p:cNvSpPr/>
          <p:nvPr/>
        </p:nvSpPr>
        <p:spPr>
          <a:xfrm>
            <a:off x="6172200" y="1042416"/>
            <a:ext cx="2468880" cy="310896"/>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Functional testing</a:t>
            </a:r>
            <a:endParaRPr lang="en-US" sz="1150" dirty="0"/>
          </a:p>
        </p:txBody>
      </p:sp>
      <p:sp>
        <p:nvSpPr>
          <p:cNvPr id="20" name="Shape 17"/>
          <p:cNvSpPr/>
          <p:nvPr/>
        </p:nvSpPr>
        <p:spPr>
          <a:xfrm>
            <a:off x="6053328" y="1353312"/>
            <a:ext cx="2706624" cy="2286000"/>
          </a:xfrm>
          <a:prstGeom prst="rect">
            <a:avLst/>
          </a:prstGeom>
          <a:solidFill>
            <a:srgbClr val="FEF3F7"/>
          </a:solidFill>
          <a:ln/>
        </p:spPr>
        <p:txBody>
          <a:bodyPr/>
          <a:lstStyle/>
          <a:p>
            <a:endParaRPr lang="en-US"/>
          </a:p>
        </p:txBody>
      </p:sp>
      <p:sp>
        <p:nvSpPr>
          <p:cNvPr id="21" name="Text 18"/>
          <p:cNvSpPr/>
          <p:nvPr/>
        </p:nvSpPr>
        <p:spPr>
          <a:xfrm>
            <a:off x="6199632" y="1399032"/>
            <a:ext cx="2414016" cy="2194560"/>
          </a:xfrm>
          <a:prstGeom prst="rect">
            <a:avLst/>
          </a:prstGeom>
          <a:noFill/>
          <a:ln/>
        </p:spPr>
        <p:txBody>
          <a:bodyPr wrap="square" lIns="0" tIns="0" rIns="0" bIns="0" rtlCol="0" anchor="t"/>
          <a:lstStyle/>
          <a:p>
            <a:pPr marL="0" indent="0">
              <a:lnSpc>
                <a:spcPct val="112000"/>
              </a:lnSpc>
              <a:buNone/>
            </a:pPr>
            <a:r>
              <a:rPr lang="en-US" sz="960" dirty="0">
                <a:solidFill>
                  <a:srgbClr val="1A1A1A"/>
                </a:solidFill>
                <a:latin typeface="Arial" pitchFamily="34" charset="0"/>
                <a:ea typeface="Arial" pitchFamily="34" charset="-122"/>
                <a:cs typeface="Arial" pitchFamily="34" charset="-120"/>
              </a:rPr>
              <a:t>The main user journeys were tested manually against a running instance backed by a real MariaDB database: registration creating a lead; login routing USER and ADMIN correctly; a one-click enrolment appearing in Purchases; a review updating the average rating live; a booking producing an invoice with the right discount; exports to CSV, Excel and PDF.</a:t>
            </a:r>
            <a:endParaRPr lang="en-US" sz="960" dirty="0"/>
          </a:p>
        </p:txBody>
      </p:sp>
      <p:sp>
        <p:nvSpPr>
          <p:cNvPr id="22" name="Shape 19"/>
          <p:cNvSpPr/>
          <p:nvPr/>
        </p:nvSpPr>
        <p:spPr>
          <a:xfrm>
            <a:off x="384048" y="3803904"/>
            <a:ext cx="8375904" cy="566928"/>
          </a:xfrm>
          <a:prstGeom prst="rect">
            <a:avLst/>
          </a:prstGeom>
          <a:solidFill>
            <a:srgbClr val="FEF3F7"/>
          </a:solidFill>
          <a:ln/>
        </p:spPr>
        <p:txBody>
          <a:bodyPr/>
          <a:lstStyle/>
          <a:p>
            <a:endParaRPr lang="en-US"/>
          </a:p>
        </p:txBody>
      </p:sp>
      <p:sp>
        <p:nvSpPr>
          <p:cNvPr id="23" name="Text 20"/>
          <p:cNvSpPr/>
          <p:nvPr/>
        </p:nvSpPr>
        <p:spPr>
          <a:xfrm>
            <a:off x="530352" y="3840480"/>
            <a:ext cx="8083296" cy="493776"/>
          </a:xfrm>
          <a:prstGeom prst="rect">
            <a:avLst/>
          </a:prstGeom>
          <a:noFill/>
          <a:ln/>
        </p:spPr>
        <p:txBody>
          <a:bodyPr wrap="square" lIns="0" tIns="0" rIns="0" bIns="0" rtlCol="0" anchor="ctr"/>
          <a:lstStyle/>
          <a:p>
            <a:pPr marL="0" indent="0" algn="ctr">
              <a:lnSpc>
                <a:spcPct val="112000"/>
              </a:lnSpc>
              <a:buNone/>
            </a:pPr>
            <a:r>
              <a:rPr lang="en-US" sz="1050" dirty="0">
                <a:solidFill>
                  <a:srgbClr val="1A1A1A"/>
                </a:solidFill>
                <a:latin typeface="Arial" pitchFamily="34" charset="0"/>
                <a:ea typeface="Arial" pitchFamily="34" charset="-122"/>
                <a:cs typeface="Arial" pitchFamily="34" charset="-120"/>
              </a:rPr>
              <a:t>The project also includes the Spring Boot test harness as a foundation; extending it into full unit and integration coverage is identified as future work.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68A7E00-4C98-D2D6-1E2D-83DC857D82F5}"/>
            </a:ext>
          </a:extLst>
        </p:cNvPr>
        <p:cNvGrpSpPr/>
        <p:nvPr/>
      </p:nvGrpSpPr>
      <p:grpSpPr>
        <a:xfrm>
          <a:off x="0" y="0"/>
          <a:ext cx="0" cy="0"/>
          <a:chOff x="0" y="0"/>
          <a:chExt cx="0" cy="0"/>
        </a:xfrm>
      </p:grpSpPr>
      <p:pic>
        <p:nvPicPr>
          <p:cNvPr id="2" name="Image 0" descr="assets/logo_navy.png">
            <a:extLst>
              <a:ext uri="{FF2B5EF4-FFF2-40B4-BE49-F238E27FC236}">
                <a16:creationId xmlns:a16="http://schemas.microsoft.com/office/drawing/2014/main" id="{27989AC3-5DDA-B2A1-AA13-4C884EB1DD9F}"/>
              </a:ext>
            </a:extLst>
          </p:cNvPr>
          <p:cNvPicPr>
            <a:picLocks noChangeAspect="1"/>
          </p:cNvPicPr>
          <p:nvPr/>
        </p:nvPicPr>
        <p:blipFill>
          <a:blip r:embed="rId5"/>
          <a:stretch>
            <a:fillRect/>
          </a:stretch>
        </p:blipFill>
        <p:spPr>
          <a:xfrm>
            <a:off x="283464" y="0"/>
            <a:ext cx="859536" cy="859536"/>
          </a:xfrm>
          <a:prstGeom prst="rect">
            <a:avLst/>
          </a:prstGeom>
        </p:spPr>
      </p:pic>
      <p:sp>
        <p:nvSpPr>
          <p:cNvPr id="3" name="Text 0">
            <a:extLst>
              <a:ext uri="{FF2B5EF4-FFF2-40B4-BE49-F238E27FC236}">
                <a16:creationId xmlns:a16="http://schemas.microsoft.com/office/drawing/2014/main" id="{9E34A00B-2C45-C3A7-554E-CC4F3A0A7E09}"/>
              </a:ext>
            </a:extLst>
          </p:cNvPr>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Application Demo</a:t>
            </a:r>
            <a:endParaRPr lang="en-US" sz="2100" dirty="0"/>
          </a:p>
        </p:txBody>
      </p:sp>
      <p:sp>
        <p:nvSpPr>
          <p:cNvPr id="4" name="Text 1">
            <a:extLst>
              <a:ext uri="{FF2B5EF4-FFF2-40B4-BE49-F238E27FC236}">
                <a16:creationId xmlns:a16="http://schemas.microsoft.com/office/drawing/2014/main" id="{42814A06-A334-7F73-92D2-94CAA0AAE750}"/>
              </a:ext>
            </a:extLst>
          </p:cNvPr>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Video</a:t>
            </a:r>
            <a:endParaRPr lang="en-US" sz="1250" dirty="0"/>
          </a:p>
        </p:txBody>
      </p:sp>
      <p:sp>
        <p:nvSpPr>
          <p:cNvPr id="5" name="Shape 2">
            <a:extLst>
              <a:ext uri="{FF2B5EF4-FFF2-40B4-BE49-F238E27FC236}">
                <a16:creationId xmlns:a16="http://schemas.microsoft.com/office/drawing/2014/main" id="{D39D863B-5FD8-4EA5-D889-C2DAE3EA8FC4}"/>
              </a:ext>
            </a:extLst>
          </p:cNvPr>
          <p:cNvSpPr/>
          <p:nvPr/>
        </p:nvSpPr>
        <p:spPr>
          <a:xfrm>
            <a:off x="0" y="5001768"/>
            <a:ext cx="9144000" cy="141732"/>
          </a:xfrm>
          <a:prstGeom prst="rect">
            <a:avLst/>
          </a:prstGeom>
          <a:solidFill>
            <a:srgbClr val="FEF3F7"/>
          </a:solidFill>
          <a:ln/>
        </p:spPr>
        <p:txBody>
          <a:bodyPr/>
          <a:lstStyle/>
          <a:p>
            <a:endParaRPr lang="en-US"/>
          </a:p>
        </p:txBody>
      </p:sp>
      <p:sp>
        <p:nvSpPr>
          <p:cNvPr id="6" name="Shape 3">
            <a:extLst>
              <a:ext uri="{FF2B5EF4-FFF2-40B4-BE49-F238E27FC236}">
                <a16:creationId xmlns:a16="http://schemas.microsoft.com/office/drawing/2014/main" id="{4BAA0535-8956-6FC8-77B6-97D1EF35F62E}"/>
              </a:ext>
            </a:extLst>
          </p:cNvPr>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a:extLst>
              <a:ext uri="{FF2B5EF4-FFF2-40B4-BE49-F238E27FC236}">
                <a16:creationId xmlns:a16="http://schemas.microsoft.com/office/drawing/2014/main" id="{9CBBADE4-CD4E-65AA-B355-198AF6D3CA72}"/>
              </a:ext>
            </a:extLst>
          </p:cNvPr>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a:extLst>
              <a:ext uri="{FF2B5EF4-FFF2-40B4-BE49-F238E27FC236}">
                <a16:creationId xmlns:a16="http://schemas.microsoft.com/office/drawing/2014/main" id="{8C004D50-2FFC-150E-31B1-380D046274C4}"/>
              </a:ext>
            </a:extLst>
          </p:cNvPr>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a:extLst>
              <a:ext uri="{FF2B5EF4-FFF2-40B4-BE49-F238E27FC236}">
                <a16:creationId xmlns:a16="http://schemas.microsoft.com/office/drawing/2014/main" id="{93AE2192-0D52-37FB-B2E3-CCBF1C1A59C6}"/>
              </a:ext>
            </a:extLst>
          </p:cNvPr>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12 / 13</a:t>
            </a:r>
            <a:endParaRPr lang="en-US" sz="750" dirty="0"/>
          </a:p>
        </p:txBody>
      </p:sp>
      <p:pic>
        <p:nvPicPr>
          <p:cNvPr id="10" name="Demo">
            <a:hlinkClick r:id="" action="ppaction://media"/>
            <a:extLst>
              <a:ext uri="{FF2B5EF4-FFF2-40B4-BE49-F238E27FC236}">
                <a16:creationId xmlns:a16="http://schemas.microsoft.com/office/drawing/2014/main" id="{C738D7B5-DC29-156E-D278-FB2DFCE5E33A}"/>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43000" y="389763"/>
            <a:ext cx="7662672" cy="4310253"/>
          </a:xfrm>
          <a:prstGeom prst="rect">
            <a:avLst/>
          </a:prstGeom>
        </p:spPr>
      </p:pic>
    </p:spTree>
    <p:extLst>
      <p:ext uri="{BB962C8B-B14F-4D97-AF65-F5344CB8AC3E}">
        <p14:creationId xmlns:p14="http://schemas.microsoft.com/office/powerpoint/2010/main" val="238262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6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assets/logo_navy.png"/>
          <p:cNvPicPr>
            <a:picLocks noChangeAspect="1"/>
          </p:cNvPicPr>
          <p:nvPr/>
        </p:nvPicPr>
        <p:blipFill>
          <a:blip r:embed="rId3"/>
          <a:stretch>
            <a:fillRect/>
          </a:stretch>
        </p:blipFill>
        <p:spPr>
          <a:xfrm>
            <a:off x="283464" y="0"/>
            <a:ext cx="859536" cy="859536"/>
          </a:xfrm>
          <a:prstGeom prst="rect">
            <a:avLst/>
          </a:prstGeom>
        </p:spPr>
      </p:pic>
      <p:sp>
        <p:nvSpPr>
          <p:cNvPr id="3" name="Text 0"/>
          <p:cNvSpPr/>
          <p:nvPr/>
        </p:nvSpPr>
        <p:spPr>
          <a:xfrm>
            <a:off x="1261872" y="82296"/>
            <a:ext cx="7543800" cy="365760"/>
          </a:xfrm>
          <a:prstGeom prst="rect">
            <a:avLst/>
          </a:prstGeom>
          <a:noFill/>
          <a:ln/>
        </p:spPr>
        <p:txBody>
          <a:bodyPr wrap="square" lIns="0" tIns="0" rIns="0" bIns="0" rtlCol="0" anchor="ctr"/>
          <a:lstStyle/>
          <a:p>
            <a:pPr marL="0" indent="0">
              <a:buNone/>
            </a:pPr>
            <a:r>
              <a:rPr lang="en-US" sz="2100" b="1" dirty="0">
                <a:solidFill>
                  <a:srgbClr val="022461"/>
                </a:solidFill>
                <a:latin typeface="Arial" pitchFamily="34" charset="0"/>
                <a:ea typeface="Arial" pitchFamily="34" charset="-122"/>
                <a:cs typeface="Arial" pitchFamily="34" charset="-120"/>
              </a:rPr>
              <a:t>Conclusion and Future Work</a:t>
            </a:r>
            <a:endParaRPr lang="en-US" sz="2100" dirty="0"/>
          </a:p>
        </p:txBody>
      </p:sp>
      <p:sp>
        <p:nvSpPr>
          <p:cNvPr id="4" name="Text 1"/>
          <p:cNvSpPr/>
          <p:nvPr/>
        </p:nvSpPr>
        <p:spPr>
          <a:xfrm>
            <a:off x="1280160" y="457200"/>
            <a:ext cx="7543800" cy="274320"/>
          </a:xfrm>
          <a:prstGeom prst="rect">
            <a:avLst/>
          </a:prstGeom>
          <a:noFill/>
          <a:ln/>
        </p:spPr>
        <p:txBody>
          <a:bodyPr wrap="square" lIns="0" tIns="0" rIns="0" bIns="0" rtlCol="0" anchor="ctr"/>
          <a:lstStyle/>
          <a:p>
            <a:pPr marL="0" indent="0">
              <a:buNone/>
            </a:pPr>
            <a:r>
              <a:rPr lang="en-US" sz="1250" dirty="0">
                <a:solidFill>
                  <a:srgbClr val="2F5D8C"/>
                </a:solidFill>
                <a:latin typeface="Arial" pitchFamily="34" charset="0"/>
                <a:ea typeface="Arial" pitchFamily="34" charset="-122"/>
                <a:cs typeface="Arial" pitchFamily="34" charset="-120"/>
              </a:rPr>
              <a:t>One product where the storefront and the CRM are the same system</a:t>
            </a:r>
            <a:endParaRPr lang="en-US" sz="1250" dirty="0"/>
          </a:p>
        </p:txBody>
      </p:sp>
      <p:sp>
        <p:nvSpPr>
          <p:cNvPr id="5" name="Shape 2"/>
          <p:cNvSpPr/>
          <p:nvPr/>
        </p:nvSpPr>
        <p:spPr>
          <a:xfrm>
            <a:off x="0" y="5001768"/>
            <a:ext cx="9144000" cy="141732"/>
          </a:xfrm>
          <a:prstGeom prst="rect">
            <a:avLst/>
          </a:prstGeom>
          <a:solidFill>
            <a:srgbClr val="FEF3F7"/>
          </a:solidFill>
          <a:ln/>
        </p:spPr>
        <p:txBody>
          <a:bodyPr/>
          <a:lstStyle/>
          <a:p>
            <a:endParaRPr lang="en-US"/>
          </a:p>
        </p:txBody>
      </p:sp>
      <p:sp>
        <p:nvSpPr>
          <p:cNvPr id="6" name="Shape 3"/>
          <p:cNvSpPr/>
          <p:nvPr/>
        </p:nvSpPr>
        <p:spPr>
          <a:xfrm>
            <a:off x="283464" y="4727448"/>
            <a:ext cx="7699248" cy="256032"/>
          </a:xfrm>
          <a:prstGeom prst="roundRect">
            <a:avLst>
              <a:gd name="adj" fmla="val 46429"/>
            </a:avLst>
          </a:prstGeom>
          <a:solidFill>
            <a:srgbClr val="FEF3F7"/>
          </a:solidFill>
          <a:ln/>
        </p:spPr>
        <p:txBody>
          <a:bodyPr/>
          <a:lstStyle/>
          <a:p>
            <a:endParaRPr lang="en-US"/>
          </a:p>
        </p:txBody>
      </p:sp>
      <p:sp>
        <p:nvSpPr>
          <p:cNvPr id="7" name="Shape 4"/>
          <p:cNvSpPr/>
          <p:nvPr/>
        </p:nvSpPr>
        <p:spPr>
          <a:xfrm>
            <a:off x="283464" y="4709160"/>
            <a:ext cx="8577072" cy="0"/>
          </a:xfrm>
          <a:prstGeom prst="line">
            <a:avLst/>
          </a:prstGeom>
          <a:noFill/>
          <a:ln w="9525">
            <a:solidFill>
              <a:srgbClr val="BFBFBF"/>
            </a:solidFill>
            <a:prstDash val="solid"/>
          </a:ln>
        </p:spPr>
        <p:txBody>
          <a:bodyPr/>
          <a:lstStyle/>
          <a:p>
            <a:endParaRPr lang="en-US"/>
          </a:p>
        </p:txBody>
      </p:sp>
      <p:sp>
        <p:nvSpPr>
          <p:cNvPr id="8" name="Text 5"/>
          <p:cNvSpPr/>
          <p:nvPr/>
        </p:nvSpPr>
        <p:spPr>
          <a:xfrm>
            <a:off x="411480" y="4727448"/>
            <a:ext cx="5486400" cy="256032"/>
          </a:xfrm>
          <a:prstGeom prst="rect">
            <a:avLst/>
          </a:prstGeom>
          <a:noFill/>
          <a:ln/>
        </p:spPr>
        <p:txBody>
          <a:bodyPr wrap="square" lIns="0" tIns="0" rIns="0" bIns="0" rtlCol="0" anchor="ctr"/>
          <a:lstStyle/>
          <a:p>
            <a:pPr marL="0" indent="0">
              <a:buNone/>
            </a:pPr>
            <a:r>
              <a:rPr lang="en-US" sz="750" b="1" dirty="0">
                <a:solidFill>
                  <a:srgbClr val="3C3C3C"/>
                </a:solidFill>
                <a:latin typeface="Arial" pitchFamily="34" charset="0"/>
                <a:ea typeface="Arial" pitchFamily="34" charset="-122"/>
                <a:cs typeface="Arial" pitchFamily="34" charset="-120"/>
              </a:rPr>
              <a:t>Raul Veca   -   WEST UNIVERSITY OF TIMIȘOARA</a:t>
            </a:r>
            <a:endParaRPr lang="en-US" sz="750" dirty="0"/>
          </a:p>
        </p:txBody>
      </p:sp>
      <p:sp>
        <p:nvSpPr>
          <p:cNvPr id="9" name="Text 6"/>
          <p:cNvSpPr/>
          <p:nvPr/>
        </p:nvSpPr>
        <p:spPr>
          <a:xfrm>
            <a:off x="7223760" y="4727448"/>
            <a:ext cx="1636776" cy="256032"/>
          </a:xfrm>
          <a:prstGeom prst="rect">
            <a:avLst/>
          </a:prstGeom>
          <a:noFill/>
          <a:ln/>
        </p:spPr>
        <p:txBody>
          <a:bodyPr wrap="square" lIns="0" tIns="0" rIns="0" bIns="0" rtlCol="0" anchor="ctr"/>
          <a:lstStyle/>
          <a:p>
            <a:pPr marL="0" indent="0" algn="r">
              <a:buNone/>
            </a:pPr>
            <a:r>
              <a:rPr lang="en-US" sz="750" b="1" dirty="0">
                <a:solidFill>
                  <a:srgbClr val="3C3C3C"/>
                </a:solidFill>
                <a:latin typeface="Arial" pitchFamily="34" charset="0"/>
                <a:ea typeface="Arial" pitchFamily="34" charset="-122"/>
                <a:cs typeface="Arial" pitchFamily="34" charset="-120"/>
              </a:rPr>
              <a:t>Page 13 / 13</a:t>
            </a:r>
            <a:endParaRPr lang="en-US" sz="750" dirty="0"/>
          </a:p>
        </p:txBody>
      </p:sp>
      <p:sp>
        <p:nvSpPr>
          <p:cNvPr id="10" name="Shape 7"/>
          <p:cNvSpPr/>
          <p:nvPr/>
        </p:nvSpPr>
        <p:spPr>
          <a:xfrm>
            <a:off x="384048" y="1042416"/>
            <a:ext cx="4160520" cy="310896"/>
          </a:xfrm>
          <a:prstGeom prst="rect">
            <a:avLst/>
          </a:prstGeom>
          <a:solidFill>
            <a:srgbClr val="022461"/>
          </a:solidFill>
          <a:ln/>
        </p:spPr>
        <p:txBody>
          <a:bodyPr/>
          <a:lstStyle/>
          <a:p>
            <a:endParaRPr lang="en-US"/>
          </a:p>
        </p:txBody>
      </p:sp>
      <p:sp>
        <p:nvSpPr>
          <p:cNvPr id="11" name="Text 8"/>
          <p:cNvSpPr/>
          <p:nvPr/>
        </p:nvSpPr>
        <p:spPr>
          <a:xfrm>
            <a:off x="502920" y="1042416"/>
            <a:ext cx="3922776"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Implemented</a:t>
            </a:r>
            <a:endParaRPr lang="en-US" sz="1300" dirty="0"/>
          </a:p>
        </p:txBody>
      </p:sp>
      <p:sp>
        <p:nvSpPr>
          <p:cNvPr id="12" name="Shape 9"/>
          <p:cNvSpPr/>
          <p:nvPr/>
        </p:nvSpPr>
        <p:spPr>
          <a:xfrm>
            <a:off x="384048" y="1353312"/>
            <a:ext cx="4160520" cy="2761488"/>
          </a:xfrm>
          <a:prstGeom prst="rect">
            <a:avLst/>
          </a:prstGeom>
          <a:solidFill>
            <a:srgbClr val="FEF3F7"/>
          </a:solidFill>
          <a:ln/>
        </p:spPr>
        <p:txBody>
          <a:bodyPr/>
          <a:lstStyle/>
          <a:p>
            <a:endParaRPr lang="en-US"/>
          </a:p>
        </p:txBody>
      </p:sp>
      <p:sp>
        <p:nvSpPr>
          <p:cNvPr id="13" name="Text 10"/>
          <p:cNvSpPr/>
          <p:nvPr/>
        </p:nvSpPr>
        <p:spPr>
          <a:xfrm>
            <a:off x="530352" y="1417320"/>
            <a:ext cx="3867912" cy="2633472"/>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A client portal: catalogue, one-click purchase, star reviews, 1:1 booking with calendar and payment, issue reporting.</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A seven-tab administrator portal: contacts, courses, purchases, invoices, analytics, employees, issues.</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An event-driven Java domain layer on classic design patterns, with automatic invoicing and lead scoring.</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Live statistics over SSE, Excel import, and CSV / Excel / PDF export.</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An optional Claude layer: assistant, recommendation quiz, per-company advice, live translation.</a:t>
            </a:r>
            <a:endParaRPr lang="en-US" sz="980" dirty="0"/>
          </a:p>
        </p:txBody>
      </p:sp>
      <p:sp>
        <p:nvSpPr>
          <p:cNvPr id="14" name="Shape 11"/>
          <p:cNvSpPr/>
          <p:nvPr/>
        </p:nvSpPr>
        <p:spPr>
          <a:xfrm>
            <a:off x="4599432" y="1042416"/>
            <a:ext cx="4160520" cy="310896"/>
          </a:xfrm>
          <a:prstGeom prst="rect">
            <a:avLst/>
          </a:prstGeom>
          <a:solidFill>
            <a:srgbClr val="E4AB26"/>
          </a:solidFill>
          <a:ln/>
        </p:spPr>
        <p:txBody>
          <a:bodyPr/>
          <a:lstStyle/>
          <a:p>
            <a:endParaRPr lang="en-US"/>
          </a:p>
        </p:txBody>
      </p:sp>
      <p:sp>
        <p:nvSpPr>
          <p:cNvPr id="15" name="Text 12"/>
          <p:cNvSpPr/>
          <p:nvPr/>
        </p:nvSpPr>
        <p:spPr>
          <a:xfrm>
            <a:off x="4718304" y="1042416"/>
            <a:ext cx="3922776"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Limitations and next steps</a:t>
            </a:r>
            <a:endParaRPr lang="en-US" sz="1300" dirty="0"/>
          </a:p>
        </p:txBody>
      </p:sp>
      <p:sp>
        <p:nvSpPr>
          <p:cNvPr id="16" name="Shape 13"/>
          <p:cNvSpPr/>
          <p:nvPr/>
        </p:nvSpPr>
        <p:spPr>
          <a:xfrm>
            <a:off x="4599432" y="1353312"/>
            <a:ext cx="4160520" cy="2761488"/>
          </a:xfrm>
          <a:prstGeom prst="rect">
            <a:avLst/>
          </a:prstGeom>
          <a:solidFill>
            <a:srgbClr val="FEF3F7"/>
          </a:solidFill>
          <a:ln/>
        </p:spPr>
        <p:txBody>
          <a:bodyPr/>
          <a:lstStyle/>
          <a:p>
            <a:endParaRPr lang="en-US"/>
          </a:p>
        </p:txBody>
      </p:sp>
      <p:sp>
        <p:nvSpPr>
          <p:cNvPr id="17" name="Text 14"/>
          <p:cNvSpPr/>
          <p:nvPr/>
        </p:nvSpPr>
        <p:spPr>
          <a:xfrm>
            <a:off x="4745736" y="1417320"/>
            <a:ext cx="3867912" cy="2633472"/>
          </a:xfrm>
          <a:prstGeom prst="rect">
            <a:avLst/>
          </a:prstGeom>
          <a:noFill/>
          <a:ln/>
        </p:spPr>
        <p:txBody>
          <a:bodyPr wrap="square" lIns="0" tIns="0" rIns="0" bIns="0" rtlCol="0" anchor="t"/>
          <a:lstStyle/>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Automated test suite - unit and integration tests over the commands, observers, scoring strategies and REST endpoints, enabling continuous integration.</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Stronger authentication - token-based sessions, password hashing at rest, e-mail verification and a genuine reset flow with expiring links.</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Richer analytics - historical trends, cohort analysis and exportable dashboards beyond point-in-time metrics.</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Deeper AI - conversation memory and AI summaries of support issues.</a:t>
            </a:r>
            <a:endParaRPr lang="en-US" sz="980" dirty="0"/>
          </a:p>
          <a:p>
            <a:pPr marL="177800" indent="-177800">
              <a:lnSpc>
                <a:spcPct val="110000"/>
              </a:lnSpc>
              <a:spcAft>
                <a:spcPts val="400"/>
              </a:spcAft>
              <a:buSzPct val="100000"/>
              <a:buChar char="○"/>
            </a:pPr>
            <a:r>
              <a:rPr lang="en-US" sz="980" dirty="0">
                <a:solidFill>
                  <a:srgbClr val="1A1A1A"/>
                </a:solidFill>
                <a:latin typeface="Arial" pitchFamily="34" charset="0"/>
                <a:ea typeface="Arial" pitchFamily="34" charset="-122"/>
                <a:cs typeface="Arial" pitchFamily="34" charset="-120"/>
              </a:rPr>
              <a:t>Deployment and scaling - containerising the two services for a cloud deployment.</a:t>
            </a:r>
            <a:endParaRPr lang="en-US" sz="980" dirty="0"/>
          </a:p>
        </p:txBody>
      </p:sp>
      <p:sp>
        <p:nvSpPr>
          <p:cNvPr id="18" name="Shape 15"/>
          <p:cNvSpPr/>
          <p:nvPr/>
        </p:nvSpPr>
        <p:spPr>
          <a:xfrm>
            <a:off x="384048" y="3913632"/>
            <a:ext cx="8375904" cy="548640"/>
          </a:xfrm>
          <a:prstGeom prst="rect">
            <a:avLst/>
          </a:prstGeom>
          <a:solidFill>
            <a:srgbClr val="F0F7FF"/>
          </a:solidFill>
          <a:ln/>
        </p:spPr>
        <p:txBody>
          <a:bodyPr/>
          <a:lstStyle/>
          <a:p>
            <a:endParaRPr lang="en-US"/>
          </a:p>
        </p:txBody>
      </p:sp>
      <p:sp>
        <p:nvSpPr>
          <p:cNvPr id="19" name="Text 16"/>
          <p:cNvSpPr/>
          <p:nvPr/>
        </p:nvSpPr>
        <p:spPr>
          <a:xfrm>
            <a:off x="530352" y="3950208"/>
            <a:ext cx="8083296" cy="475488"/>
          </a:xfrm>
          <a:prstGeom prst="rect">
            <a:avLst/>
          </a:prstGeom>
          <a:noFill/>
          <a:ln/>
        </p:spPr>
        <p:txBody>
          <a:bodyPr wrap="square" lIns="0" tIns="0" rIns="0" bIns="0" rtlCol="0" anchor="ctr"/>
          <a:lstStyle/>
          <a:p>
            <a:pPr marL="0" indent="0" algn="ctr">
              <a:lnSpc>
                <a:spcPct val="112000"/>
              </a:lnSpc>
              <a:buNone/>
            </a:pPr>
            <a:r>
              <a:rPr lang="en-US" sz="1080" dirty="0">
                <a:solidFill>
                  <a:srgbClr val="1A1A1A"/>
                </a:solidFill>
                <a:latin typeface="Arial" pitchFamily="34" charset="0"/>
                <a:ea typeface="Arial" pitchFamily="34" charset="-122"/>
                <a:cs typeface="Arial" pitchFamily="34" charset="-120"/>
              </a:rPr>
              <a:t>A visitor becomes a tracked lead on registration and a customer on the first purchase, and every action after that propagates into the administration portal by itself. That is the result: one click, several reactions, no reconciliation.</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3181</Words>
  <Application>Microsoft Office PowerPoint</Application>
  <PresentationFormat>On-screen Show (16:9)</PresentationFormat>
  <Paragraphs>170</Paragraphs>
  <Slides>15</Slides>
  <Notes>15</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TrainingIT - Bachelor Thesis Defense</dc:title>
  <dc:subject>PptxGenJS Presentation</dc:subject>
  <dc:creator>Raul Veca</dc:creator>
  <cp:lastModifiedBy>Raul Veca</cp:lastModifiedBy>
  <cp:revision>4</cp:revision>
  <dcterms:created xsi:type="dcterms:W3CDTF">2026-07-27T00:24:05Z</dcterms:created>
  <dcterms:modified xsi:type="dcterms:W3CDTF">2026-07-27T01:39:06Z</dcterms:modified>
</cp:coreProperties>
</file>