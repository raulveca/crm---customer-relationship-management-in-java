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980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5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Training IT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822960" y="31272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Platform for IT Training, Sales &amp; Client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implementation, and evaluation of a course-catalog, booking, and invoicing platform that replaces a legacy desktop CRM with a browser-based, AI-assisted web application.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623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Veca Raul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Bachelor's thesis     Coordinator: Sebastian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Stefaniga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CRM Does Better — Now That the Platform Is Complete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298448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Swing desktop CRM tied every task to one installed machine and manual paperwork. The web platform makes the whole training-sales workflow self-service, automated, and measurable.</a:t>
            </a: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</a:rPr>
              <a:t>a REST API over MariaDB, a modern Next.js web application, automatic invoicing, dual-role authentication, an Excel and PDF reporting</a:t>
            </a:r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45775" cy="859536"/>
          </a:xfrm>
          <a:prstGeom prst="roundRect">
            <a:avLst>
              <a:gd name="adj" fmla="val 5319"/>
            </a:avLst>
          </a:prstGeom>
          <a:solidFill>
            <a:srgbClr val="F5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15568" y="229514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ACCESS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" y="255117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→ web 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06240" y="2240280"/>
            <a:ext cx="684245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Swing client had to be installed per machine. Clients, employees, and admins now use it from any browser, with role-based portals.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209544"/>
            <a:ext cx="10545775" cy="859536"/>
          </a:xfrm>
          <a:prstGeom prst="roundRect">
            <a:avLst>
              <a:gd name="adj" fmla="val 5319"/>
            </a:avLst>
          </a:prstGeom>
          <a:solidFill>
            <a:srgbClr val="EF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5568" y="335584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" y="361188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quiz &amp; booking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3300984"/>
            <a:ext cx="684245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browse courses, get AI quiz recommendations, and book trainer sessions themselves — no back-and-forth email or manual scheduling.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270248"/>
            <a:ext cx="10545775" cy="859536"/>
          </a:xfrm>
          <a:prstGeom prst="roundRect">
            <a:avLst>
              <a:gd name="adj" fmla="val 5319"/>
            </a:avLst>
          </a:prstGeom>
          <a:solidFill>
            <a:srgbClr val="EFF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5568" y="441655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BILLING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" y="46725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without paperwork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4361688"/>
            <a:ext cx="684245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auto-generates a PAID invoice with the −60% employee discount applied automatically — no manual price lists or hand-written bills.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330952"/>
            <a:ext cx="10545775" cy="859536"/>
          </a:xfrm>
          <a:prstGeom prst="roundRect">
            <a:avLst>
              <a:gd name="adj" fmla="val 5319"/>
            </a:avLst>
          </a:prstGeom>
          <a:solidFill>
            <a:srgbClr val="F5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15568" y="547725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5568" y="573328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AI built 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06240" y="5422392"/>
            <a:ext cx="684245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dashboard tracks impressions and click-through, while an AI chatbot and recommendation quiz assist users — no external BI or support tooling.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Training 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Designed and Implemented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24358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every layer of the system myself — the web client and course catalog, the domain logic and design patterns, the database and admin tooling, the AI features, and the security around them.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271418" cy="4160520"/>
          </a:xfrm>
          <a:prstGeom prst="roundRect">
            <a:avLst>
              <a:gd name="adj" fmla="val 1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8992" y="2075688"/>
            <a:ext cx="27593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Experience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78992" y="2478024"/>
            <a:ext cx="2759354" cy="146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78992" y="2660904"/>
            <a:ext cx="275935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portal &amp; admin UI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2935224"/>
            <a:ext cx="2759354" cy="789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 catalog, recommendation quiz, and role-based admin dashboards.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1078992" y="3742944"/>
            <a:ext cx="275935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categories &amp; enrollment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4017264"/>
            <a:ext cx="2759354" cy="789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with category filtering, enrollment, and per-contact purchase tracking.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078992" y="4824984"/>
            <a:ext cx="275935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workflow &amp; app 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5099304"/>
            <a:ext cx="2759354" cy="789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client, employee, and admin workflows and the overall module layout.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460138" y="1874520"/>
            <a:ext cx="3271418" cy="4160520"/>
          </a:xfrm>
          <a:prstGeom prst="roundRect">
            <a:avLst>
              <a:gd name="adj" fmla="val 1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16170" y="2075688"/>
            <a:ext cx="27593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Domain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16170" y="2478024"/>
            <a:ext cx="2759354" cy="146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16170" y="2660904"/>
            <a:ext cx="275935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Design-pattern architecture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16170" y="2935224"/>
            <a:ext cx="2759354" cy="789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Builder, Command, Factory, Observer, and Strategy patterns structure the domain and lead scoring.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716170" y="3742944"/>
            <a:ext cx="275935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 &amp; billing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6170" y="4017264"/>
            <a:ext cx="2759354" cy="789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auth, session booking, and automatic PAID invoicing with employee discounts.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716170" y="4824984"/>
            <a:ext cx="275935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chatbot &amp; quiz recommender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6170" y="5099304"/>
            <a:ext cx="2759354" cy="789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powers the in-app support chatbot and the course-recommendation quiz.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097317" y="1874520"/>
            <a:ext cx="3271418" cy="4160520"/>
          </a:xfrm>
          <a:prstGeom prst="roundRect">
            <a:avLst>
              <a:gd name="adj" fmla="val 1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53349" y="2075688"/>
            <a:ext cx="27593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Admin &amp; Security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53349" y="2478024"/>
            <a:ext cx="2759354" cy="146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53349" y="2660904"/>
            <a:ext cx="275935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schema &amp; DAO layer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53349" y="2935224"/>
            <a:ext cx="2759354" cy="789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/ DAO layer over MariaDB with HikariCP pooling for all core entities.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353349" y="3742944"/>
            <a:ext cx="275935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 &amp; reporting area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53349" y="4017264"/>
            <a:ext cx="2759354" cy="789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area for analytics, contacts, employees, and Excel / PDF report export.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8353349" y="4824984"/>
            <a:ext cx="275935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 &amp; validation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53349" y="5099304"/>
            <a:ext cx="2759354" cy="789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login with strictly separated user / admin roles and server-side validation.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Training 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Is Built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24358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— from the browser client down to the database — is built in-house, so the full training-sales workflow runs without relying on any third-party service.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45775" cy="465201"/>
          </a:xfrm>
          <a:prstGeom prst="roundRect">
            <a:avLst>
              <a:gd name="adj" fmla="val 7862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874520"/>
            <a:ext cx="192024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108960" y="1874520"/>
            <a:ext cx="393192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Next.js, React, TypeScript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1874520"/>
            <a:ext cx="3962095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portal, recommendation quiz, and admin dashboards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422017"/>
            <a:ext cx="10545775" cy="465201"/>
          </a:xfrm>
          <a:prstGeom prst="roundRect">
            <a:avLst>
              <a:gd name="adj" fmla="val 78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422017"/>
            <a:ext cx="192024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08960" y="2422017"/>
            <a:ext cx="393192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0" y="2422017"/>
            <a:ext cx="3962095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interface and application layout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969514"/>
            <a:ext cx="10545775" cy="465201"/>
          </a:xfrm>
          <a:prstGeom prst="roundRect">
            <a:avLst>
              <a:gd name="adj" fmla="val 7862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2969514"/>
            <a:ext cx="192024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08960" y="2969514"/>
            <a:ext cx="393192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(Java 17) REST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2969514"/>
            <a:ext cx="3962095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auth, catalog, booking, invoicing, and reporting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517011"/>
            <a:ext cx="10545775" cy="465201"/>
          </a:xfrm>
          <a:prstGeom prst="roundRect">
            <a:avLst>
              <a:gd name="adj" fmla="val 78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3517011"/>
            <a:ext cx="192024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Logic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108960" y="3517011"/>
            <a:ext cx="393192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patterns (Builder, Command, Observer...)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3517011"/>
            <a:ext cx="3962095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CRM entities, events, and lead scoring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064508"/>
            <a:ext cx="10545775" cy="465201"/>
          </a:xfrm>
          <a:prstGeom prst="roundRect">
            <a:avLst>
              <a:gd name="adj" fmla="val 7862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4064508"/>
            <a:ext cx="192024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108960" y="4064508"/>
            <a:ext cx="393192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Claude (anthropic-java)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4064508"/>
            <a:ext cx="3962095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support chatbot and course-recommendation quiz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4612005"/>
            <a:ext cx="10545775" cy="465201"/>
          </a:xfrm>
          <a:prstGeom prst="roundRect">
            <a:avLst>
              <a:gd name="adj" fmla="val 78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97280" y="4612005"/>
            <a:ext cx="192024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108960" y="4612005"/>
            <a:ext cx="393192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MariaDB + HikariCP / DAO layer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4612005"/>
            <a:ext cx="3962095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contacts, courses, sessions, invoices, and purchases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5159502"/>
            <a:ext cx="10545775" cy="465201"/>
          </a:xfrm>
          <a:prstGeom prst="roundRect">
            <a:avLst>
              <a:gd name="adj" fmla="val 7862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97280" y="5159502"/>
            <a:ext cx="192024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108960" y="5159502"/>
            <a:ext cx="393192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 POI &amp; OpenPDF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5159502"/>
            <a:ext cx="3962095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analytics and invoices to Excel and PDF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2960" y="5706999"/>
            <a:ext cx="10545775" cy="465201"/>
          </a:xfrm>
          <a:prstGeom prst="roundRect">
            <a:avLst>
              <a:gd name="adj" fmla="val 78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97280" y="5706999"/>
            <a:ext cx="192024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108960" y="5706999"/>
            <a:ext cx="3931920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login, user / admin roles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5706999"/>
            <a:ext cx="3962095" cy="46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client portal and admin access control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Training 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666" y="226012"/>
            <a:ext cx="988587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28666" y="475315"/>
            <a:ext cx="286051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the running application.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Training IT</a:t>
            </a:r>
            <a:endParaRPr lang="en-US" sz="1000" dirty="0"/>
          </a:p>
        </p:txBody>
      </p:sp>
      <p:pic>
        <p:nvPicPr>
          <p:cNvPr id="6" name="2026-07-02 03-13-59">
            <a:hlinkClick r:id="" action="ppaction://media"/>
            <a:extLst>
              <a:ext uri="{FF2B5EF4-FFF2-40B4-BE49-F238E27FC236}">
                <a16:creationId xmlns:a16="http://schemas.microsoft.com/office/drawing/2014/main" id="{04D3E20E-6F9C-3038-1F0F-70992B800A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833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r>
              <a:rPr lang="en-US" sz="6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Training IT   ·   Veca Raul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663</Words>
  <Application>Microsoft Office PowerPoint</Application>
  <PresentationFormat>Widescreen</PresentationFormat>
  <Paragraphs>82</Paragraphs>
  <Slides>6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Raul Veca</cp:lastModifiedBy>
  <cp:revision>4</cp:revision>
  <dcterms:created xsi:type="dcterms:W3CDTF">2026-07-01T23:30:00Z</dcterms:created>
  <dcterms:modified xsi:type="dcterms:W3CDTF">2026-07-02T20:24:39Z</dcterms:modified>
</cp:coreProperties>
</file>