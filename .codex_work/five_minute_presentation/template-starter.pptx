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703fb3ddee43a7" /><Relationship Type="http://schemas.openxmlformats.org/officeDocument/2006/relationships/extended-properties" Target="/docProps/app.xml" Id="R989014e210e14e21" /><Relationship Type="http://schemas.openxmlformats.org/officeDocument/2006/relationships/officeDocument" Target="/ppt/presentation.xml" Id="Rf2071586361241ad" /></Relationships>
</file>

<file path=ppt/presentation.xml><?xml version="1.0" encoding="utf-8"?>
<p:presentation xmlns:p="http://schemas.openxmlformats.org/presentationml/2006/main">
  <p:sldMasterIdLst>
    <p:sldMasterId xmlns:r="http://schemas.openxmlformats.org/officeDocument/2006/relationships" id="2147483648" r:id="Rdef6c727e1444abc"/>
  </p:sldMasterIdLst>
  <p:notesMasterIdLst>
    <p:notesMasterId xmlns:r="http://schemas.openxmlformats.org/officeDocument/2006/relationships" r:id="Rd2c5998e44dc47ff"/>
  </p:notesMasterIdLst>
  <p:sldIdLst>
    <p:sldId xmlns:r="http://schemas.openxmlformats.org/officeDocument/2006/relationships" id="256" r:id="R9d113a117f064993"/>
    <p:sldId xmlns:r="http://schemas.openxmlformats.org/officeDocument/2006/relationships" id="257" r:id="Recf7609d92b74de9"/>
    <p:sldId xmlns:r="http://schemas.openxmlformats.org/officeDocument/2006/relationships" id="258" r:id="R89f5988dba934c68"/>
    <p:sldId xmlns:r="http://schemas.openxmlformats.org/officeDocument/2006/relationships" id="259" r:id="R70fc633f3dfa4d7c"/>
    <p:sldId xmlns:r="http://schemas.openxmlformats.org/officeDocument/2006/relationships" id="260" r:id="R44274c51ba294eac"/>
    <p:sldId xmlns:r="http://schemas.openxmlformats.org/officeDocument/2006/relationships" id="261" r:id="Rb7ea33d78dab4e15"/>
    <p:sldId xmlns:r="http://schemas.openxmlformats.org/officeDocument/2006/relationships" id="262" r:id="Rdd1ff2aef9cf4672"/>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e1607487b8413b" /><Relationship Type="http://schemas.openxmlformats.org/officeDocument/2006/relationships/slideMaster" Target="/ppt/slideMasters/slideMaster1.xml" Id="Rdef6c727e1444abc" /><Relationship Type="http://schemas.openxmlformats.org/officeDocument/2006/relationships/notesMaster" Target="/ppt/notesMasters/notesMaster1.xml" Id="Rd2c5998e44dc47ff" /><Relationship Type="http://schemas.openxmlformats.org/officeDocument/2006/relationships/presProps" Target="/ppt/presProps.xml" Id="Rb288cd7a72324761" /><Relationship Type="http://schemas.openxmlformats.org/officeDocument/2006/relationships/viewProps" Target="/ppt/viewProps.xml" Id="Re648008a246c4486" /><Relationship Type="http://schemas.openxmlformats.org/officeDocument/2006/relationships/tableStyles" Target="/ppt/tableStyles.xml" Id="Ra4b8d10227814da5" /><Relationship Type="http://schemas.openxmlformats.org/officeDocument/2006/relationships/slide" Target="/ppt/slides/slide1.xml" Id="R9d113a117f064993" /><Relationship Type="http://schemas.openxmlformats.org/officeDocument/2006/relationships/slide" Target="/ppt/slides/slide2.xml" Id="Recf7609d92b74de9" /><Relationship Type="http://schemas.openxmlformats.org/officeDocument/2006/relationships/slide" Target="/ppt/slides/slide3.xml" Id="R89f5988dba934c68" /><Relationship Type="http://schemas.openxmlformats.org/officeDocument/2006/relationships/slide" Target="/ppt/slides/slide4.xml" Id="R70fc633f3dfa4d7c" /><Relationship Type="http://schemas.openxmlformats.org/officeDocument/2006/relationships/slide" Target="/ppt/slides/slide5.xml" Id="R44274c51ba294eac" /><Relationship Type="http://schemas.openxmlformats.org/officeDocument/2006/relationships/slide" Target="/ppt/slides/slide6.xml" Id="Rb7ea33d78dab4e15" /><Relationship Type="http://schemas.openxmlformats.org/officeDocument/2006/relationships/slide" Target="/ppt/slides/slide7.xml" Id="Rdd1ff2aef9cf46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b447e9f6c246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265f192b604e12" /><Relationship Type="http://schemas.openxmlformats.org/officeDocument/2006/relationships/notesMaster" Target="/ppt/notesMasters/notesMaster1.xml" Id="R24cc04a5e9a441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b28ae255d84436" /><Relationship Type="http://schemas.openxmlformats.org/officeDocument/2006/relationships/notesMaster" Target="/ppt/notesMasters/notesMaster1.xml" Id="R6423b0d6822941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15cb5f7cda48ac" /><Relationship Type="http://schemas.openxmlformats.org/officeDocument/2006/relationships/notesMaster" Target="/ppt/notesMasters/notesMaster1.xml" Id="R5736736879f743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d61e9908214cb8" /><Relationship Type="http://schemas.openxmlformats.org/officeDocument/2006/relationships/notesMaster" Target="/ppt/notesMasters/notesMaster1.xml" Id="R4ad1a345282944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e7eb1d5ba54819" /><Relationship Type="http://schemas.openxmlformats.org/officeDocument/2006/relationships/notesMaster" Target="/ppt/notesMasters/notesMaster1.xml" Id="Rd29e58efc22c4b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27ce6d65b94dbc" /><Relationship Type="http://schemas.openxmlformats.org/officeDocument/2006/relationships/notesMaster" Target="/ppt/notesMasters/notesMaster1.xml" Id="R68e7d2167ce744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1e4175ffa84639" /><Relationship Type="http://schemas.openxmlformats.org/officeDocument/2006/relationships/notesMaster" Target="/ppt/notesMasters/notesMaster1.xml" Id="Rf86814e78e6340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Raul Veca and I will present my bachelor thesis, TrainingIT: a web-based application for selling programming courses, supervised by Lect. Dr. Sebastian Ștefăniga.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training company that sells online has to satisfy two very different audiences with one system. Learners want a frictionless shop. The company needs to run an operation: leads, purchase history, invoices, analytics, corporate accounts. Normally that means an e-commerce platform plus a separate CRM, kept in sync - and every sync point is where data drifts. The problem this thesis addresses is to remove that gap entirely.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context. Three actors interact with the platform: the learner or company employee, the TrainingIT administrator, and the trainer. Externally the platform depends on MariaDB for storage and, optionally, on the Anthropic Claude API for chat, recommendations and translation.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layers. The browser runs a Next.js and React client with route guards driven by the local session. It talks to a Spring Boot REST API, which also pushes live catalogue statistics over Server-Sent Events. Behind the controllers is a plain-Java domain layer - commands, services, an event bus and repositories - reached through a single facade. Everything persists to MariaDB over JDBC with HikariCP.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is the central idea of the solution. The client confirms a purchase; the facade finds or creates the contact and the course session, saves the enrolment, and publishes an EnrollmentCreatedEvent. The observers react on their own. Meanwhile the statistics broadcaster pushes the changed figures to every subscribed browser, so the learner count on the home page moves without a reload. The review at the bottom is validated against a prior purchase before it is stored on the enrolment.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tour of the running application. On the left, the authenticated learner home page with the live statistics. In the middle, the catalogue with its category filters - every card view and every expansion is counted, which is what feeds the click-through analytics. On the right, the administrator's Employees tab with the Excel import and the AI recommendations. If there is time I will demonstrate a purchase appearing live in the Purchases tab.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TrainingIT delivers a client portal, a seven-tab administrator portal, a pattern-based event-driven domain layer, live statistics and reporting, and an optional AI layer - meeting the objectives set out in the introduction. The limitations are honest ones: the test suite is a foundation rather than full coverage, and authentication would need hardening for production. The central result is that the storefront and the CRM are not two integrated systems but one. Thank you - I am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3db9ac995a46d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14e077da2c4e4e" /><Relationship Type="http://schemas.openxmlformats.org/officeDocument/2006/relationships/slideLayout" Target="/ppt/slideLayouts/slideLayout1.xml" Id="R1f28c76466b2431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8c76466b2431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b05d8b72f3451c" /><Relationship Type="http://schemas.openxmlformats.org/officeDocument/2006/relationships/image" Target="/ppt/media/image.png" Id="Raa9f214ab2284573" /><Relationship Type="http://schemas.openxmlformats.org/officeDocument/2006/relationships/image" Target="/ppt/media/image2.png" Id="R0618625386fd426b" /><Relationship Type="http://schemas.openxmlformats.org/officeDocument/2006/relationships/notesSlide" Target="/ppt/notesSlides/notesSlide1.xml" Id="R55a25fbacde244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de87c4a22644f9" /><Relationship Type="http://schemas.openxmlformats.org/officeDocument/2006/relationships/image" Target="/ppt/media/image3.png" Id="R4f3667fc212241c6" /><Relationship Type="http://schemas.openxmlformats.org/officeDocument/2006/relationships/notesSlide" Target="/ppt/notesSlides/notesSlide2.xml" Id="Rf68e0d67966f49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15099e23cb44eb" /><Relationship Type="http://schemas.openxmlformats.org/officeDocument/2006/relationships/image" Target="/ppt/media/image3.png" Id="R017069840d5542aa" /><Relationship Type="http://schemas.openxmlformats.org/officeDocument/2006/relationships/image" Target="/ppt/media/image4.png" Id="R92a300f0366c45d1" /><Relationship Type="http://schemas.openxmlformats.org/officeDocument/2006/relationships/notesSlide" Target="/ppt/notesSlides/notesSlide3.xml" Id="R6751dda7415a44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dbdfa015a242fa" /><Relationship Type="http://schemas.openxmlformats.org/officeDocument/2006/relationships/image" Target="/ppt/media/image3.png" Id="Rb1b5cab7f70e48f1" /><Relationship Type="http://schemas.openxmlformats.org/officeDocument/2006/relationships/image" Target="/ppt/media/image5.png" Id="R8b0c8ef0dd6c40e7" /><Relationship Type="http://schemas.openxmlformats.org/officeDocument/2006/relationships/notesSlide" Target="/ppt/notesSlides/notesSlide4.xml" Id="R43dde8488e3b4d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610fcc74cb4f2f" /><Relationship Type="http://schemas.openxmlformats.org/officeDocument/2006/relationships/image" Target="/ppt/media/image3.png" Id="R442760b1ab9441ce" /><Relationship Type="http://schemas.openxmlformats.org/officeDocument/2006/relationships/image" Target="/ppt/media/image6.png" Id="R5cb92673b1b84ecc" /><Relationship Type="http://schemas.openxmlformats.org/officeDocument/2006/relationships/notesSlide" Target="/ppt/notesSlides/notesSlide5.xml" Id="Ra0bd48f0d2ff46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54ee5275b94c9c" /><Relationship Type="http://schemas.openxmlformats.org/officeDocument/2006/relationships/image" Target="/ppt/media/image3.png" Id="Rffd4b7a2786b4f88" /><Relationship Type="http://schemas.openxmlformats.org/officeDocument/2006/relationships/image" Target="/ppt/media/image7.png" Id="Rbcfc466da79d4989" /><Relationship Type="http://schemas.openxmlformats.org/officeDocument/2006/relationships/image" Target="/ppt/media/image8.png" Id="R3bf9548191194f9c" /><Relationship Type="http://schemas.openxmlformats.org/officeDocument/2006/relationships/image" Target="/ppt/media/image9.png" Id="Rc0f4a78ebffc4186" /><Relationship Type="http://schemas.openxmlformats.org/officeDocument/2006/relationships/notesSlide" Target="/ppt/notesSlides/notesSlide6.xml" Id="R26d5f665e5c84f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36ebc86a954da7" /><Relationship Type="http://schemas.openxmlformats.org/officeDocument/2006/relationships/image" Target="/ppt/media/image3.png" Id="Re1e77af7fa6448a3" /><Relationship Type="http://schemas.openxmlformats.org/officeDocument/2006/relationships/notesSlide" Target="/ppt/notesSlides/notesSlide7.xml" Id="R44e7a36a922a4f70"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aa9f214ab2284573">
            <a:lum/>
          </a:blip>
          <a:srcRect l="0" t="0" r="0" b="0"/>
          <a:stretch>
            <a:fillRect l="0" t="0" r="0" b="0"/>
          </a:stretch>
        </a:blip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0618625386fd426b"/>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D7980C3-BAF9-4C65-8D4A-590AAA3D0BF7}"/>
              </a:ext>
            </a:extLst>
          </p:cNvPr>
          <p:cNvSpPr>
            <a:spLocks xmlns:a="http://schemas.openxmlformats.org/drawingml/2006/main" noGrp="1"/>
          </p:cNvSpPr>
          <p:nvPr/>
        </p:nvSpPr>
        <p:spPr>
          <a:xfrm xmlns:a="http://schemas.openxmlformats.org/drawingml/2006/main">
            <a:off x="4754880" y="146304"/>
            <a:ext cx="41056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spc="60">
                <a:solidFill>
                  <a:srgbClr val="AFC0DA"/>
                </a:solidFill>
                <a:latin typeface="Arial"/>
                <a:ea typeface="Arial"/>
                <a:cs typeface="Arial"/>
              </a:rPr>
              <a:t>WEST UNIVERSITY OF TIMIȘOARA</a:t>
            </a:r>
            <a:endParaRPr sz="1050"/>
          </a:p>
        </p:txBody>
      </p:sp>
      <p:sp>
        <p:nvSpPr>
          <p:cNvPr id="4" name="Text 1">
            <a:extLst xmlns:a="http://schemas.openxmlformats.org/drawingml/2006/main">
              <a:ext uri="{FF2B5EF4-FFF2-40B4-BE49-F238E27FC236}">
                <a16:creationId xmlns:a16="http://schemas.microsoft.com/office/drawing/2014/main" id="{9102E32C-688E-4498-9BE2-BA149D5E02D4}"/>
              </a:ext>
            </a:extLst>
          </p:cNvPr>
          <p:cNvSpPr>
            <a:spLocks xmlns:a="http://schemas.openxmlformats.org/drawingml/2006/main" noGrp="1"/>
          </p:cNvSpPr>
          <p:nvPr/>
        </p:nvSpPr>
        <p:spPr>
          <a:xfrm xmlns:a="http://schemas.openxmlformats.org/drawingml/2006/main">
            <a:off x="548640" y="1389888"/>
            <a:ext cx="8046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latin typeface="Arial"/>
                <a:ea typeface="Arial"/>
                <a:cs typeface="Arial"/>
              </a:rPr>
              <a:t>TrainingIT</a:t>
            </a:r>
            <a:endParaRPr sz="3400"/>
          </a:p>
        </p:txBody>
      </p:sp>
      <p:sp>
        <p:nvSpPr>
          <p:cNvPr id="5" name="Text 2">
            <a:extLst xmlns:a="http://schemas.openxmlformats.org/drawingml/2006/main">
              <a:ext uri="{FF2B5EF4-FFF2-40B4-BE49-F238E27FC236}">
                <a16:creationId xmlns:a16="http://schemas.microsoft.com/office/drawing/2014/main" id="{5B2F0BB2-2674-486E-8DE8-6056CF4DA672}"/>
              </a:ext>
            </a:extLst>
          </p:cNvPr>
          <p:cNvSpPr>
            <a:spLocks xmlns:a="http://schemas.openxmlformats.org/drawingml/2006/main" noGrp="1"/>
          </p:cNvSpPr>
          <p:nvPr/>
        </p:nvSpPr>
        <p:spPr>
          <a:xfrm xmlns:a="http://schemas.openxmlformats.org/drawingml/2006/main">
            <a:off x="548640" y="1938528"/>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FFFFFF"/>
                </a:solidFill>
                <a:latin typeface="Arial"/>
                <a:ea typeface="Arial"/>
                <a:cs typeface="Arial"/>
              </a:rPr>
              <a:t>A Web-Based Application for Selling Programming Courses</a:t>
            </a:r>
            <a:endParaRPr sz="1700"/>
          </a:p>
        </p:txBody>
      </p:sp>
      <p:sp>
        <p:nvSpPr>
          <p:cNvPr id="6" name="Text 3">
            <a:extLst xmlns:a="http://schemas.openxmlformats.org/drawingml/2006/main">
              <a:ext uri="{FF2B5EF4-FFF2-40B4-BE49-F238E27FC236}">
                <a16:creationId xmlns:a16="http://schemas.microsoft.com/office/drawing/2014/main" id="{9199BBED-5B76-4AE2-A60D-3B6A3E49B714}"/>
              </a:ext>
            </a:extLst>
          </p:cNvPr>
          <p:cNvSpPr>
            <a:spLocks xmlns:a="http://schemas.openxmlformats.org/drawingml/2006/main" noGrp="1"/>
          </p:cNvSpPr>
          <p:nvPr/>
        </p:nvSpPr>
        <p:spPr>
          <a:xfrm xmlns:a="http://schemas.openxmlformats.org/drawingml/2006/main">
            <a:off x="548640" y="2542032"/>
            <a:ext cx="8046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Raul Veca</a:t>
            </a:r>
            <a:endParaRPr sz="1500"/>
          </a:p>
        </p:txBody>
      </p:sp>
      <p:sp>
        <p:nvSpPr>
          <p:cNvPr id="7" name="Text 4">
            <a:extLst xmlns:a="http://schemas.openxmlformats.org/drawingml/2006/main">
              <a:ext uri="{FF2B5EF4-FFF2-40B4-BE49-F238E27FC236}">
                <a16:creationId xmlns:a16="http://schemas.microsoft.com/office/drawing/2014/main" id="{24953255-E0A8-47D0-B84F-D29998F9FB77}"/>
              </a:ext>
            </a:extLst>
          </p:cNvPr>
          <p:cNvSpPr>
            <a:spLocks xmlns:a="http://schemas.openxmlformats.org/drawingml/2006/main" noGrp="1"/>
          </p:cNvSpPr>
          <p:nvPr/>
        </p:nvSpPr>
        <p:spPr>
          <a:xfrm xmlns:a="http://schemas.openxmlformats.org/drawingml/2006/main">
            <a:off x="548640" y="288036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Supervisor: Lect. Dr. Sebastian Ștefăniga</a:t>
            </a:r>
            <a:endParaRPr sz="1200"/>
          </a:p>
        </p:txBody>
      </p:sp>
      <p:sp>
        <p:nvSpPr>
          <p:cNvPr id="8" name="Text 5">
            <a:extLst xmlns:a="http://schemas.openxmlformats.org/drawingml/2006/main">
              <a:ext uri="{FF2B5EF4-FFF2-40B4-BE49-F238E27FC236}">
                <a16:creationId xmlns:a16="http://schemas.microsoft.com/office/drawing/2014/main" id="{D5F56F48-5939-473B-87F3-7CBFE102FF7C}"/>
              </a:ext>
            </a:extLst>
          </p:cNvPr>
          <p:cNvSpPr>
            <a:spLocks xmlns:a="http://schemas.openxmlformats.org/drawingml/2006/main" noGrp="1"/>
          </p:cNvSpPr>
          <p:nvPr/>
        </p:nvSpPr>
        <p:spPr>
          <a:xfrm xmlns:a="http://schemas.openxmlformats.org/drawingml/2006/main">
            <a:off x="548640" y="3172968"/>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Faculty of Computer Science  ·  Bachelor Thesis Defense, 2026</a:t>
            </a:r>
            <a:endParaRPr sz="1200"/>
          </a:p>
        </p:txBody>
      </p:sp>
      <p:sp>
        <p:nvSpPr>
          <p:cNvPr id="9" name="Text 6">
            <a:extLst xmlns:a="http://schemas.openxmlformats.org/drawingml/2006/main">
              <a:ext uri="{FF2B5EF4-FFF2-40B4-BE49-F238E27FC236}">
                <a16:creationId xmlns:a16="http://schemas.microsoft.com/office/drawing/2014/main" id="{2BE51FB1-7D79-4C45-89FD-14340A28CD6D}"/>
              </a:ext>
            </a:extLst>
          </p:cNvPr>
          <p:cNvSpPr>
            <a:spLocks xmlns:a="http://schemas.openxmlformats.org/drawingml/2006/main" noGrp="1"/>
          </p:cNvSpPr>
          <p:nvPr/>
        </p:nvSpPr>
        <p:spPr>
          <a:xfrm xmlns:a="http://schemas.openxmlformats.org/drawingml/2006/main">
            <a:off x="411480" y="46634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7E93B8"/>
                </a:solidFill>
                <a:latin typeface="Arial"/>
                <a:ea typeface="Arial"/>
                <a:cs typeface="Arial"/>
              </a:rPr>
              <a:t>www.uvt.ro</a:t>
            </a:r>
            <a:endParaRPr sz="1150"/>
          </a:p>
        </p:txBody>
      </p:sp>
    </p:spTree>
    <p:extLst>
      <p:ext uri="{BB962C8B-B14F-4D97-AF65-F5344CB8AC3E}">
        <p14:creationId xmlns:p14="http://schemas.microsoft.com/office/powerpoint/2010/main" val="17781687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4f3667fc212241c6"/>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27EED1E-8817-4DBF-B837-5AA6F2663D01}"/>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Problem and Motivation</a:t>
            </a:r>
            <a:endParaRPr sz="2100"/>
          </a:p>
        </p:txBody>
      </p:sp>
      <p:sp>
        <p:nvSpPr>
          <p:cNvPr id="4" name="Text 1">
            <a:extLst xmlns:a="http://schemas.openxmlformats.org/drawingml/2006/main">
              <a:ext uri="{FF2B5EF4-FFF2-40B4-BE49-F238E27FC236}">
                <a16:creationId xmlns:a16="http://schemas.microsoft.com/office/drawing/2014/main" id="{D83C1CFA-4894-43E5-9409-A9B0790B3D57}"/>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storefront and one back office - normally two different systems</a:t>
            </a:r>
            <a:endParaRPr sz="1250"/>
          </a:p>
        </p:txBody>
      </p:sp>
      <p:sp>
        <p:nvSpPr>
          <p:cNvPr id="5" name="Shape 2">
            <a:extLst xmlns:a="http://schemas.openxmlformats.org/drawingml/2006/main">
              <a:ext uri="{FF2B5EF4-FFF2-40B4-BE49-F238E27FC236}">
                <a16:creationId xmlns:a16="http://schemas.microsoft.com/office/drawing/2014/main" id="{97310889-A941-4FBD-96B1-8D543D91EC03}"/>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626AF46F-849D-40C5-8EBC-F17B06FF2502}"/>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D3F8A67F-93C3-4068-A227-E544BC92EAFB}"/>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9380F4BF-AE32-45B3-A251-3F6A48481C41}"/>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F1CCBEE-F80E-45A5-83D9-4BC9239674E8}"/>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 / 13</a:t>
            </a:r>
            <a:endParaRPr sz="750"/>
          </a:p>
        </p:txBody>
      </p:sp>
      <p:sp>
        <p:nvSpPr>
          <p:cNvPr id="10" name="Text 7">
            <a:extLst xmlns:a="http://schemas.openxmlformats.org/drawingml/2006/main">
              <a:ext uri="{FF2B5EF4-FFF2-40B4-BE49-F238E27FC236}">
                <a16:creationId xmlns:a16="http://schemas.microsoft.com/office/drawing/2014/main" id="{5EEBF62B-D48F-4E4B-9241-3FD210A59CD6}"/>
              </a:ext>
            </a:extLst>
          </p:cNvPr>
          <p:cNvSpPr>
            <a:spLocks xmlns:a="http://schemas.openxmlformats.org/drawingml/2006/main" noGrp="1"/>
          </p:cNvSpPr>
          <p:nvPr/>
        </p:nvSpPr>
        <p:spPr>
          <a:xfrm xmlns:a="http://schemas.openxmlformats.org/drawingml/2006/main">
            <a:off x="411480" y="1051560"/>
            <a:ext cx="4892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customer side.  </a:t>
            </a:r>
            <a:r>
              <a:rPr sz="1150">
                <a:solidFill>
                  <a:srgbClr val="1A1A1A"/>
                </a:solidFill>
                <a:latin typeface="Arial"/>
                <a:ea typeface="Arial"/>
                <a:cs typeface="Arial"/>
              </a:rPr>
              <a:t>A learner expects what any modern shop offers: a clear catalogue, prices and levels, reviews they can trust, a purchase in one click, and a private tutoring session booked at a time that suits them.</a:t>
            </a:r>
            <a:endParaRPr sz="1150"/>
          </a:p>
        </p:txBody>
      </p:sp>
      <p:sp>
        <p:nvSpPr>
          <p:cNvPr id="11" name="Text 8">
            <a:extLst xmlns:a="http://schemas.openxmlformats.org/drawingml/2006/main">
              <a:ext uri="{FF2B5EF4-FFF2-40B4-BE49-F238E27FC236}">
                <a16:creationId xmlns:a16="http://schemas.microsoft.com/office/drawing/2014/main" id="{6E183F87-2AE3-4272-94A9-918E487EAC61}"/>
              </a:ext>
            </a:extLst>
          </p:cNvPr>
          <p:cNvSpPr>
            <a:spLocks xmlns:a="http://schemas.openxmlformats.org/drawingml/2006/main" noGrp="1"/>
          </p:cNvSpPr>
          <p:nvPr/>
        </p:nvSpPr>
        <p:spPr>
          <a:xfrm xmlns:a="http://schemas.openxmlformats.org/drawingml/2006/main">
            <a:off x="411480" y="2057400"/>
            <a:ext cx="48920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business side.  </a:t>
            </a:r>
            <a:r>
              <a:rPr sz="1150">
                <a:solidFill>
                  <a:srgbClr val="1A1A1A"/>
                </a:solidFill>
                <a:latin typeface="Arial"/>
                <a:ea typeface="Arial"/>
                <a:cs typeface="Arial"/>
              </a:rPr>
              <a:t>Behind the storefront the company must know who its leads are and how close each is to buying, keep a reliable purchase history, issue correct invoices with negotiated discounts, read the health of the business, and handle corporate clients who send whole teams.</a:t>
            </a:r>
            <a:endParaRPr sz="1150"/>
          </a:p>
        </p:txBody>
      </p:sp>
      <p:sp>
        <p:nvSpPr>
          <p:cNvPr id="12" name="Text 9">
            <a:extLst xmlns:a="http://schemas.openxmlformats.org/drawingml/2006/main">
              <a:ext uri="{FF2B5EF4-FFF2-40B4-BE49-F238E27FC236}">
                <a16:creationId xmlns:a16="http://schemas.microsoft.com/office/drawing/2014/main" id="{157B89AA-4A71-4B67-85EA-66BA6E469432}"/>
              </a:ext>
            </a:extLst>
          </p:cNvPr>
          <p:cNvSpPr>
            <a:spLocks xmlns:a="http://schemas.openxmlformats.org/drawingml/2006/main" noGrp="1"/>
          </p:cNvSpPr>
          <p:nvPr/>
        </p:nvSpPr>
        <p:spPr>
          <a:xfrm xmlns:a="http://schemas.openxmlformats.org/drawingml/2006/main">
            <a:off x="411480" y="3291840"/>
            <a:ext cx="48920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integration gap.  </a:t>
            </a:r>
            <a:r>
              <a:rPr sz="1150">
                <a:solidFill>
                  <a:srgbClr val="1A1A1A"/>
                </a:solidFill>
                <a:latin typeface="Arial"/>
                <a:ea typeface="Arial"/>
                <a:cs typeface="Arial"/>
              </a:rPr>
              <a:t>These two sides are normally separate tools that must be synchronised. Every synchronisation point is a place where data can drift, and manual reconciliation is slow and error-prone.</a:t>
            </a:r>
            <a:endParaRPr sz="1150"/>
          </a:p>
        </p:txBody>
      </p:sp>
      <p:sp>
        <p:nvSpPr>
          <p:cNvPr id="13" name="Shape 10">
            <a:extLst xmlns:a="http://schemas.openxmlformats.org/drawingml/2006/main">
              <a:ext uri="{FF2B5EF4-FFF2-40B4-BE49-F238E27FC236}">
                <a16:creationId xmlns:a16="http://schemas.microsoft.com/office/drawing/2014/main" id="{A2DC0BC8-8B82-416E-9FF5-D74A92A7EF23}"/>
              </a:ext>
            </a:extLst>
          </p:cNvPr>
          <p:cNvSpPr>
            <a:spLocks xmlns:a="http://schemas.openxmlformats.org/drawingml/2006/main" noGrp="1"/>
          </p:cNvSpPr>
          <p:nvPr/>
        </p:nvSpPr>
        <p:spPr>
          <a:xfrm xmlns:a="http://schemas.openxmlformats.org/drawingml/2006/main">
            <a:off x="5532120" y="1051560"/>
            <a:ext cx="320040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B09D7DC0-795C-4E7B-9EC3-2A82821615B8}"/>
              </a:ext>
            </a:extLst>
          </p:cNvPr>
          <p:cNvSpPr>
            <a:spLocks xmlns:a="http://schemas.openxmlformats.org/drawingml/2006/main" noGrp="1"/>
          </p:cNvSpPr>
          <p:nvPr/>
        </p:nvSpPr>
        <p:spPr>
          <a:xfrm xmlns:a="http://schemas.openxmlformats.org/drawingml/2006/main">
            <a:off x="5650992" y="1051560"/>
            <a:ext cx="2962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Problem statement</a:t>
            </a:r>
            <a:endParaRPr sz="1300"/>
          </a:p>
        </p:txBody>
      </p:sp>
      <p:sp>
        <p:nvSpPr>
          <p:cNvPr id="15" name="Shape 12">
            <a:extLst xmlns:a="http://schemas.openxmlformats.org/drawingml/2006/main">
              <a:ext uri="{FF2B5EF4-FFF2-40B4-BE49-F238E27FC236}">
                <a16:creationId xmlns:a16="http://schemas.microsoft.com/office/drawing/2014/main" id="{3B5BAE06-7CB9-4BE2-96FD-8153990A7940}"/>
              </a:ext>
            </a:extLst>
          </p:cNvPr>
          <p:cNvSpPr>
            <a:spLocks xmlns:a="http://schemas.openxmlformats.org/drawingml/2006/main" noGrp="1"/>
          </p:cNvSpPr>
          <p:nvPr/>
        </p:nvSpPr>
        <p:spPr>
          <a:xfrm xmlns:a="http://schemas.openxmlformats.org/drawingml/2006/main">
            <a:off x="5532120" y="1380744"/>
            <a:ext cx="3200400" cy="166420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68201F8D-65D6-45F1-9B92-6E40FF898B83}"/>
              </a:ext>
            </a:extLst>
          </p:cNvPr>
          <p:cNvSpPr>
            <a:spLocks xmlns:a="http://schemas.openxmlformats.org/drawingml/2006/main" noGrp="1"/>
          </p:cNvSpPr>
          <p:nvPr/>
        </p:nvSpPr>
        <p:spPr>
          <a:xfrm xmlns:a="http://schemas.openxmlformats.org/drawingml/2006/main">
            <a:off x="5678424" y="1426464"/>
            <a:ext cx="2907792"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Build a single web application in which the customer-facing storefront and the business-facing CRM are not two integrated systems but one system - so that every customer action is captured exactly once and automatically drives enrolment, invoicing, lead scoring, auditing and support.</a:t>
            </a:r>
            <a:endParaRPr sz="1100"/>
          </a:p>
        </p:txBody>
      </p:sp>
      <p:sp>
        <p:nvSpPr>
          <p:cNvPr id="17" name="Shape 14">
            <a:extLst xmlns:a="http://schemas.openxmlformats.org/drawingml/2006/main">
              <a:ext uri="{FF2B5EF4-FFF2-40B4-BE49-F238E27FC236}">
                <a16:creationId xmlns:a16="http://schemas.microsoft.com/office/drawing/2014/main" id="{68DC7C44-6C52-419B-8632-CF1442AAE42D}"/>
              </a:ext>
            </a:extLst>
          </p:cNvPr>
          <p:cNvSpPr>
            <a:spLocks xmlns:a="http://schemas.openxmlformats.org/drawingml/2006/main" noGrp="1"/>
          </p:cNvSpPr>
          <p:nvPr/>
        </p:nvSpPr>
        <p:spPr>
          <a:xfrm xmlns:a="http://schemas.openxmlformats.org/drawingml/2006/main">
            <a:off x="5532120" y="2999232"/>
            <a:ext cx="3200400" cy="91440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889380F8-0B62-4373-A538-00219B12C968}"/>
              </a:ext>
            </a:extLst>
          </p:cNvPr>
          <p:cNvSpPr>
            <a:spLocks xmlns:a="http://schemas.openxmlformats.org/drawingml/2006/main" noGrp="1"/>
          </p:cNvSpPr>
          <p:nvPr/>
        </p:nvSpPr>
        <p:spPr>
          <a:xfrm xmlns:a="http://schemas.openxmlformats.org/drawingml/2006/main">
            <a:off x="5678424" y="3035808"/>
            <a:ext cx="290779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50">
                <a:solidFill>
                  <a:srgbClr val="1A1A1A"/>
                </a:solidFill>
                <a:latin typeface="Arial"/>
                <a:ea typeface="Arial"/>
                <a:cs typeface="Arial"/>
              </a:rPr>
              <a:t>It must also stay approachable for non-technical staff, keep the two roles strictly separated, and remain fully functional when optional services are switched off.</a:t>
            </a:r>
            <a:endParaRPr sz="1050"/>
          </a:p>
        </p:txBody>
      </p:sp>
    </p:spTree>
    <p:extLst>
      <p:ext uri="{BB962C8B-B14F-4D97-AF65-F5344CB8AC3E}">
        <p14:creationId xmlns:p14="http://schemas.microsoft.com/office/powerpoint/2010/main" val="3187674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017069840d5542aa"/>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6632FE3-6043-4E88-A82E-3DAEC8CCB248}"/>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System Context</a:t>
            </a:r>
            <a:endParaRPr sz="2100"/>
          </a:p>
        </p:txBody>
      </p:sp>
      <p:sp>
        <p:nvSpPr>
          <p:cNvPr id="4" name="Text 1">
            <a:extLst xmlns:a="http://schemas.openxmlformats.org/drawingml/2006/main">
              <a:ext uri="{FF2B5EF4-FFF2-40B4-BE49-F238E27FC236}">
                <a16:creationId xmlns:a16="http://schemas.microsoft.com/office/drawing/2014/main" id="{94AF8A5C-91E7-491A-AD36-C9D97FF9361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Three actors, one platform, two external services</a:t>
            </a:r>
            <a:endParaRPr sz="1250"/>
          </a:p>
        </p:txBody>
      </p:sp>
      <p:sp>
        <p:nvSpPr>
          <p:cNvPr id="5" name="Shape 2">
            <a:extLst xmlns:a="http://schemas.openxmlformats.org/drawingml/2006/main">
              <a:ext uri="{FF2B5EF4-FFF2-40B4-BE49-F238E27FC236}">
                <a16:creationId xmlns:a16="http://schemas.microsoft.com/office/drawing/2014/main" id="{BA2B8265-FB91-4620-81B3-A13A98AADB44}"/>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0EE9A1B-1994-4209-B403-AC10225A8C6B}"/>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1456E8E-C6A7-48A9-B35E-4F03F65DF3D0}"/>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DB2C6688-6CFA-4457-9829-14B2E487816B}"/>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77E64C7-C284-452D-90C7-66FD08B20E8B}"/>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4 / 13</a:t>
            </a:r>
            <a:endParaRPr sz="750"/>
          </a:p>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92a300f0366c45d1"/>
          <a:stretch xmlns:a="http://schemas.openxmlformats.org/drawingml/2006/main">
            <a:fillRect l="0" t="0" r="0" b="0"/>
          </a:stretch>
        </p:blipFill>
        <p:spPr>
          <a:xfrm xmlns:a="http://schemas.openxmlformats.org/drawingml/2006/main">
            <a:off x="731520" y="1115568"/>
            <a:ext cx="7680960" cy="2345436"/>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E7323ACD-CB7F-4D08-98FD-70E35CBBF922}"/>
              </a:ext>
            </a:extLst>
          </p:cNvPr>
          <p:cNvSpPr>
            <a:spLocks xmlns:a="http://schemas.openxmlformats.org/drawingml/2006/main" noGrp="1"/>
          </p:cNvSpPr>
          <p:nvPr/>
        </p:nvSpPr>
        <p:spPr>
          <a:xfrm xmlns:a="http://schemas.openxmlformats.org/drawingml/2006/main">
            <a:off x="731520" y="3657600"/>
            <a:ext cx="7680960" cy="603504"/>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F632A6F8-6110-4CEE-BA20-FFC032EB0D47}"/>
              </a:ext>
            </a:extLst>
          </p:cNvPr>
          <p:cNvSpPr>
            <a:spLocks xmlns:a="http://schemas.openxmlformats.org/drawingml/2006/main" noGrp="1"/>
          </p:cNvSpPr>
          <p:nvPr/>
        </p:nvSpPr>
        <p:spPr>
          <a:xfrm xmlns:a="http://schemas.openxmlformats.org/drawingml/2006/main">
            <a:off x="877824" y="3694176"/>
            <a:ext cx="7388352"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80">
                <a:solidFill>
                  <a:srgbClr val="1A1A1A"/>
                </a:solidFill>
                <a:latin typeface="Arial"/>
                <a:ea typeface="Arial"/>
                <a:cs typeface="Arial"/>
              </a:rPr>
              <a:t>Learners and partner-company employees buy and review courses; administrators run the CRM, catalogue, billing and analytics; trainers provide tutoring availability. MariaDB stores everything; the Anthropic Claude API is the only other dependency - and it is optional.</a:t>
            </a:r>
            <a:endParaRPr sz="1080"/>
          </a:p>
        </p:txBody>
      </p:sp>
    </p:spTree>
    <p:extLst>
      <p:ext uri="{BB962C8B-B14F-4D97-AF65-F5344CB8AC3E}">
        <p14:creationId xmlns:p14="http://schemas.microsoft.com/office/powerpoint/2010/main" val="11335601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b1b5cab7f70e48f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D3FE16A-267F-48EF-94B8-BD6C8D20232C}"/>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Architecture</a:t>
            </a:r>
            <a:endParaRPr sz="2100"/>
          </a:p>
        </p:txBody>
      </p:sp>
      <p:sp>
        <p:nvSpPr>
          <p:cNvPr id="4" name="Text 1">
            <a:extLst xmlns:a="http://schemas.openxmlformats.org/drawingml/2006/main">
              <a:ext uri="{FF2B5EF4-FFF2-40B4-BE49-F238E27FC236}">
                <a16:creationId xmlns:a16="http://schemas.microsoft.com/office/drawing/2014/main" id="{9676E998-6759-4EE1-BC25-9451C9C35CA1}"/>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Four layers behind one REST API and a real-time event stream</a:t>
            </a:r>
            <a:endParaRPr sz="1250"/>
          </a:p>
        </p:txBody>
      </p:sp>
      <p:sp>
        <p:nvSpPr>
          <p:cNvPr id="5" name="Shape 2">
            <a:extLst xmlns:a="http://schemas.openxmlformats.org/drawingml/2006/main">
              <a:ext uri="{FF2B5EF4-FFF2-40B4-BE49-F238E27FC236}">
                <a16:creationId xmlns:a16="http://schemas.microsoft.com/office/drawing/2014/main" id="{3800D54E-0AD3-4AFB-829F-BDBC71F6433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D82ABC09-93F7-4219-ADE5-94B7807682FC}"/>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78DA8E21-973E-44CA-9CBB-F71432F3C779}"/>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BABB83F1-9F4A-48EB-9785-D89B3D1865D2}"/>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22C47F5A-5579-47DB-BD8E-7EFC72DB8CC6}"/>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5 / 13</a:t>
            </a:r>
            <a:endParaRPr sz="75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8b0c8ef0dd6c40e7"/>
          <a:stretch xmlns:a="http://schemas.openxmlformats.org/drawingml/2006/main">
            <a:fillRect l="0" t="0" r="0" b="0"/>
          </a:stretch>
        </p:blipFill>
        <p:spPr>
          <a:xfrm xmlns:a="http://schemas.openxmlformats.org/drawingml/2006/main">
            <a:off x="384048" y="1060704"/>
            <a:ext cx="3986784" cy="3218688"/>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823C730B-C830-4A22-A060-5B92CAE5D005}"/>
              </a:ext>
            </a:extLst>
          </p:cNvPr>
          <p:cNvSpPr>
            <a:spLocks xmlns:a="http://schemas.openxmlformats.org/drawingml/2006/main" noGrp="1"/>
          </p:cNvSpPr>
          <p:nvPr/>
        </p:nvSpPr>
        <p:spPr>
          <a:xfrm xmlns:a="http://schemas.openxmlformats.org/drawingml/2006/main">
            <a:off x="4617720" y="1097280"/>
            <a:ext cx="4114800" cy="73152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183F7318-4EC8-4196-8DC5-DE478AADC687}"/>
              </a:ext>
            </a:extLst>
          </p:cNvPr>
          <p:cNvSpPr>
            <a:spLocks xmlns:a="http://schemas.openxmlformats.org/drawingml/2006/main" noGrp="1"/>
          </p:cNvSpPr>
          <p:nvPr/>
        </p:nvSpPr>
        <p:spPr>
          <a:xfrm xmlns:a="http://schemas.openxmlformats.org/drawingml/2006/main">
            <a:off x="4745736" y="1133856"/>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Presentation - Next.js 16, React, Tailwind v4
</a:t>
            </a:r>
            <a:r>
              <a:rPr sz="980">
                <a:solidFill>
                  <a:srgbClr val="1A1A1A"/>
                </a:solidFill>
                <a:latin typeface="Arial"/>
                <a:ea typeface="Arial"/>
                <a:cs typeface="Arial"/>
              </a:rPr>
              <a:t>Pages, route guards from the local session, a typed REST client and a Server-Sent Events client for live statistics.</a:t>
            </a:r>
            <a:endParaRPr sz="1050"/>
          </a:p>
        </p:txBody>
      </p:sp>
      <p:sp>
        <p:nvSpPr>
          <p:cNvPr id="13" name="Shape 9">
            <a:extLst xmlns:a="http://schemas.openxmlformats.org/drawingml/2006/main">
              <a:ext uri="{FF2B5EF4-FFF2-40B4-BE49-F238E27FC236}">
                <a16:creationId xmlns:a16="http://schemas.microsoft.com/office/drawing/2014/main" id="{B45D3137-6F0F-464D-9380-FF64988B8E4C}"/>
              </a:ext>
            </a:extLst>
          </p:cNvPr>
          <p:cNvSpPr>
            <a:spLocks xmlns:a="http://schemas.openxmlformats.org/drawingml/2006/main" noGrp="1"/>
          </p:cNvSpPr>
          <p:nvPr/>
        </p:nvSpPr>
        <p:spPr>
          <a:xfrm xmlns:a="http://schemas.openxmlformats.org/drawingml/2006/main">
            <a:off x="4617720" y="1901952"/>
            <a:ext cx="4114800" cy="73152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4" name="Text 10">
            <a:extLst xmlns:a="http://schemas.openxmlformats.org/drawingml/2006/main">
              <a:ext uri="{FF2B5EF4-FFF2-40B4-BE49-F238E27FC236}">
                <a16:creationId xmlns:a16="http://schemas.microsoft.com/office/drawing/2014/main" id="{20D08324-F244-4CE9-89A8-481A64B52372}"/>
              </a:ext>
            </a:extLst>
          </p:cNvPr>
          <p:cNvSpPr>
            <a:spLocks xmlns:a="http://schemas.openxmlformats.org/drawingml/2006/main" noGrp="1"/>
          </p:cNvSpPr>
          <p:nvPr/>
        </p:nvSpPr>
        <p:spPr>
          <a:xfrm xmlns:a="http://schemas.openxmlformats.org/drawingml/2006/main">
            <a:off x="4745736" y="1938528"/>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Application - Spring Boot 3.5, Java 17
</a:t>
            </a:r>
            <a:r>
              <a:rPr sz="980">
                <a:solidFill>
                  <a:srgbClr val="1A1A1A"/>
                </a:solidFill>
                <a:latin typeface="Arial"/>
                <a:ea typeface="Arial"/>
                <a:cs typeface="Arial"/>
              </a:rPr>
              <a:t>REST controllers under /api, the auth, AI, trainer and report services, and a public statistics broadcaster.</a:t>
            </a:r>
            <a:endParaRPr sz="1050"/>
          </a:p>
        </p:txBody>
      </p:sp>
      <p:sp>
        <p:nvSpPr>
          <p:cNvPr id="15" name="Shape 11">
            <a:extLst xmlns:a="http://schemas.openxmlformats.org/drawingml/2006/main">
              <a:ext uri="{FF2B5EF4-FFF2-40B4-BE49-F238E27FC236}">
                <a16:creationId xmlns:a16="http://schemas.microsoft.com/office/drawing/2014/main" id="{456A2A49-72CF-4D9C-B998-7837E17A3198}"/>
              </a:ext>
            </a:extLst>
          </p:cNvPr>
          <p:cNvSpPr>
            <a:spLocks xmlns:a="http://schemas.openxmlformats.org/drawingml/2006/main" noGrp="1"/>
          </p:cNvSpPr>
          <p:nvPr/>
        </p:nvSpPr>
        <p:spPr>
          <a:xfrm xmlns:a="http://schemas.openxmlformats.org/drawingml/2006/main">
            <a:off x="4617720" y="2706624"/>
            <a:ext cx="4114800" cy="73152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65DBC3AE-5C4B-4AC0-99AF-B60436D98A45}"/>
              </a:ext>
            </a:extLst>
          </p:cNvPr>
          <p:cNvSpPr>
            <a:spLocks xmlns:a="http://schemas.openxmlformats.org/drawingml/2006/main" noGrp="1"/>
          </p:cNvSpPr>
          <p:nvPr/>
        </p:nvSpPr>
        <p:spPr>
          <a:xfrm xmlns:a="http://schemas.openxmlformats.org/drawingml/2006/main">
            <a:off x="4745736" y="2743200"/>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Domain - plain Java
</a:t>
            </a:r>
            <a:r>
              <a:rPr sz="980">
                <a:solidFill>
                  <a:srgbClr val="1A1A1A"/>
                </a:solidFill>
                <a:latin typeface="Arial"/>
                <a:ea typeface="Arial"/>
                <a:cs typeface="Arial"/>
              </a:rPr>
              <a:t>Commands, domain services, an EventBus with observers, and repositories. CrmFacade is the single entry point over all of it.</a:t>
            </a:r>
            <a:endParaRPr sz="1050"/>
          </a:p>
        </p:txBody>
      </p:sp>
      <p:sp>
        <p:nvSpPr>
          <p:cNvPr id="17" name="Shape 13">
            <a:extLst xmlns:a="http://schemas.openxmlformats.org/drawingml/2006/main">
              <a:ext uri="{FF2B5EF4-FFF2-40B4-BE49-F238E27FC236}">
                <a16:creationId xmlns:a16="http://schemas.microsoft.com/office/drawing/2014/main" id="{A7E2D1EA-E104-457F-8997-CED7F12D9133}"/>
              </a:ext>
            </a:extLst>
          </p:cNvPr>
          <p:cNvSpPr>
            <a:spLocks xmlns:a="http://schemas.openxmlformats.org/drawingml/2006/main" noGrp="1"/>
          </p:cNvSpPr>
          <p:nvPr/>
        </p:nvSpPr>
        <p:spPr>
          <a:xfrm xmlns:a="http://schemas.openxmlformats.org/drawingml/2006/main">
            <a:off x="4617720" y="3511296"/>
            <a:ext cx="4114800" cy="73152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69FA4574-B897-4C31-BBD8-1504EAEBA4CD}"/>
              </a:ext>
            </a:extLst>
          </p:cNvPr>
          <p:cNvSpPr>
            <a:spLocks xmlns:a="http://schemas.openxmlformats.org/drawingml/2006/main" noGrp="1"/>
          </p:cNvSpPr>
          <p:nvPr/>
        </p:nvSpPr>
        <p:spPr>
          <a:xfrm xmlns:a="http://schemas.openxmlformats.org/drawingml/2006/main">
            <a:off x="4745736" y="3547872"/>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Persistence - MariaDB via JDBC and HikariCP
</a:t>
            </a:r>
            <a:r>
              <a:rPr sz="980">
                <a:solidFill>
                  <a:srgbClr val="1A1A1A"/>
                </a:solidFill>
                <a:latin typeface="Arial"/>
                <a:ea typeface="Arial"/>
                <a:cs typeface="Arial"/>
              </a:rPr>
              <a:t>Contacts, enrolments, invoices and issues survive restarts; the schema is created and updated at start-up.</a:t>
            </a:r>
            <a:endParaRPr sz="1050"/>
          </a:p>
        </p:txBody>
      </p:sp>
    </p:spTree>
    <p:extLst>
      <p:ext uri="{BB962C8B-B14F-4D97-AF65-F5344CB8AC3E}">
        <p14:creationId xmlns:p14="http://schemas.microsoft.com/office/powerpoint/2010/main" val="19936422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442760b1ab9441ce"/>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F6473442-852E-45B5-A624-844DA188B373}"/>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One Click, Several Reactions</a:t>
            </a:r>
            <a:endParaRPr sz="2100"/>
          </a:p>
        </p:txBody>
      </p:sp>
      <p:sp>
        <p:nvSpPr>
          <p:cNvPr id="4" name="Text 1">
            <a:extLst xmlns:a="http://schemas.openxmlformats.org/drawingml/2006/main">
              <a:ext uri="{FF2B5EF4-FFF2-40B4-BE49-F238E27FC236}">
                <a16:creationId xmlns:a16="http://schemas.microsoft.com/office/drawing/2014/main" id="{D607A1B5-5490-4D73-BAC3-564A5869361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Purchase and review, from the client's confirmation to live statistics</a:t>
            </a:r>
            <a:endParaRPr sz="1250"/>
          </a:p>
        </p:txBody>
      </p:sp>
      <p:sp>
        <p:nvSpPr>
          <p:cNvPr id="5" name="Shape 2">
            <a:extLst xmlns:a="http://schemas.openxmlformats.org/drawingml/2006/main">
              <a:ext uri="{FF2B5EF4-FFF2-40B4-BE49-F238E27FC236}">
                <a16:creationId xmlns:a16="http://schemas.microsoft.com/office/drawing/2014/main" id="{7BF12D77-832F-45E3-A67F-24B5D2A8A541}"/>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654F4C17-9626-4406-89BE-0D55D2A2A6A4}"/>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87CC976C-C5EF-4643-87FD-2650A3E21C94}"/>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3E925234-ED48-41D7-8AD6-BABED1D3708C}"/>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E102D2E7-16CA-4A04-BB12-502D95A4B4C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9 / 13</a:t>
            </a:r>
            <a:endParaRPr sz="750"/>
          </a:p>
        </p:txBody>
      </p:sp>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5cb92673b1b84ecc"/>
          <a:stretch xmlns:a="http://schemas.openxmlformats.org/drawingml/2006/main">
            <a:fillRect l="0" t="0" r="0" b="0"/>
          </a:stretch>
        </p:blipFill>
        <p:spPr>
          <a:xfrm xmlns:a="http://schemas.openxmlformats.org/drawingml/2006/main">
            <a:off x="1243584" y="969264"/>
            <a:ext cx="6656832" cy="315468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955CE555-3418-455B-8B72-627B1A54E767}"/>
              </a:ext>
            </a:extLst>
          </p:cNvPr>
          <p:cNvSpPr>
            <a:spLocks xmlns:a="http://schemas.openxmlformats.org/drawingml/2006/main" noGrp="1"/>
          </p:cNvSpPr>
          <p:nvPr/>
        </p:nvSpPr>
        <p:spPr>
          <a:xfrm xmlns:a="http://schemas.openxmlformats.org/drawingml/2006/main">
            <a:off x="502920" y="4187952"/>
            <a:ext cx="81381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0000"/>
              </a:lnSpc>
              <a:buNone/>
            </a:pPr>
            <a:r>
              <a:rPr sz="1020">
                <a:solidFill>
                  <a:srgbClr val="5A6472"/>
                </a:solidFill>
                <a:latin typeface="Arial"/>
                <a:ea typeface="Arial"/>
                <a:cs typeface="Arial"/>
              </a:rPr>
              <a:t>A single purchase finds or creates the contact and the course session, saves the enrolment, publishes an event, notifies the observers, and updates the live figures over SSE - with no manual reconciliation anywhere.</a:t>
            </a:r>
            <a:endParaRPr sz="1020"/>
          </a:p>
        </p:txBody>
      </p:sp>
    </p:spTree>
    <p:extLst>
      <p:ext uri="{BB962C8B-B14F-4D97-AF65-F5344CB8AC3E}">
        <p14:creationId xmlns:p14="http://schemas.microsoft.com/office/powerpoint/2010/main" val="636670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ffd4b7a2786b4f88"/>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F71A0CE7-A48F-47CA-923B-BCB95610D478}"/>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Demo</a:t>
            </a:r>
            <a:endParaRPr sz="2100"/>
          </a:p>
        </p:txBody>
      </p:sp>
      <p:sp>
        <p:nvSpPr>
          <p:cNvPr id="4" name="Text 1">
            <a:extLst xmlns:a="http://schemas.openxmlformats.org/drawingml/2006/main">
              <a:ext uri="{FF2B5EF4-FFF2-40B4-BE49-F238E27FC236}">
                <a16:creationId xmlns:a16="http://schemas.microsoft.com/office/drawing/2014/main" id="{088A6E29-AF4C-4FA1-A8E9-93BCDA3631E2}"/>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The running application</a:t>
            </a:r>
            <a:endParaRPr sz="1250"/>
          </a:p>
        </p:txBody>
      </p:sp>
      <p:sp>
        <p:nvSpPr>
          <p:cNvPr id="5" name="Shape 2">
            <a:extLst xmlns:a="http://schemas.openxmlformats.org/drawingml/2006/main">
              <a:ext uri="{FF2B5EF4-FFF2-40B4-BE49-F238E27FC236}">
                <a16:creationId xmlns:a16="http://schemas.microsoft.com/office/drawing/2014/main" id="{D534D104-8755-453E-A2B5-78E1EF9E07E9}"/>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68BEFFBB-0A3B-4F35-892D-2350CCE61FCC}"/>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CD4B0B6-CA15-403A-A1CA-751CBE82B1CD}"/>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D7FDDF33-BD8F-402C-8195-AFDF403B554A}"/>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7DBD0D6-A02B-4D0E-88D3-1828436500FB}"/>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11 / 13</a:t>
            </a:r>
            <a:endParaRPr sz="750"/>
          </a:p>
        </p:txBody>
      </p:sp>
      <p:pic>
        <p:nvPicPr>
          <p:cNvPr id="33" name="Image 1"/>
          <p:cNvPicPr>
            <a:picLocks xmlns:a="http://schemas.openxmlformats.org/drawingml/2006/main" noChangeAspect="1"/>
          </p:cNvPicPr>
          <p:nvPr/>
        </p:nvPicPr>
        <p:blipFill>
          <a:blip xmlns:r="http://schemas.openxmlformats.org/officeDocument/2006/relationships" xmlns:a="http://schemas.openxmlformats.org/drawingml/2006/main" r:embed="Rbcfc466da79d4989"/>
          <a:stretch xmlns:a="http://schemas.openxmlformats.org/drawingml/2006/main">
            <a:fillRect l="0" t="0" r="0" b="0"/>
          </a:stretch>
        </p:blipFill>
        <p:spPr>
          <a:xfrm xmlns:a="http://schemas.openxmlformats.org/drawingml/2006/main">
            <a:off x="384048" y="1115568"/>
            <a:ext cx="2706624" cy="1691640"/>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8705EC86-FCFF-4814-812C-066A3D5F7FEB}"/>
              </a:ext>
            </a:extLst>
          </p:cNvPr>
          <p:cNvSpPr>
            <a:spLocks xmlns:a="http://schemas.openxmlformats.org/drawingml/2006/main" noGrp="1"/>
          </p:cNvSpPr>
          <p:nvPr/>
        </p:nvSpPr>
        <p:spPr>
          <a:xfrm xmlns:a="http://schemas.openxmlformats.org/drawingml/2006/main">
            <a:off x="384048" y="1115568"/>
            <a:ext cx="2706624" cy="1691640"/>
          </a:xfrm>
          <a:prstGeom xmlns:a="http://schemas.openxmlformats.org/drawingml/2006/main" prst="rect">
            <a:avLst/>
          </a:prstGeom>
          <a:ln xmlns:a="http://schemas.openxmlformats.org/drawingml/2006/main" w="9525">
            <a:solidFill>
              <a:srgbClr val="D9DEE6"/>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0E818FA6-8B30-4B8C-8AD8-176F8907585B}"/>
              </a:ext>
            </a:extLst>
          </p:cNvPr>
          <p:cNvSpPr>
            <a:spLocks xmlns:a="http://schemas.openxmlformats.org/drawingml/2006/main" noGrp="1"/>
          </p:cNvSpPr>
          <p:nvPr/>
        </p:nvSpPr>
        <p:spPr>
          <a:xfrm xmlns:a="http://schemas.openxmlformats.org/drawingml/2006/main">
            <a:off x="384048" y="2889504"/>
            <a:ext cx="270662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b="1">
                <a:solidFill>
                  <a:srgbClr val="022461"/>
                </a:solidFill>
                <a:latin typeface="Arial"/>
                <a:ea typeface="Arial"/>
                <a:cs typeface="Arial"/>
              </a:rPr>
              <a:t>Authenticated learner home
</a:t>
            </a:r>
            <a:r>
              <a:rPr sz="950">
                <a:solidFill>
                  <a:srgbClr val="5A6472"/>
                </a:solidFill>
                <a:latin typeface="Arial"/>
                <a:ea typeface="Arial"/>
                <a:cs typeface="Arial"/>
              </a:rPr>
              <a:t>Personalised greeting and live catalogue statistics over SSE</a:t>
            </a:r>
            <a:endParaRPr sz="1050"/>
          </a:p>
        </p:txBody>
      </p:sp>
      <p:pic>
        <p:nvPicPr>
          <p:cNvPr id="36" name="Image 2"/>
          <p:cNvPicPr>
            <a:picLocks xmlns:a="http://schemas.openxmlformats.org/drawingml/2006/main" noChangeAspect="1"/>
          </p:cNvPicPr>
          <p:nvPr/>
        </p:nvPicPr>
        <p:blipFill>
          <a:blip xmlns:r="http://schemas.openxmlformats.org/officeDocument/2006/relationships" xmlns:a="http://schemas.openxmlformats.org/drawingml/2006/main" r:embed="R3bf9548191194f9c"/>
          <a:stretch xmlns:a="http://schemas.openxmlformats.org/drawingml/2006/main">
            <a:fillRect l="0" t="0" r="0" b="0"/>
          </a:stretch>
        </p:blipFill>
        <p:spPr>
          <a:xfrm xmlns:a="http://schemas.openxmlformats.org/drawingml/2006/main">
            <a:off x="3218688" y="1115568"/>
            <a:ext cx="2706624" cy="1691640"/>
          </a:xfrm>
          <a:prstGeom xmlns:a="http://schemas.openxmlformats.org/drawingml/2006/main" prst="rect">
            <a:avLst/>
          </a:prstGeom>
        </p:spPr>
      </p:pic>
      <p:sp>
        <p:nvSpPr>
          <p:cNvPr id="14" name="Shape 9">
            <a:extLst xmlns:a="http://schemas.openxmlformats.org/drawingml/2006/main">
              <a:ext uri="{FF2B5EF4-FFF2-40B4-BE49-F238E27FC236}">
                <a16:creationId xmlns:a16="http://schemas.microsoft.com/office/drawing/2014/main" id="{0F1E2273-1128-4C24-A9D9-7EE08B6BF711}"/>
              </a:ext>
            </a:extLst>
          </p:cNvPr>
          <p:cNvSpPr>
            <a:spLocks xmlns:a="http://schemas.openxmlformats.org/drawingml/2006/main" noGrp="1"/>
          </p:cNvSpPr>
          <p:nvPr/>
        </p:nvSpPr>
        <p:spPr>
          <a:xfrm xmlns:a="http://schemas.openxmlformats.org/drawingml/2006/main">
            <a:off x="3218688" y="1115568"/>
            <a:ext cx="2706624" cy="1691640"/>
          </a:xfrm>
          <a:prstGeom xmlns:a="http://schemas.openxmlformats.org/drawingml/2006/main" prst="rect">
            <a:avLst/>
          </a:prstGeom>
          <a:ln xmlns:a="http://schemas.openxmlformats.org/drawingml/2006/main" w="9525">
            <a:solidFill>
              <a:srgbClr val="D9DEE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0">
            <a:extLst xmlns:a="http://schemas.openxmlformats.org/drawingml/2006/main">
              <a:ext uri="{FF2B5EF4-FFF2-40B4-BE49-F238E27FC236}">
                <a16:creationId xmlns:a16="http://schemas.microsoft.com/office/drawing/2014/main" id="{59DF031D-41ED-4B9E-BC96-E2CD401B5718}"/>
              </a:ext>
            </a:extLst>
          </p:cNvPr>
          <p:cNvSpPr>
            <a:spLocks xmlns:a="http://schemas.openxmlformats.org/drawingml/2006/main" noGrp="1"/>
          </p:cNvSpPr>
          <p:nvPr/>
        </p:nvSpPr>
        <p:spPr>
          <a:xfrm xmlns:a="http://schemas.openxmlformats.org/drawingml/2006/main">
            <a:off x="3218688" y="2889504"/>
            <a:ext cx="270662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b="1">
                <a:solidFill>
                  <a:srgbClr val="022461"/>
                </a:solidFill>
                <a:latin typeface="Arial"/>
                <a:ea typeface="Arial"/>
                <a:cs typeface="Arial"/>
              </a:rPr>
              <a:t>Course catalogue
</a:t>
            </a:r>
            <a:r>
              <a:rPr sz="950">
                <a:solidFill>
                  <a:srgbClr val="5A6472"/>
                </a:solidFill>
                <a:latin typeface="Arial"/>
                <a:ea typeface="Arial"/>
                <a:cs typeface="Arial"/>
              </a:rPr>
              <a:t>Category filters; each card counts an impression and a click for CTR</a:t>
            </a:r>
            <a:endParaRPr sz="1050"/>
          </a:p>
        </p:txBody>
      </p:sp>
      <p:pic>
        <p:nvPicPr>
          <p:cNvPr id="39" name="Image 3"/>
          <p:cNvPicPr>
            <a:picLocks xmlns:a="http://schemas.openxmlformats.org/drawingml/2006/main" noChangeAspect="1"/>
          </p:cNvPicPr>
          <p:nvPr/>
        </p:nvPicPr>
        <p:blipFill>
          <a:blip xmlns:r="http://schemas.openxmlformats.org/officeDocument/2006/relationships" xmlns:a="http://schemas.openxmlformats.org/drawingml/2006/main" r:embed="Rc0f4a78ebffc4186"/>
          <a:stretch xmlns:a="http://schemas.openxmlformats.org/drawingml/2006/main">
            <a:fillRect l="0" t="0" r="0" b="0"/>
          </a:stretch>
        </p:blipFill>
        <p:spPr>
          <a:xfrm xmlns:a="http://schemas.openxmlformats.org/drawingml/2006/main">
            <a:off x="6053328" y="1115568"/>
            <a:ext cx="2706624" cy="1691640"/>
          </a:xfrm>
          <a:prstGeom xmlns:a="http://schemas.openxmlformats.org/drawingml/2006/main" prst="rect">
            <a:avLst/>
          </a:prstGeom>
        </p:spPr>
      </p:pic>
      <p:sp>
        <p:nvSpPr>
          <p:cNvPr id="17" name="Shape 11">
            <a:extLst xmlns:a="http://schemas.openxmlformats.org/drawingml/2006/main">
              <a:ext uri="{FF2B5EF4-FFF2-40B4-BE49-F238E27FC236}">
                <a16:creationId xmlns:a16="http://schemas.microsoft.com/office/drawing/2014/main" id="{5C4D4D2B-F710-4104-9537-03AA0EDB895E}"/>
              </a:ext>
            </a:extLst>
          </p:cNvPr>
          <p:cNvSpPr>
            <a:spLocks xmlns:a="http://schemas.openxmlformats.org/drawingml/2006/main" noGrp="1"/>
          </p:cNvSpPr>
          <p:nvPr/>
        </p:nvSpPr>
        <p:spPr>
          <a:xfrm xmlns:a="http://schemas.openxmlformats.org/drawingml/2006/main">
            <a:off x="6053328" y="1115568"/>
            <a:ext cx="2706624" cy="1691640"/>
          </a:xfrm>
          <a:prstGeom xmlns:a="http://schemas.openxmlformats.org/drawingml/2006/main" prst="rect">
            <a:avLst/>
          </a:prstGeom>
          <a:ln xmlns:a="http://schemas.openxmlformats.org/drawingml/2006/main" w="9525">
            <a:solidFill>
              <a:srgbClr val="D9DEE6"/>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F27FA536-48DC-4625-BE1D-A69FB6DC384B}"/>
              </a:ext>
            </a:extLst>
          </p:cNvPr>
          <p:cNvSpPr>
            <a:spLocks xmlns:a="http://schemas.openxmlformats.org/drawingml/2006/main" noGrp="1"/>
          </p:cNvSpPr>
          <p:nvPr/>
        </p:nvSpPr>
        <p:spPr>
          <a:xfrm xmlns:a="http://schemas.openxmlformats.org/drawingml/2006/main">
            <a:off x="6053328" y="2889504"/>
            <a:ext cx="270662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b="1">
                <a:solidFill>
                  <a:srgbClr val="022461"/>
                </a:solidFill>
                <a:latin typeface="Arial"/>
                <a:ea typeface="Arial"/>
                <a:cs typeface="Arial"/>
              </a:rPr>
              <a:t>Administrator · Employees
</a:t>
            </a:r>
            <a:r>
              <a:rPr sz="950">
                <a:solidFill>
                  <a:srgbClr val="5A6472"/>
                </a:solidFill>
                <a:latin typeface="Arial"/>
                <a:ea typeface="Arial"/>
                <a:cs typeface="Arial"/>
              </a:rPr>
              <a:t>Company teams, Excel import and AI course recommendations</a:t>
            </a:r>
            <a:endParaRPr sz="1050"/>
          </a:p>
        </p:txBody>
      </p:sp>
      <p:sp>
        <p:nvSpPr>
          <p:cNvPr id="19" name="Shape 13">
            <a:extLst xmlns:a="http://schemas.openxmlformats.org/drawingml/2006/main">
              <a:ext uri="{FF2B5EF4-FFF2-40B4-BE49-F238E27FC236}">
                <a16:creationId xmlns:a16="http://schemas.microsoft.com/office/drawing/2014/main" id="{1BB66CBA-6230-4CD1-9D88-FD9310ADBBD5}"/>
              </a:ext>
            </a:extLst>
          </p:cNvPr>
          <p:cNvSpPr>
            <a:spLocks xmlns:a="http://schemas.openxmlformats.org/drawingml/2006/main" noGrp="1"/>
          </p:cNvSpPr>
          <p:nvPr/>
        </p:nvSpPr>
        <p:spPr>
          <a:xfrm xmlns:a="http://schemas.openxmlformats.org/drawingml/2006/main">
            <a:off x="384048" y="3639312"/>
            <a:ext cx="8375904" cy="62179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0" name="Text 14">
            <a:extLst xmlns:a="http://schemas.openxmlformats.org/drawingml/2006/main">
              <a:ext uri="{FF2B5EF4-FFF2-40B4-BE49-F238E27FC236}">
                <a16:creationId xmlns:a16="http://schemas.microsoft.com/office/drawing/2014/main" id="{2F9A07D4-F8DB-4704-92A3-2CA880844E1C}"/>
              </a:ext>
            </a:extLst>
          </p:cNvPr>
          <p:cNvSpPr>
            <a:spLocks xmlns:a="http://schemas.openxmlformats.org/drawingml/2006/main" noGrp="1"/>
          </p:cNvSpPr>
          <p:nvPr/>
        </p:nvSpPr>
        <p:spPr>
          <a:xfrm xmlns:a="http://schemas.openxmlformats.org/drawingml/2006/main">
            <a:off x="530352" y="3675888"/>
            <a:ext cx="808329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The same session drives both sides: a purchase made on the catalogue appears immediately in the administrator's Purchases tab, a booking generates its invoice by itself, and a reported issue lands straight in the Issues tab.</a:t>
            </a:r>
            <a:endParaRPr sz="1080"/>
          </a:p>
        </p:txBody>
      </p:sp>
    </p:spTree>
    <p:extLst>
      <p:ext uri="{BB962C8B-B14F-4D97-AF65-F5344CB8AC3E}">
        <p14:creationId xmlns:p14="http://schemas.microsoft.com/office/powerpoint/2010/main" val="10895173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e1e77af7fa6448a3"/>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D65B376-E1BE-46E4-AB08-55C2491CA88E}"/>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Conclusion and Future Work</a:t>
            </a:r>
            <a:endParaRPr sz="2100"/>
          </a:p>
        </p:txBody>
      </p:sp>
      <p:sp>
        <p:nvSpPr>
          <p:cNvPr id="4" name="Text 1">
            <a:extLst xmlns:a="http://schemas.openxmlformats.org/drawingml/2006/main">
              <a:ext uri="{FF2B5EF4-FFF2-40B4-BE49-F238E27FC236}">
                <a16:creationId xmlns:a16="http://schemas.microsoft.com/office/drawing/2014/main" id="{AB41FE52-BA53-4D2B-888A-B8C1E054471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product where the storefront and the CRM are the same system</a:t>
            </a:r>
            <a:endParaRPr sz="1250"/>
          </a:p>
        </p:txBody>
      </p:sp>
      <p:sp>
        <p:nvSpPr>
          <p:cNvPr id="5" name="Shape 2">
            <a:extLst xmlns:a="http://schemas.openxmlformats.org/drawingml/2006/main">
              <a:ext uri="{FF2B5EF4-FFF2-40B4-BE49-F238E27FC236}">
                <a16:creationId xmlns:a16="http://schemas.microsoft.com/office/drawing/2014/main" id="{96FAE1D3-DE64-4C31-A19A-8751123F4E42}"/>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C93FD3D6-09A0-436D-B86E-641F4E0CB457}"/>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1FCF58E4-94A5-4250-A2CD-A20037966222}"/>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327F7BB-C3AB-4E16-B6C5-269553FAF95E}"/>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2CB1D2E0-0F0F-480F-AE8D-D42C865D27C5}"/>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13 / 13</a:t>
            </a:r>
            <a:endParaRPr sz="750"/>
          </a:p>
        </p:txBody>
      </p:sp>
      <p:sp>
        <p:nvSpPr>
          <p:cNvPr id="10" name="Shape 7">
            <a:extLst xmlns:a="http://schemas.openxmlformats.org/drawingml/2006/main">
              <a:ext uri="{FF2B5EF4-FFF2-40B4-BE49-F238E27FC236}">
                <a16:creationId xmlns:a16="http://schemas.microsoft.com/office/drawing/2014/main" id="{AF85038C-DC06-4E96-AA9A-A743BC1D1BCD}"/>
              </a:ext>
            </a:extLst>
          </p:cNvPr>
          <p:cNvSpPr>
            <a:spLocks xmlns:a="http://schemas.openxmlformats.org/drawingml/2006/main" noGrp="1"/>
          </p:cNvSpPr>
          <p:nvPr/>
        </p:nvSpPr>
        <p:spPr>
          <a:xfrm xmlns:a="http://schemas.openxmlformats.org/drawingml/2006/main">
            <a:off x="384048" y="1042416"/>
            <a:ext cx="416052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E6D5E0C8-9DEF-47A3-9D62-F8BF773E8CE3}"/>
              </a:ext>
            </a:extLst>
          </p:cNvPr>
          <p:cNvSpPr>
            <a:spLocks xmlns:a="http://schemas.openxmlformats.org/drawingml/2006/main" noGrp="1"/>
          </p:cNvSpPr>
          <p:nvPr/>
        </p:nvSpPr>
        <p:spPr>
          <a:xfrm xmlns:a="http://schemas.openxmlformats.org/drawingml/2006/main">
            <a:off x="502920"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Implemented</a:t>
            </a:r>
            <a:endParaRPr sz="1300"/>
          </a:p>
        </p:txBody>
      </p:sp>
      <p:sp>
        <p:nvSpPr>
          <p:cNvPr id="12" name="Shape 9">
            <a:extLst xmlns:a="http://schemas.openxmlformats.org/drawingml/2006/main">
              <a:ext uri="{FF2B5EF4-FFF2-40B4-BE49-F238E27FC236}">
                <a16:creationId xmlns:a16="http://schemas.microsoft.com/office/drawing/2014/main" id="{190F24E0-6556-490A-9EEC-8A689522BA65}"/>
              </a:ext>
            </a:extLst>
          </p:cNvPr>
          <p:cNvSpPr>
            <a:spLocks xmlns:a="http://schemas.openxmlformats.org/drawingml/2006/main" noGrp="1"/>
          </p:cNvSpPr>
          <p:nvPr/>
        </p:nvSpPr>
        <p:spPr>
          <a:xfrm xmlns:a="http://schemas.openxmlformats.org/drawingml/2006/main">
            <a:off x="384048"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138DE53A-5020-4432-85F2-B3DD5A4E7F6E}"/>
              </a:ext>
            </a:extLst>
          </p:cNvPr>
          <p:cNvSpPr>
            <a:spLocks xmlns:a="http://schemas.openxmlformats.org/drawingml/2006/main" noGrp="1"/>
          </p:cNvSpPr>
          <p:nvPr/>
        </p:nvSpPr>
        <p:spPr>
          <a:xfrm xmlns:a="http://schemas.openxmlformats.org/drawingml/2006/main">
            <a:off x="530352"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client portal: catalogue, one-click purchase, star reviews, 1:1 booking with calendar and payment, issue reporting.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seven-tab administrator portal: contacts, courses, purchases, invoices, analytics, employees,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event-driven Java domain layer on classic design patterns, with automatic invoicing and lead scoring.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Live statistics over SSE, Excel import, and CSV / Excel / PDF export.</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optional Claude layer: assistant, recommendation quiz, per-company advice, live translation.</a:t>
            </a:r>
            <a:endParaRPr sz="980"/>
          </a:p>
        </p:txBody>
      </p:sp>
      <p:sp>
        <p:nvSpPr>
          <p:cNvPr id="14" name="Shape 11">
            <a:extLst xmlns:a="http://schemas.openxmlformats.org/drawingml/2006/main">
              <a:ext uri="{FF2B5EF4-FFF2-40B4-BE49-F238E27FC236}">
                <a16:creationId xmlns:a16="http://schemas.microsoft.com/office/drawing/2014/main" id="{BF1F1DD3-F394-4312-BD66-F5BF6137296F}"/>
              </a:ext>
            </a:extLst>
          </p:cNvPr>
          <p:cNvSpPr>
            <a:spLocks xmlns:a="http://schemas.openxmlformats.org/drawingml/2006/main" noGrp="1"/>
          </p:cNvSpPr>
          <p:nvPr/>
        </p:nvSpPr>
        <p:spPr>
          <a:xfrm xmlns:a="http://schemas.openxmlformats.org/drawingml/2006/main">
            <a:off x="4599432" y="1042416"/>
            <a:ext cx="4160520" cy="310896"/>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5AE8F365-30E5-468B-8470-1D33458147CD}"/>
              </a:ext>
            </a:extLst>
          </p:cNvPr>
          <p:cNvSpPr>
            <a:spLocks xmlns:a="http://schemas.openxmlformats.org/drawingml/2006/main" noGrp="1"/>
          </p:cNvSpPr>
          <p:nvPr/>
        </p:nvSpPr>
        <p:spPr>
          <a:xfrm xmlns:a="http://schemas.openxmlformats.org/drawingml/2006/main">
            <a:off x="4718304"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Limitations and next steps</a:t>
            </a:r>
            <a:endParaRPr sz="1300"/>
          </a:p>
        </p:txBody>
      </p:sp>
      <p:sp>
        <p:nvSpPr>
          <p:cNvPr id="16" name="Shape 13">
            <a:extLst xmlns:a="http://schemas.openxmlformats.org/drawingml/2006/main">
              <a:ext uri="{FF2B5EF4-FFF2-40B4-BE49-F238E27FC236}">
                <a16:creationId xmlns:a16="http://schemas.microsoft.com/office/drawing/2014/main" id="{C93EF342-A280-478B-89B9-DE52C3161592}"/>
              </a:ext>
            </a:extLst>
          </p:cNvPr>
          <p:cNvSpPr>
            <a:spLocks xmlns:a="http://schemas.openxmlformats.org/drawingml/2006/main" noGrp="1"/>
          </p:cNvSpPr>
          <p:nvPr/>
        </p:nvSpPr>
        <p:spPr>
          <a:xfrm xmlns:a="http://schemas.openxmlformats.org/drawingml/2006/main">
            <a:off x="4599432"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D030EC76-A3B2-4B4B-A064-F4CAF9D8EDB4}"/>
              </a:ext>
            </a:extLst>
          </p:cNvPr>
          <p:cNvSpPr>
            <a:spLocks xmlns:a="http://schemas.openxmlformats.org/drawingml/2006/main" noGrp="1"/>
          </p:cNvSpPr>
          <p:nvPr/>
        </p:nvSpPr>
        <p:spPr>
          <a:xfrm xmlns:a="http://schemas.openxmlformats.org/drawingml/2006/main">
            <a:off x="4745736"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Automated test suite - unit and integration tests over the commands, observers, scoring strategies and REST endpoints, enabling continuous integration.</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Stronger authentication - token-based sessions, password hashing at rest, e-mail verification and a genuine reset flow with expiring links.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Richer analytics - historical trends, cohort analysis and exportable dashboards beyond point-in-time metrics.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Deeper AI - conversation memory and AI summaries of support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Deployment and scaling - containerising the two services for a cloud deployment.</a:t>
            </a:r>
            <a:endParaRPr sz="980"/>
          </a:p>
        </p:txBody>
      </p:sp>
      <p:sp>
        <p:nvSpPr>
          <p:cNvPr id="18" name="Shape 15">
            <a:extLst xmlns:a="http://schemas.openxmlformats.org/drawingml/2006/main">
              <a:ext uri="{FF2B5EF4-FFF2-40B4-BE49-F238E27FC236}">
                <a16:creationId xmlns:a16="http://schemas.microsoft.com/office/drawing/2014/main" id="{BD69727E-DCAA-45C6-89E5-C534A4143866}"/>
              </a:ext>
            </a:extLst>
          </p:cNvPr>
          <p:cNvSpPr>
            <a:spLocks xmlns:a="http://schemas.openxmlformats.org/drawingml/2006/main" noGrp="1"/>
          </p:cNvSpPr>
          <p:nvPr/>
        </p:nvSpPr>
        <p:spPr>
          <a:xfrm xmlns:a="http://schemas.openxmlformats.org/drawingml/2006/main">
            <a:off x="384048" y="3913632"/>
            <a:ext cx="8375904" cy="54864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6A346125-F990-4C2F-A330-9788DD9B0F8D}"/>
              </a:ext>
            </a:extLst>
          </p:cNvPr>
          <p:cNvSpPr>
            <a:spLocks xmlns:a="http://schemas.openxmlformats.org/drawingml/2006/main" noGrp="1"/>
          </p:cNvSpPr>
          <p:nvPr/>
        </p:nvSpPr>
        <p:spPr>
          <a:xfrm xmlns:a="http://schemas.openxmlformats.org/drawingml/2006/main">
            <a:off x="530352" y="3950208"/>
            <a:ext cx="80832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A visitor becomes a tracked lead on registration and a customer on the first purchase, and every action after that propagates into the administration portal by itself. That is the result: one click, several reactions, no reconciliation.</a:t>
            </a:r>
            <a:endParaRPr sz="1080"/>
          </a:p>
        </p:txBody>
      </p:sp>
    </p:spTree>
    <p:extLst>
      <p:ext uri="{BB962C8B-B14F-4D97-AF65-F5344CB8AC3E}">
        <p14:creationId xmlns:p14="http://schemas.microsoft.com/office/powerpoint/2010/main" val="88376326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2026-08-31T16:37:28.3860000Z</dcterms:created>
  <dcterms:modified xsi:type="dcterms:W3CDTF">2026-08-31T16:37:28.3860000Z</dcterms:modified>
</coreProperties>
</file>