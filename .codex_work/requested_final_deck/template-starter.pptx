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98ea9d4cd7467b" /><Relationship Type="http://schemas.openxmlformats.org/officeDocument/2006/relationships/extended-properties" Target="/docProps/app.xml" Id="Re704f484587d431b" /><Relationship Type="http://schemas.openxmlformats.org/officeDocument/2006/relationships/officeDocument" Target="/ppt/presentation.xml" Id="R5a861fdbad864d4c" /></Relationships>
</file>

<file path=ppt/presentation.xml><?xml version="1.0" encoding="utf-8"?>
<p:presentation xmlns:p="http://schemas.openxmlformats.org/presentationml/2006/main">
  <p:sldMasterIdLst>
    <p:sldMasterId xmlns:r="http://schemas.openxmlformats.org/officeDocument/2006/relationships" id="2147483648" r:id="Rfbc5b13943e24bdd"/>
  </p:sldMasterIdLst>
  <p:notesMasterIdLst>
    <p:notesMasterId xmlns:r="http://schemas.openxmlformats.org/officeDocument/2006/relationships" r:id="R6809e20244cf48d0"/>
  </p:notesMasterIdLst>
  <p:sldIdLst>
    <p:sldId xmlns:r="http://schemas.openxmlformats.org/officeDocument/2006/relationships" id="256" r:id="R7603b8667fde443f"/>
    <p:sldId xmlns:r="http://schemas.openxmlformats.org/officeDocument/2006/relationships" id="257" r:id="R95ae471b710e4248"/>
    <p:sldId xmlns:r="http://schemas.openxmlformats.org/officeDocument/2006/relationships" id="258" r:id="R976e65f7603f451c"/>
    <p:sldId xmlns:r="http://schemas.openxmlformats.org/officeDocument/2006/relationships" id="259" r:id="R76b3f1c7292441a4"/>
    <p:sldId xmlns:r="http://schemas.openxmlformats.org/officeDocument/2006/relationships" id="260" r:id="Rb649797bcf3142ef"/>
    <p:sldId xmlns:r="http://schemas.openxmlformats.org/officeDocument/2006/relationships" id="261" r:id="R1e016f42921b4d02"/>
    <p:sldId xmlns:r="http://schemas.openxmlformats.org/officeDocument/2006/relationships" id="262" r:id="Ra7db944d80714699"/>
    <p:sldId xmlns:r="http://schemas.openxmlformats.org/officeDocument/2006/relationships" id="263" r:id="R37967b9782b14b72"/>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df6f304125d4862" /><Relationship Type="http://schemas.openxmlformats.org/officeDocument/2006/relationships/slideMaster" Target="/ppt/slideMasters/slideMaster1.xml" Id="Rfbc5b13943e24bdd" /><Relationship Type="http://schemas.openxmlformats.org/officeDocument/2006/relationships/notesMaster" Target="/ppt/notesMasters/notesMaster1.xml" Id="R6809e20244cf48d0" /><Relationship Type="http://schemas.openxmlformats.org/officeDocument/2006/relationships/presProps" Target="/ppt/presProps.xml" Id="R285bed303e094ee6" /><Relationship Type="http://schemas.openxmlformats.org/officeDocument/2006/relationships/viewProps" Target="/ppt/viewProps.xml" Id="R2c053ad314e24ac7" /><Relationship Type="http://schemas.openxmlformats.org/officeDocument/2006/relationships/tableStyles" Target="/ppt/tableStyles.xml" Id="R58b89307bb794266" /><Relationship Type="http://schemas.openxmlformats.org/officeDocument/2006/relationships/slide" Target="/ppt/slides/slide1.xml" Id="R7603b8667fde443f" /><Relationship Type="http://schemas.openxmlformats.org/officeDocument/2006/relationships/slide" Target="/ppt/slides/slide2.xml" Id="R95ae471b710e4248" /><Relationship Type="http://schemas.openxmlformats.org/officeDocument/2006/relationships/slide" Target="/ppt/slides/slide3.xml" Id="R976e65f7603f451c" /><Relationship Type="http://schemas.openxmlformats.org/officeDocument/2006/relationships/slide" Target="/ppt/slides/slide4.xml" Id="R76b3f1c7292441a4" /><Relationship Type="http://schemas.openxmlformats.org/officeDocument/2006/relationships/slide" Target="/ppt/slides/slide5.xml" Id="Rb649797bcf3142ef" /><Relationship Type="http://schemas.openxmlformats.org/officeDocument/2006/relationships/slide" Target="/ppt/slides/slide6.xml" Id="R1e016f42921b4d02" /><Relationship Type="http://schemas.openxmlformats.org/officeDocument/2006/relationships/slide" Target="/ppt/slides/slide7.xml" Id="Ra7db944d80714699" /><Relationship Type="http://schemas.openxmlformats.org/officeDocument/2006/relationships/slide" Target="/ppt/slides/slide8.xml" Id="R37967b9782b14b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c60eb678f04c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d9156ad3fb4a06" /><Relationship Type="http://schemas.openxmlformats.org/officeDocument/2006/relationships/notesMaster" Target="/ppt/notesMasters/notesMaster1.xml" Id="R27de858bfc9840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08e6ce8a2345c2" /><Relationship Type="http://schemas.openxmlformats.org/officeDocument/2006/relationships/notesMaster" Target="/ppt/notesMasters/notesMaster1.xml" Id="R1ef3ef4c26164c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b5a0b827d24461" /><Relationship Type="http://schemas.openxmlformats.org/officeDocument/2006/relationships/notesMaster" Target="/ppt/notesMasters/notesMaster1.xml" Id="Rdadfe49de09a4f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eef48b68fd4921" /><Relationship Type="http://schemas.openxmlformats.org/officeDocument/2006/relationships/notesMaster" Target="/ppt/notesMasters/notesMaster1.xml" Id="Rf5d5408fa3a845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f9df17a15f4f12" /><Relationship Type="http://schemas.openxmlformats.org/officeDocument/2006/relationships/notesMaster" Target="/ppt/notesMasters/notesMaster1.xml" Id="R9f48e9db7deb47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6c1e0b5d8e4068" /><Relationship Type="http://schemas.openxmlformats.org/officeDocument/2006/relationships/notesMaster" Target="/ppt/notesMasters/notesMaster1.xml" Id="R6f2d030ccd2b4a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c5dbd34858493d" /><Relationship Type="http://schemas.openxmlformats.org/officeDocument/2006/relationships/notesMaster" Target="/ppt/notesMasters/notesMaster1.xml" Id="Rffd76ae99ff04b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53816649f2461e" /><Relationship Type="http://schemas.openxmlformats.org/officeDocument/2006/relationships/notesMaster" Target="/ppt/notesMasters/notesMaster1.xml" Id="R038548272e0142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name is Raul Veca and I will present my bachelor thesis, TrainingIT: a web-based application for selling programming courses, supervised by Lect. Dr. Sebastian Ștefăniga.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training company that sells online has to satisfy two very different audiences with one system. Learners want a frictionless shop. The company needs to run an operation: leads, purchase history, invoices, analytics, corporate accounts. Normally that means an e-commerce platform plus a separate CRM, kept in sync - and every sync point is where data drifts. The problem this thesis addresses is to remove that gap entirely.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families of tools address parts of the problem. Marketplaces like Udemy give you a storefront but you do not own the customer. Moodle manages content, not sales. Salesforce and HubSpot are strong CRMs but know nothing about courses or trainer calendars - and connecting them to a shop reintroduces exactly the integration gap. WooCommerce treats a course as an ordinary product. TrainingIT differs by unifying both sides on one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contribution is an applied one: a functional system rather than a study. The objectives were a client portal, an administrator portal, a pattern-based event-driven domain layer, an optional AI layer, and persistent storage. The design boundary matters: this is not a general e-commerce platform or a general CRM - it is one coherent product for a training company.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four layers. The browser runs a Next.js and React client with route guards driven by the local session. It talks to a Spring Boot REST API, which also pushes live catalogue statistics over Server-Sent Events. Behind the controllers is a plain-Java domain layer - commands, services, an event bus and repositories - reached through a single facade. Everything persists to MariaDB over JDBC with HikariCP.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layer was the part I extended furthest myself. There are four features, all sharing one Claude client and one API key: a chatbot grounded in the live catalogue, a recommendation quiz for visitors, per-company recommendations for corporate training, and live page translation. I wrote the prompts, the endpoints, the structured JSON handling and the interfaces. The important property is that the layer is strictly additive - remove the key and the buttons simply do not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correctness here depends on a user action propagating through the whole system, testing concentrated on three things. Input validation on both client and server, including a chain-of-responsibility validator for contacts. Robustness properties I verified by forcing the failure: idempotent invoices, isolated observer failures, graceful AI degradation, guarded deletions. And functional verification of the end-to-end journeys against a real database. The Spring Boot test harness is in place as a foundation for an automated suite, which I list as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TrainingIT delivers a client portal, a seven-tab administrator portal, a pattern-based event-driven domain layer, live statistics and reporting, and an optional AI layer - meeting the objectives set out in the introduction. The limitations are honest ones: the test suite is a foundation rather than full coverage, and authentication would need hardening for production. The central result is that the storefront and the CRM are not two integrated systems but one. Thank you - I am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ec854231e2469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9e2438173343b6" /><Relationship Type="http://schemas.openxmlformats.org/officeDocument/2006/relationships/slideLayout" Target="/ppt/slideLayouts/slideLayout1.xml" Id="R8ab02f407515414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b02f407515414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019e699ffb4d62" /><Relationship Type="http://schemas.openxmlformats.org/officeDocument/2006/relationships/image" Target="/ppt/media/image.png" Id="R2cd5f121547f4c30" /><Relationship Type="http://schemas.openxmlformats.org/officeDocument/2006/relationships/image" Target="/ppt/media/image2.png" Id="R61dd1acb9ef04ecd" /><Relationship Type="http://schemas.openxmlformats.org/officeDocument/2006/relationships/notesSlide" Target="/ppt/notesSlides/notesSlide1.xml" Id="Rc1aa932e32f942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4200c334da4bf3" /><Relationship Type="http://schemas.openxmlformats.org/officeDocument/2006/relationships/image" Target="/ppt/media/image3.png" Id="Rbd94462efa584d39" /><Relationship Type="http://schemas.openxmlformats.org/officeDocument/2006/relationships/notesSlide" Target="/ppt/notesSlides/notesSlide2.xml" Id="R6144d497ec8c4a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b0b48676944094" /><Relationship Type="http://schemas.openxmlformats.org/officeDocument/2006/relationships/image" Target="/ppt/media/image3.png" Id="R1f50ff4c3bfd4e74" /><Relationship Type="http://schemas.openxmlformats.org/officeDocument/2006/relationships/notesSlide" Target="/ppt/notesSlides/notesSlide3.xml" Id="Rce4edca766734b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b58339fa0943e4" /><Relationship Type="http://schemas.openxmlformats.org/officeDocument/2006/relationships/image" Target="/ppt/media/image3.png" Id="Rd2fd574fa5bd468b" /><Relationship Type="http://schemas.openxmlformats.org/officeDocument/2006/relationships/notesSlide" Target="/ppt/notesSlides/notesSlide4.xml" Id="Ra9236b0ffb904d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41af67cf0a4cc1" /><Relationship Type="http://schemas.openxmlformats.org/officeDocument/2006/relationships/image" Target="/ppt/media/image3.png" Id="R1f70b35773034cf2" /><Relationship Type="http://schemas.openxmlformats.org/officeDocument/2006/relationships/image" Target="/ppt/media/image4.png" Id="R3980a863b98641d1" /><Relationship Type="http://schemas.openxmlformats.org/officeDocument/2006/relationships/notesSlide" Target="/ppt/notesSlides/notesSlide5.xml" Id="R99f8ec2e24224f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c30c1db62945cc" /><Relationship Type="http://schemas.openxmlformats.org/officeDocument/2006/relationships/image" Target="/ppt/media/image3.png" Id="R37114ca431644061" /><Relationship Type="http://schemas.openxmlformats.org/officeDocument/2006/relationships/image" Target="/ppt/media/image5.png" Id="R3e81c80a23204180" /><Relationship Type="http://schemas.openxmlformats.org/officeDocument/2006/relationships/notesSlide" Target="/ppt/notesSlides/notesSlide6.xml" Id="R61f8d679a7f44b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f80a56a78449d0" /><Relationship Type="http://schemas.openxmlformats.org/officeDocument/2006/relationships/image" Target="/ppt/media/image3.png" Id="Rdc5109059e6c461e" /><Relationship Type="http://schemas.openxmlformats.org/officeDocument/2006/relationships/image" Target="/ppt/media/image6.png" Id="R143a7fe250cb42b9" /><Relationship Type="http://schemas.openxmlformats.org/officeDocument/2006/relationships/notesSlide" Target="/ppt/notesSlides/notesSlide7.xml" Id="Rd0874c1f01cc46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1aa478d19a4892" /><Relationship Type="http://schemas.openxmlformats.org/officeDocument/2006/relationships/image" Target="/ppt/media/image3.png" Id="R11b419feef4c4c12" /><Relationship Type="http://schemas.openxmlformats.org/officeDocument/2006/relationships/notesSlide" Target="/ppt/notesSlides/notesSlide8.xml" Id="R6fa446e8b55a43b5"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2cd5f121547f4c30">
            <a:lum/>
          </a:blip>
          <a:srcRect l="0" t="0" r="0" b="0"/>
          <a:stretch>
            <a:fillRect l="0" t="0" r="0" b="0"/>
          </a:stretch>
        </a:blipFill>
      </p:bgPr>
    </p:bg>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61dd1acb9ef04ecd"/>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38BCD47E-62A9-43BE-B567-70C70E0F4FB2}"/>
              </a:ext>
            </a:extLst>
          </p:cNvPr>
          <p:cNvSpPr>
            <a:spLocks xmlns:a="http://schemas.openxmlformats.org/drawingml/2006/main" noGrp="1"/>
          </p:cNvSpPr>
          <p:nvPr/>
        </p:nvSpPr>
        <p:spPr>
          <a:xfrm xmlns:a="http://schemas.openxmlformats.org/drawingml/2006/main">
            <a:off x="4754880" y="146304"/>
            <a:ext cx="410565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spc="60">
                <a:solidFill>
                  <a:srgbClr val="AFC0DA"/>
                </a:solidFill>
                <a:latin typeface="Arial"/>
                <a:ea typeface="Arial"/>
                <a:cs typeface="Arial"/>
              </a:rPr>
              <a:t>WEST UNIVERSITY OF TIMIȘOARA</a:t>
            </a:r>
            <a:endParaRPr sz="1050"/>
          </a:p>
        </p:txBody>
      </p:sp>
      <p:sp>
        <p:nvSpPr>
          <p:cNvPr id="4" name="Text 1">
            <a:extLst xmlns:a="http://schemas.openxmlformats.org/drawingml/2006/main">
              <a:ext uri="{FF2B5EF4-FFF2-40B4-BE49-F238E27FC236}">
                <a16:creationId xmlns:a16="http://schemas.microsoft.com/office/drawing/2014/main" id="{75784892-3249-4781-8F3B-BFD161838B1D}"/>
              </a:ext>
            </a:extLst>
          </p:cNvPr>
          <p:cNvSpPr>
            <a:spLocks xmlns:a="http://schemas.openxmlformats.org/drawingml/2006/main" noGrp="1"/>
          </p:cNvSpPr>
          <p:nvPr/>
        </p:nvSpPr>
        <p:spPr>
          <a:xfrm xmlns:a="http://schemas.openxmlformats.org/drawingml/2006/main">
            <a:off x="548640" y="1389888"/>
            <a:ext cx="8046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FFFF"/>
                </a:solidFill>
                <a:latin typeface="Arial"/>
                <a:ea typeface="Arial"/>
                <a:cs typeface="Arial"/>
              </a:rPr>
              <a:t>TrainingIT</a:t>
            </a:r>
            <a:endParaRPr sz="3400"/>
          </a:p>
        </p:txBody>
      </p:sp>
      <p:sp>
        <p:nvSpPr>
          <p:cNvPr id="5" name="Text 2">
            <a:extLst xmlns:a="http://schemas.openxmlformats.org/drawingml/2006/main">
              <a:ext uri="{FF2B5EF4-FFF2-40B4-BE49-F238E27FC236}">
                <a16:creationId xmlns:a16="http://schemas.microsoft.com/office/drawing/2014/main" id="{7BB20CC1-4ED3-42E0-855D-17158ECAD8F6}"/>
              </a:ext>
            </a:extLst>
          </p:cNvPr>
          <p:cNvSpPr>
            <a:spLocks xmlns:a="http://schemas.openxmlformats.org/drawingml/2006/main" noGrp="1"/>
          </p:cNvSpPr>
          <p:nvPr/>
        </p:nvSpPr>
        <p:spPr>
          <a:xfrm xmlns:a="http://schemas.openxmlformats.org/drawingml/2006/main">
            <a:off x="548640" y="1938528"/>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a:solidFill>
                  <a:srgbClr val="FFFFFF"/>
                </a:solidFill>
                <a:latin typeface="Arial"/>
                <a:ea typeface="Arial"/>
                <a:cs typeface="Arial"/>
              </a:rPr>
              <a:t>A Web-Based Application for Selling Programming Courses</a:t>
            </a:r>
            <a:endParaRPr sz="1700"/>
          </a:p>
        </p:txBody>
      </p:sp>
      <p:sp>
        <p:nvSpPr>
          <p:cNvPr id="6" name="Text 3">
            <a:extLst xmlns:a="http://schemas.openxmlformats.org/drawingml/2006/main">
              <a:ext uri="{FF2B5EF4-FFF2-40B4-BE49-F238E27FC236}">
                <a16:creationId xmlns:a16="http://schemas.microsoft.com/office/drawing/2014/main" id="{ECA3F8A3-0E1A-4E42-BA77-32F42E28AEB8}"/>
              </a:ext>
            </a:extLst>
          </p:cNvPr>
          <p:cNvSpPr>
            <a:spLocks xmlns:a="http://schemas.openxmlformats.org/drawingml/2006/main" noGrp="1"/>
          </p:cNvSpPr>
          <p:nvPr/>
        </p:nvSpPr>
        <p:spPr>
          <a:xfrm xmlns:a="http://schemas.openxmlformats.org/drawingml/2006/main">
            <a:off x="548640" y="2542032"/>
            <a:ext cx="8046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Raul Veca</a:t>
            </a:r>
            <a:endParaRPr sz="1500"/>
          </a:p>
        </p:txBody>
      </p:sp>
      <p:sp>
        <p:nvSpPr>
          <p:cNvPr id="7" name="Text 4">
            <a:extLst xmlns:a="http://schemas.openxmlformats.org/drawingml/2006/main">
              <a:ext uri="{FF2B5EF4-FFF2-40B4-BE49-F238E27FC236}">
                <a16:creationId xmlns:a16="http://schemas.microsoft.com/office/drawing/2014/main" id="{49DEBD2A-658C-44F3-89EC-32F648C86AE1}"/>
              </a:ext>
            </a:extLst>
          </p:cNvPr>
          <p:cNvSpPr>
            <a:spLocks xmlns:a="http://schemas.openxmlformats.org/drawingml/2006/main" noGrp="1"/>
          </p:cNvSpPr>
          <p:nvPr/>
        </p:nvSpPr>
        <p:spPr>
          <a:xfrm xmlns:a="http://schemas.openxmlformats.org/drawingml/2006/main">
            <a:off x="548640" y="288036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D6E0F0"/>
                </a:solidFill>
                <a:latin typeface="Arial"/>
                <a:ea typeface="Arial"/>
                <a:cs typeface="Arial"/>
              </a:rPr>
              <a:t>Supervisor: Lect. Dr. Sebastian Ștefăniga</a:t>
            </a:r>
            <a:endParaRPr sz="1200"/>
          </a:p>
        </p:txBody>
      </p:sp>
      <p:sp>
        <p:nvSpPr>
          <p:cNvPr id="8" name="Text 5">
            <a:extLst xmlns:a="http://schemas.openxmlformats.org/drawingml/2006/main">
              <a:ext uri="{FF2B5EF4-FFF2-40B4-BE49-F238E27FC236}">
                <a16:creationId xmlns:a16="http://schemas.microsoft.com/office/drawing/2014/main" id="{F1059EE7-3E39-40EA-8820-AB3D84D1F2AD}"/>
              </a:ext>
            </a:extLst>
          </p:cNvPr>
          <p:cNvSpPr>
            <a:spLocks xmlns:a="http://schemas.openxmlformats.org/drawingml/2006/main" noGrp="1"/>
          </p:cNvSpPr>
          <p:nvPr/>
        </p:nvSpPr>
        <p:spPr>
          <a:xfrm xmlns:a="http://schemas.openxmlformats.org/drawingml/2006/main">
            <a:off x="548640" y="3172968"/>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D6E0F0"/>
                </a:solidFill>
                <a:latin typeface="Arial"/>
                <a:ea typeface="Arial"/>
                <a:cs typeface="Arial"/>
              </a:rPr>
              <a:t>Faculty of Computer Science  ·  Bachelor Thesis Defense, 2026</a:t>
            </a:r>
            <a:endParaRPr sz="1200"/>
          </a:p>
        </p:txBody>
      </p:sp>
      <p:sp>
        <p:nvSpPr>
          <p:cNvPr id="9" name="Text 6">
            <a:extLst xmlns:a="http://schemas.openxmlformats.org/drawingml/2006/main">
              <a:ext uri="{FF2B5EF4-FFF2-40B4-BE49-F238E27FC236}">
                <a16:creationId xmlns:a16="http://schemas.microsoft.com/office/drawing/2014/main" id="{9A61AB54-2CEF-440F-A653-8184766B9B28}"/>
              </a:ext>
            </a:extLst>
          </p:cNvPr>
          <p:cNvSpPr>
            <a:spLocks xmlns:a="http://schemas.openxmlformats.org/drawingml/2006/main" noGrp="1"/>
          </p:cNvSpPr>
          <p:nvPr/>
        </p:nvSpPr>
        <p:spPr>
          <a:xfrm xmlns:a="http://schemas.openxmlformats.org/drawingml/2006/main">
            <a:off x="411480" y="466344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7E93B8"/>
                </a:solidFill>
                <a:latin typeface="Arial"/>
                <a:ea typeface="Arial"/>
                <a:cs typeface="Arial"/>
              </a:rPr>
              <a:t>www.uvt.ro</a:t>
            </a:r>
            <a:endParaRPr sz="1150"/>
          </a:p>
        </p:txBody>
      </p:sp>
    </p:spTree>
    <p:extLst>
      <p:ext uri="{BB962C8B-B14F-4D97-AF65-F5344CB8AC3E}">
        <p14:creationId xmlns:p14="http://schemas.microsoft.com/office/powerpoint/2010/main" val="5473127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bd94462efa584d39"/>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B685FA4-565D-45B0-8E2F-DE84F479F13D}"/>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Problem and Motivation</a:t>
            </a:r>
            <a:endParaRPr sz="2100"/>
          </a:p>
        </p:txBody>
      </p:sp>
      <p:sp>
        <p:nvSpPr>
          <p:cNvPr id="4" name="Text 1">
            <a:extLst xmlns:a="http://schemas.openxmlformats.org/drawingml/2006/main">
              <a:ext uri="{FF2B5EF4-FFF2-40B4-BE49-F238E27FC236}">
                <a16:creationId xmlns:a16="http://schemas.microsoft.com/office/drawing/2014/main" id="{976CB270-EE20-42E1-A773-3B47F22A3BF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storefront and one back office - normally two different systems</a:t>
            </a:r>
            <a:endParaRPr sz="1250"/>
          </a:p>
        </p:txBody>
      </p:sp>
      <p:sp>
        <p:nvSpPr>
          <p:cNvPr id="5" name="Shape 2">
            <a:extLst xmlns:a="http://schemas.openxmlformats.org/drawingml/2006/main">
              <a:ext uri="{FF2B5EF4-FFF2-40B4-BE49-F238E27FC236}">
                <a16:creationId xmlns:a16="http://schemas.microsoft.com/office/drawing/2014/main" id="{DC2EF545-8A68-4B57-A6E0-C48CC34474C0}"/>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0E5F7218-37F7-4C51-87E9-E19FF0684E51}"/>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4254C690-2F1B-4CAC-A572-715B10E681D4}"/>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59385B98-5111-413A-80E8-EAEE43F404D9}"/>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DC39CA11-429B-428A-9298-C856D721AA0F}"/>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 / 13</a:t>
            </a:r>
            <a:endParaRPr sz="750"/>
          </a:p>
        </p:txBody>
      </p:sp>
      <p:sp>
        <p:nvSpPr>
          <p:cNvPr id="10" name="Text 7">
            <a:extLst xmlns:a="http://schemas.openxmlformats.org/drawingml/2006/main">
              <a:ext uri="{FF2B5EF4-FFF2-40B4-BE49-F238E27FC236}">
                <a16:creationId xmlns:a16="http://schemas.microsoft.com/office/drawing/2014/main" id="{81BEC467-AAE3-47A8-A0EF-842DCF2791D3}"/>
              </a:ext>
            </a:extLst>
          </p:cNvPr>
          <p:cNvSpPr>
            <a:spLocks xmlns:a="http://schemas.openxmlformats.org/drawingml/2006/main" noGrp="1"/>
          </p:cNvSpPr>
          <p:nvPr/>
        </p:nvSpPr>
        <p:spPr>
          <a:xfrm xmlns:a="http://schemas.openxmlformats.org/drawingml/2006/main">
            <a:off x="411480" y="1051560"/>
            <a:ext cx="4892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customer side.  </a:t>
            </a:r>
            <a:r>
              <a:rPr sz="1150">
                <a:solidFill>
                  <a:srgbClr val="1A1A1A"/>
                </a:solidFill>
                <a:latin typeface="Arial"/>
                <a:ea typeface="Arial"/>
                <a:cs typeface="Arial"/>
              </a:rPr>
              <a:t>A learner expects what any modern shop offers: a clear catalogue, prices and levels, reviews they can trust, a purchase in one click, and a private tutoring session booked at a time that suits them.</a:t>
            </a:r>
            <a:endParaRPr sz="1150"/>
          </a:p>
        </p:txBody>
      </p:sp>
      <p:sp>
        <p:nvSpPr>
          <p:cNvPr id="11" name="Text 8">
            <a:extLst xmlns:a="http://schemas.openxmlformats.org/drawingml/2006/main">
              <a:ext uri="{FF2B5EF4-FFF2-40B4-BE49-F238E27FC236}">
                <a16:creationId xmlns:a16="http://schemas.microsoft.com/office/drawing/2014/main" id="{A0A45968-90F2-48FE-A2B3-B46AA4450DB5}"/>
              </a:ext>
            </a:extLst>
          </p:cNvPr>
          <p:cNvSpPr>
            <a:spLocks xmlns:a="http://schemas.openxmlformats.org/drawingml/2006/main" noGrp="1"/>
          </p:cNvSpPr>
          <p:nvPr/>
        </p:nvSpPr>
        <p:spPr>
          <a:xfrm xmlns:a="http://schemas.openxmlformats.org/drawingml/2006/main">
            <a:off x="411480" y="2057400"/>
            <a:ext cx="48920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business side.  </a:t>
            </a:r>
            <a:r>
              <a:rPr sz="1150">
                <a:solidFill>
                  <a:srgbClr val="1A1A1A"/>
                </a:solidFill>
                <a:latin typeface="Arial"/>
                <a:ea typeface="Arial"/>
                <a:cs typeface="Arial"/>
              </a:rPr>
              <a:t>Behind the storefront the company must know who its leads are and how close each is to buying, keep a reliable purchase history, issue correct invoices with negotiated discounts, read the health of the business, and handle corporate clients who send whole teams.</a:t>
            </a:r>
            <a:endParaRPr sz="1150"/>
          </a:p>
        </p:txBody>
      </p:sp>
      <p:sp>
        <p:nvSpPr>
          <p:cNvPr id="12" name="Text 9">
            <a:extLst xmlns:a="http://schemas.openxmlformats.org/drawingml/2006/main">
              <a:ext uri="{FF2B5EF4-FFF2-40B4-BE49-F238E27FC236}">
                <a16:creationId xmlns:a16="http://schemas.microsoft.com/office/drawing/2014/main" id="{B013C427-69EB-4F2E-AC85-F82D7749A33A}"/>
              </a:ext>
            </a:extLst>
          </p:cNvPr>
          <p:cNvSpPr>
            <a:spLocks xmlns:a="http://schemas.openxmlformats.org/drawingml/2006/main" noGrp="1"/>
          </p:cNvSpPr>
          <p:nvPr/>
        </p:nvSpPr>
        <p:spPr>
          <a:xfrm xmlns:a="http://schemas.openxmlformats.org/drawingml/2006/main">
            <a:off x="411480" y="3291840"/>
            <a:ext cx="48920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integration gap.  </a:t>
            </a:r>
            <a:r>
              <a:rPr sz="1150">
                <a:solidFill>
                  <a:srgbClr val="1A1A1A"/>
                </a:solidFill>
                <a:latin typeface="Arial"/>
                <a:ea typeface="Arial"/>
                <a:cs typeface="Arial"/>
              </a:rPr>
              <a:t>These two sides are normally separate tools that must be synchronised. Every synchronisation point is a place where data can drift, and manual reconciliation is slow and error-prone.</a:t>
            </a:r>
            <a:endParaRPr sz="1150"/>
          </a:p>
        </p:txBody>
      </p:sp>
      <p:sp>
        <p:nvSpPr>
          <p:cNvPr id="13" name="Shape 10">
            <a:extLst xmlns:a="http://schemas.openxmlformats.org/drawingml/2006/main">
              <a:ext uri="{FF2B5EF4-FFF2-40B4-BE49-F238E27FC236}">
                <a16:creationId xmlns:a16="http://schemas.microsoft.com/office/drawing/2014/main" id="{6A6810FB-9C9B-4B19-9984-2E4E74A06691}"/>
              </a:ext>
            </a:extLst>
          </p:cNvPr>
          <p:cNvSpPr>
            <a:spLocks xmlns:a="http://schemas.openxmlformats.org/drawingml/2006/main" noGrp="1"/>
          </p:cNvSpPr>
          <p:nvPr/>
        </p:nvSpPr>
        <p:spPr>
          <a:xfrm xmlns:a="http://schemas.openxmlformats.org/drawingml/2006/main">
            <a:off x="5532120" y="1051560"/>
            <a:ext cx="320040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79984CEA-1F52-4515-9AA9-C35D26F5FBB1}"/>
              </a:ext>
            </a:extLst>
          </p:cNvPr>
          <p:cNvSpPr>
            <a:spLocks xmlns:a="http://schemas.openxmlformats.org/drawingml/2006/main" noGrp="1"/>
          </p:cNvSpPr>
          <p:nvPr/>
        </p:nvSpPr>
        <p:spPr>
          <a:xfrm xmlns:a="http://schemas.openxmlformats.org/drawingml/2006/main">
            <a:off x="5650992" y="1051560"/>
            <a:ext cx="2962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Problem statement</a:t>
            </a:r>
            <a:endParaRPr sz="1300"/>
          </a:p>
        </p:txBody>
      </p:sp>
      <p:sp>
        <p:nvSpPr>
          <p:cNvPr id="15" name="Shape 12">
            <a:extLst xmlns:a="http://schemas.openxmlformats.org/drawingml/2006/main">
              <a:ext uri="{FF2B5EF4-FFF2-40B4-BE49-F238E27FC236}">
                <a16:creationId xmlns:a16="http://schemas.microsoft.com/office/drawing/2014/main" id="{9BB80CA4-78A4-4E1C-97F3-76DB316CF9E8}"/>
              </a:ext>
            </a:extLst>
          </p:cNvPr>
          <p:cNvSpPr>
            <a:spLocks xmlns:a="http://schemas.openxmlformats.org/drawingml/2006/main" noGrp="1"/>
          </p:cNvSpPr>
          <p:nvPr/>
        </p:nvSpPr>
        <p:spPr>
          <a:xfrm xmlns:a="http://schemas.openxmlformats.org/drawingml/2006/main">
            <a:off x="5532120" y="1380744"/>
            <a:ext cx="3200400" cy="166420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3511ABE2-9F74-4213-A108-3D606632F6CA}"/>
              </a:ext>
            </a:extLst>
          </p:cNvPr>
          <p:cNvSpPr>
            <a:spLocks xmlns:a="http://schemas.openxmlformats.org/drawingml/2006/main" noGrp="1"/>
          </p:cNvSpPr>
          <p:nvPr/>
        </p:nvSpPr>
        <p:spPr>
          <a:xfrm xmlns:a="http://schemas.openxmlformats.org/drawingml/2006/main">
            <a:off x="5678424" y="1426464"/>
            <a:ext cx="2907792" cy="15727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Build a single web application in which the customer-facing storefront and the business-facing CRM are not two integrated systems but one system - so that every customer action is captured exactly once and automatically drives enrolment, invoicing, lead scoring, auditing and support.</a:t>
            </a:r>
            <a:endParaRPr sz="1100"/>
          </a:p>
        </p:txBody>
      </p:sp>
      <p:sp>
        <p:nvSpPr>
          <p:cNvPr id="17" name="Shape 14">
            <a:extLst xmlns:a="http://schemas.openxmlformats.org/drawingml/2006/main">
              <a:ext uri="{FF2B5EF4-FFF2-40B4-BE49-F238E27FC236}">
                <a16:creationId xmlns:a16="http://schemas.microsoft.com/office/drawing/2014/main" id="{22B46F3E-E88B-42FD-900E-AB519ED447CE}"/>
              </a:ext>
            </a:extLst>
          </p:cNvPr>
          <p:cNvSpPr>
            <a:spLocks xmlns:a="http://schemas.openxmlformats.org/drawingml/2006/main" noGrp="1"/>
          </p:cNvSpPr>
          <p:nvPr/>
        </p:nvSpPr>
        <p:spPr>
          <a:xfrm xmlns:a="http://schemas.openxmlformats.org/drawingml/2006/main">
            <a:off x="5532120" y="2999232"/>
            <a:ext cx="3200400" cy="91440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F8614951-AC17-4FA8-AA26-C82223043144}"/>
              </a:ext>
            </a:extLst>
          </p:cNvPr>
          <p:cNvSpPr>
            <a:spLocks xmlns:a="http://schemas.openxmlformats.org/drawingml/2006/main" noGrp="1"/>
          </p:cNvSpPr>
          <p:nvPr/>
        </p:nvSpPr>
        <p:spPr>
          <a:xfrm xmlns:a="http://schemas.openxmlformats.org/drawingml/2006/main">
            <a:off x="5678424" y="3035808"/>
            <a:ext cx="290779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50">
                <a:solidFill>
                  <a:srgbClr val="1A1A1A"/>
                </a:solidFill>
                <a:latin typeface="Arial"/>
                <a:ea typeface="Arial"/>
                <a:cs typeface="Arial"/>
              </a:rPr>
              <a:t>It must also stay approachable for non-technical staff, keep the two roles strictly separated, and remain fully functional when optional services are switched off.</a:t>
            </a:r>
            <a:endParaRPr sz="1050"/>
          </a:p>
        </p:txBody>
      </p:sp>
    </p:spTree>
    <p:extLst>
      <p:ext uri="{BB962C8B-B14F-4D97-AF65-F5344CB8AC3E}">
        <p14:creationId xmlns:p14="http://schemas.microsoft.com/office/powerpoint/2010/main" val="1378327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1f50ff4c3bfd4e74"/>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76FCBAF-3D2E-4809-A619-60B9C0BCA24A}"/>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Related Work Gap</a:t>
            </a:r>
            <a:endParaRPr sz="2100"/>
          </a:p>
        </p:txBody>
      </p:sp>
      <p:sp>
        <p:nvSpPr>
          <p:cNvPr id="4" name="Text 1">
            <a:extLst xmlns:a="http://schemas.openxmlformats.org/drawingml/2006/main">
              <a:ext uri="{FF2B5EF4-FFF2-40B4-BE49-F238E27FC236}">
                <a16:creationId xmlns:a16="http://schemas.microsoft.com/office/drawing/2014/main" id="{F5448BBE-B548-4D0A-A95E-B0C23AF6726F}"/>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Existing tools solve parts of the problem, not the whole workflow</a:t>
            </a:r>
            <a:endParaRPr sz="1250"/>
          </a:p>
        </p:txBody>
      </p:sp>
      <p:sp>
        <p:nvSpPr>
          <p:cNvPr id="5" name="Shape 2">
            <a:extLst xmlns:a="http://schemas.openxmlformats.org/drawingml/2006/main">
              <a:ext uri="{FF2B5EF4-FFF2-40B4-BE49-F238E27FC236}">
                <a16:creationId xmlns:a16="http://schemas.microsoft.com/office/drawing/2014/main" id="{CB68EC9F-EC37-4214-9F3E-59FB3913075C}"/>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A771C921-EB12-4C65-A6E9-C524DABE3F1B}"/>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80428692-0E4D-4EBA-9388-C0A97B576CD3}"/>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AD28BBE6-427B-4C1B-8055-5277B0039365}"/>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F766FACC-4FE1-4F33-AEF4-690A30D7D6F8}"/>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2 / 13</a:t>
            </a:r>
            <a:endParaRPr sz="750"/>
          </a:p>
        </p:txBody>
      </p:sp>
      <p:sp>
        <p:nvSpPr>
          <p:cNvPr id="10" name="Text 7">
            <a:extLst xmlns:a="http://schemas.openxmlformats.org/drawingml/2006/main">
              <a:ext uri="{FF2B5EF4-FFF2-40B4-BE49-F238E27FC236}">
                <a16:creationId xmlns:a16="http://schemas.microsoft.com/office/drawing/2014/main" id="{A1A991D9-1BC4-45E7-BF23-D2CAA7E24B55}"/>
              </a:ext>
            </a:extLst>
          </p:cNvPr>
          <p:cNvSpPr>
            <a:spLocks xmlns:a="http://schemas.openxmlformats.org/drawingml/2006/main" noGrp="1"/>
          </p:cNvSpPr>
          <p:nvPr/>
        </p:nvSpPr>
        <p:spPr>
          <a:xfrm xmlns:a="http://schemas.openxmlformats.org/drawingml/2006/main">
            <a:off x="411480" y="1005840"/>
            <a:ext cx="8321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472"/>
                </a:solidFill>
                <a:latin typeface="Arial"/>
                <a:ea typeface="Arial"/>
                <a:cs typeface="Arial"/>
              </a:rPr>
              <a:t>Each family of tools covers one side well; none unifies a course storefront and a CRM in a single product.</a:t>
            </a:r>
            <a:endParaRPr sz="1100"/>
          </a:p>
        </p:txBody>
      </p:sp>
      <p:graphicFrame>
        <p:nvGraphicFramePr>
          <p:cNvPr id="25" name="Table 0"/>
          <p:cNvGraphicFramePr/>
          <p:nvPr/>
        </p:nvGraphicFramePr>
        <p:xfrm>
          <a:off xmlns:a="http://schemas.openxmlformats.org/drawingml/2006/main" x="411480" y="1335024"/>
          <a:ext xmlns:a="http://schemas.openxmlformats.org/drawingml/2006/main" cx="8321040" cy="2286000"/>
        </p:xfrm>
        <a:graphic xmlns:a="http://schemas.openxmlformats.org/drawingml/2006/main">
          <a:graphicData uri="http://schemas.openxmlformats.org/drawingml/2006/table">
            <a:tbl>
              <a:tblPr/>
              <a:tblGrid>
                <a:gridCol w="2212848"/>
                <a:gridCol w="2834640"/>
                <a:gridCol w="3273552"/>
              </a:tblGrid>
              <a:tr h="237744">
                <a:tc>
                  <a:txBody>
                    <a:bodyPr/>
                    <a:lstStyle/>
                    <a:p>
                      <a:pPr marL="0" indent="0">
                        <a:buNone/>
                      </a:pPr>
                      <a:r>
                        <a:rPr sz="980" b="1">
                          <a:solidFill>
                            <a:srgbClr val="FFFFFF"/>
                          </a:solidFill>
                          <a:latin typeface="Arial"/>
                          <a:ea typeface="Arial"/>
                          <a:cs typeface="Arial"/>
                        </a:rPr>
                        <a:t>Tool family</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Strength</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Limitation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r>
              <a:tr h="512064">
                <a:tc>
                  <a:txBody>
                    <a:bodyPr/>
                    <a:lstStyle/>
                    <a:p>
                      <a:pPr marL="0" indent="0">
                        <a:buNone/>
                      </a:pPr>
                      <a:r>
                        <a:rPr sz="980" b="1">
                          <a:solidFill>
                            <a:srgbClr val="022461"/>
                          </a:solidFill>
                          <a:latin typeface="Arial"/>
                          <a:ea typeface="Arial"/>
                          <a:cs typeface="Arial"/>
                        </a:rPr>
                        <a:t>Course marketplaces
</a:t>
                      </a:r>
                      <a:r>
                        <a:rPr sz="900">
                          <a:solidFill>
                            <a:srgbClr val="5A6472"/>
                          </a:solidFill>
                          <a:latin typeface="Arial"/>
                          <a:ea typeface="Arial"/>
                          <a:cs typeface="Arial"/>
                        </a:rPr>
                        <a:t>e.g. Udemy, Coursera</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Excellent storefront, catalogue, reviews and checkout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Aggregators: the provider owns no customer relationship and has no integrated CRM</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Learning management
</a:t>
                      </a:r>
                      <a:r>
                        <a:rPr sz="900">
                          <a:solidFill>
                            <a:srgbClr val="5A6472"/>
                          </a:solidFill>
                          <a:latin typeface="Arial"/>
                          <a:ea typeface="Arial"/>
                          <a:cs typeface="Arial"/>
                        </a:rPr>
                        <a:t>e.g. Moodle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Strong at delivering and tracking course content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Built around content, not selling; commerce and CRM are plug-ins bolted 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CRM platforms
</a:t>
                      </a:r>
                      <a:r>
                        <a:rPr sz="900">
                          <a:solidFill>
                            <a:srgbClr val="5A6472"/>
                          </a:solidFill>
                          <a:latin typeface="Arial"/>
                          <a:ea typeface="Arial"/>
                          <a:cs typeface="Arial"/>
                        </a:rPr>
                        <a:t>e.g. Salesforce, HubSpot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Powerful contacts, pipelines, lead scoring and reporting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Generic: no course catalogue, trainer calendar or public storefront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E-commerce engines
</a:t>
                      </a:r>
                      <a:r>
                        <a:rPr sz="900">
                          <a:solidFill>
                            <a:srgbClr val="5A6472"/>
                          </a:solidFill>
                          <a:latin typeface="Arial"/>
                          <a:ea typeface="Arial"/>
                          <a:cs typeface="Arial"/>
                        </a:rPr>
                        <a:t>e.g. WooCommerce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Self-hosted and able to sell anything, including courses</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 course is just a product: no lead stages, tutoring sessions or corporate training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bl>
          </a:graphicData>
        </a:graphic>
      </p:graphicFrame>
      <p:sp>
        <p:nvSpPr>
          <p:cNvPr id="12" name="Shape 8">
            <a:extLst xmlns:a="http://schemas.openxmlformats.org/drawingml/2006/main">
              <a:ext uri="{FF2B5EF4-FFF2-40B4-BE49-F238E27FC236}">
                <a16:creationId xmlns:a16="http://schemas.microsoft.com/office/drawing/2014/main" id="{3707C931-91D0-4161-BC14-38D4F28E4CD6}"/>
              </a:ext>
            </a:extLst>
          </p:cNvPr>
          <p:cNvSpPr>
            <a:spLocks xmlns:a="http://schemas.openxmlformats.org/drawingml/2006/main" noGrp="1"/>
          </p:cNvSpPr>
          <p:nvPr/>
        </p:nvSpPr>
        <p:spPr>
          <a:xfrm xmlns:a="http://schemas.openxmlformats.org/drawingml/2006/main">
            <a:off x="411480" y="3877056"/>
            <a:ext cx="8321040" cy="658368"/>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5B4E9A36-4998-424B-A3E9-44AAD6A2B16F}"/>
              </a:ext>
            </a:extLst>
          </p:cNvPr>
          <p:cNvSpPr>
            <a:spLocks xmlns:a="http://schemas.openxmlformats.org/drawingml/2006/main" noGrp="1"/>
          </p:cNvSpPr>
          <p:nvPr/>
        </p:nvSpPr>
        <p:spPr>
          <a:xfrm xmlns:a="http://schemas.openxmlformats.org/drawingml/2006/main">
            <a:off x="557784" y="3913632"/>
            <a:ext cx="8028432"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50" b="1">
                <a:solidFill>
                  <a:srgbClr val="FFFFFF"/>
                </a:solidFill>
                <a:latin typeface="Arial"/>
                <a:ea typeface="Arial"/>
                <a:cs typeface="Arial"/>
              </a:rPr>
              <a:t>TrainingIT unifies both sides in one application built on one shared data model, and specialises the generic CRM notions for the training domain: course sessions, trainer calendars, per-hour tutoring with employee discounts, and course-level click-through analytics.</a:t>
            </a:r>
            <a:endParaRPr sz="1050"/>
          </a:p>
        </p:txBody>
      </p:sp>
    </p:spTree>
    <p:extLst>
      <p:ext uri="{BB962C8B-B14F-4D97-AF65-F5344CB8AC3E}">
        <p14:creationId xmlns:p14="http://schemas.microsoft.com/office/powerpoint/2010/main" val="394741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d2fd574fa5bd468b"/>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15A84AA-236C-4ACA-89BF-E25C39C364CA}"/>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Contribution</a:t>
            </a:r>
            <a:endParaRPr sz="2100"/>
          </a:p>
        </p:txBody>
      </p:sp>
      <p:sp>
        <p:nvSpPr>
          <p:cNvPr id="4" name="Text 1">
            <a:extLst xmlns:a="http://schemas.openxmlformats.org/drawingml/2006/main">
              <a:ext uri="{FF2B5EF4-FFF2-40B4-BE49-F238E27FC236}">
                <a16:creationId xmlns:a16="http://schemas.microsoft.com/office/drawing/2014/main" id="{46B7BE7B-AC15-4D4F-B82D-481A8A9861E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A working product, not a prototype: storefront and CRM as one system</a:t>
            </a:r>
            <a:endParaRPr sz="1250"/>
          </a:p>
        </p:txBody>
      </p:sp>
      <p:sp>
        <p:nvSpPr>
          <p:cNvPr id="5" name="Shape 2">
            <a:extLst xmlns:a="http://schemas.openxmlformats.org/drawingml/2006/main">
              <a:ext uri="{FF2B5EF4-FFF2-40B4-BE49-F238E27FC236}">
                <a16:creationId xmlns:a16="http://schemas.microsoft.com/office/drawing/2014/main" id="{93D093B6-CC0D-4711-BBD4-06FC9D0A390C}"/>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842590B-488A-417D-903D-AD363BEF095E}"/>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61F12FF5-AC1B-43AA-91D0-0C26939A5567}"/>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C7C89ACB-E327-4060-B660-A08C173D9063}"/>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D5FA4E08-6ED6-4C61-A0C2-A2035160F70A}"/>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3 / 13</a:t>
            </a:r>
            <a:endParaRPr sz="750"/>
          </a:p>
        </p:txBody>
      </p:sp>
      <p:sp>
        <p:nvSpPr>
          <p:cNvPr id="10" name="Shape 7">
            <a:extLst xmlns:a="http://schemas.openxmlformats.org/drawingml/2006/main">
              <a:ext uri="{FF2B5EF4-FFF2-40B4-BE49-F238E27FC236}">
                <a16:creationId xmlns:a16="http://schemas.microsoft.com/office/drawing/2014/main" id="{023CECC1-64CC-4591-90CD-26E0A8AC68E9}"/>
              </a:ext>
            </a:extLst>
          </p:cNvPr>
          <p:cNvSpPr>
            <a:spLocks xmlns:a="http://schemas.openxmlformats.org/drawingml/2006/main" noGrp="1"/>
          </p:cNvSpPr>
          <p:nvPr/>
        </p:nvSpPr>
        <p:spPr>
          <a:xfrm xmlns:a="http://schemas.openxmlformats.org/drawingml/2006/main">
            <a:off x="411480" y="1024128"/>
            <a:ext cx="8321040" cy="329184"/>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16307174-5F91-4709-B9CD-1860906182C2}"/>
              </a:ext>
            </a:extLst>
          </p:cNvPr>
          <p:cNvSpPr>
            <a:spLocks xmlns:a="http://schemas.openxmlformats.org/drawingml/2006/main" noGrp="1"/>
          </p:cNvSpPr>
          <p:nvPr/>
        </p:nvSpPr>
        <p:spPr>
          <a:xfrm xmlns:a="http://schemas.openxmlformats.org/drawingml/2006/main">
            <a:off x="530352" y="1024128"/>
            <a:ext cx="808329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Applied contribution</a:t>
            </a:r>
            <a:endParaRPr sz="1300"/>
          </a:p>
        </p:txBody>
      </p:sp>
      <p:sp>
        <p:nvSpPr>
          <p:cNvPr id="12" name="Shape 9">
            <a:extLst xmlns:a="http://schemas.openxmlformats.org/drawingml/2006/main">
              <a:ext uri="{FF2B5EF4-FFF2-40B4-BE49-F238E27FC236}">
                <a16:creationId xmlns:a16="http://schemas.microsoft.com/office/drawing/2014/main" id="{C0C10BCF-CC6E-4729-9C4A-56379C024AE2}"/>
              </a:ext>
            </a:extLst>
          </p:cNvPr>
          <p:cNvSpPr>
            <a:spLocks xmlns:a="http://schemas.openxmlformats.org/drawingml/2006/main" noGrp="1"/>
          </p:cNvSpPr>
          <p:nvPr/>
        </p:nvSpPr>
        <p:spPr>
          <a:xfrm xmlns:a="http://schemas.openxmlformats.org/drawingml/2006/main">
            <a:off x="411480" y="1353312"/>
            <a:ext cx="8321040" cy="6583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31E3210C-784C-472A-BFB3-CFFBFE06BF57}"/>
              </a:ext>
            </a:extLst>
          </p:cNvPr>
          <p:cNvSpPr>
            <a:spLocks xmlns:a="http://schemas.openxmlformats.org/drawingml/2006/main" noGrp="1"/>
          </p:cNvSpPr>
          <p:nvPr/>
        </p:nvSpPr>
        <p:spPr>
          <a:xfrm xmlns:a="http://schemas.openxmlformats.org/drawingml/2006/main">
            <a:off x="557784" y="1399032"/>
            <a:ext cx="80284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TrainingIT is a functional web application: a course marketplace whose every customer action is recorded exactly once in a complete CRM back office, on a Java domain layer organised around classic design patterns and an event-driven core, with an optional Claude-powered AI layer.</a:t>
            </a:r>
            <a:endParaRPr sz="1100"/>
          </a:p>
        </p:txBody>
      </p:sp>
      <p:sp>
        <p:nvSpPr>
          <p:cNvPr id="14" name="Shape 11">
            <a:extLst xmlns:a="http://schemas.openxmlformats.org/drawingml/2006/main">
              <a:ext uri="{FF2B5EF4-FFF2-40B4-BE49-F238E27FC236}">
                <a16:creationId xmlns:a16="http://schemas.microsoft.com/office/drawing/2014/main" id="{ED45381F-7172-4901-9ECE-A11537C867DF}"/>
              </a:ext>
            </a:extLst>
          </p:cNvPr>
          <p:cNvSpPr>
            <a:spLocks xmlns:a="http://schemas.openxmlformats.org/drawingml/2006/main" noGrp="1"/>
          </p:cNvSpPr>
          <p:nvPr/>
        </p:nvSpPr>
        <p:spPr>
          <a:xfrm xmlns:a="http://schemas.openxmlformats.org/drawingml/2006/main">
            <a:off x="411480" y="2084832"/>
            <a:ext cx="4069080" cy="329184"/>
          </a:xfrm>
          <a:prstGeom xmlns:a="http://schemas.openxmlformats.org/drawingml/2006/main" prst="rect">
            <a:avLst/>
          </a:prstGeom>
          <a:solidFill xmlns:a="http://schemas.openxmlformats.org/drawingml/2006/main">
            <a:srgbClr val="2588E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495E2495-B21B-4BC1-8D76-C356D7A6AADF}"/>
              </a:ext>
            </a:extLst>
          </p:cNvPr>
          <p:cNvSpPr>
            <a:spLocks xmlns:a="http://schemas.openxmlformats.org/drawingml/2006/main" noGrp="1"/>
          </p:cNvSpPr>
          <p:nvPr/>
        </p:nvSpPr>
        <p:spPr>
          <a:xfrm xmlns:a="http://schemas.openxmlformats.org/drawingml/2006/main">
            <a:off x="53035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Objectives</a:t>
            </a:r>
            <a:endParaRPr sz="1300"/>
          </a:p>
        </p:txBody>
      </p:sp>
      <p:sp>
        <p:nvSpPr>
          <p:cNvPr id="16" name="Shape 13">
            <a:extLst xmlns:a="http://schemas.openxmlformats.org/drawingml/2006/main">
              <a:ext uri="{FF2B5EF4-FFF2-40B4-BE49-F238E27FC236}">
                <a16:creationId xmlns:a16="http://schemas.microsoft.com/office/drawing/2014/main" id="{3727C62C-0809-4559-91DB-E1CD7C694D18}"/>
              </a:ext>
            </a:extLst>
          </p:cNvPr>
          <p:cNvSpPr>
            <a:spLocks xmlns:a="http://schemas.openxmlformats.org/drawingml/2006/main" noGrp="1"/>
          </p:cNvSpPr>
          <p:nvPr/>
        </p:nvSpPr>
        <p:spPr>
          <a:xfrm xmlns:a="http://schemas.openxmlformats.org/drawingml/2006/main">
            <a:off x="41148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7C2185EA-B927-4E74-8595-B4CFA8D6DBD8}"/>
              </a:ext>
            </a:extLst>
          </p:cNvPr>
          <p:cNvSpPr>
            <a:spLocks xmlns:a="http://schemas.openxmlformats.org/drawingml/2006/main" noGrp="1"/>
          </p:cNvSpPr>
          <p:nvPr/>
        </p:nvSpPr>
        <p:spPr>
          <a:xfrm xmlns:a="http://schemas.openxmlformats.org/drawingml/2006/main">
            <a:off x="557784" y="2478024"/>
            <a:ext cx="3776472"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 public client portal: browse, purchase, review, book one-to-one tutoring.</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An administrator portal with seven management tabs.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 domain layer on design patterns and an event-driven core, so one action propagates into several automatic reactions.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An optional AI assistant that degrades gracefully.</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All operational and CRM data persisted in MariaDB.</a:t>
            </a:r>
            <a:endParaRPr sz="1050"/>
          </a:p>
        </p:txBody>
      </p:sp>
      <p:sp>
        <p:nvSpPr>
          <p:cNvPr id="18" name="Shape 15">
            <a:extLst xmlns:a="http://schemas.openxmlformats.org/drawingml/2006/main">
              <a:ext uri="{FF2B5EF4-FFF2-40B4-BE49-F238E27FC236}">
                <a16:creationId xmlns:a16="http://schemas.microsoft.com/office/drawing/2014/main" id="{B3C37865-3653-44A8-B201-BBCFAB5EB20F}"/>
              </a:ext>
            </a:extLst>
          </p:cNvPr>
          <p:cNvSpPr>
            <a:spLocks xmlns:a="http://schemas.openxmlformats.org/drawingml/2006/main" noGrp="1"/>
          </p:cNvSpPr>
          <p:nvPr/>
        </p:nvSpPr>
        <p:spPr>
          <a:xfrm xmlns:a="http://schemas.openxmlformats.org/drawingml/2006/main">
            <a:off x="4663440" y="2084832"/>
            <a:ext cx="406908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30A6C0C9-6325-42FF-AB01-F671E913C3AB}"/>
              </a:ext>
            </a:extLst>
          </p:cNvPr>
          <p:cNvSpPr>
            <a:spLocks xmlns:a="http://schemas.openxmlformats.org/drawingml/2006/main" noGrp="1"/>
          </p:cNvSpPr>
          <p:nvPr/>
        </p:nvSpPr>
        <p:spPr>
          <a:xfrm xmlns:a="http://schemas.openxmlformats.org/drawingml/2006/main">
            <a:off x="478231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Design boundary</a:t>
            </a:r>
            <a:endParaRPr sz="1300"/>
          </a:p>
        </p:txBody>
      </p:sp>
      <p:sp>
        <p:nvSpPr>
          <p:cNvPr id="20" name="Shape 17">
            <a:extLst xmlns:a="http://schemas.openxmlformats.org/drawingml/2006/main">
              <a:ext uri="{FF2B5EF4-FFF2-40B4-BE49-F238E27FC236}">
                <a16:creationId xmlns:a16="http://schemas.microsoft.com/office/drawing/2014/main" id="{00757C56-3A1F-416A-A5CD-9A99A74B3C86}"/>
              </a:ext>
            </a:extLst>
          </p:cNvPr>
          <p:cNvSpPr>
            <a:spLocks xmlns:a="http://schemas.openxmlformats.org/drawingml/2006/main" noGrp="1"/>
          </p:cNvSpPr>
          <p:nvPr/>
        </p:nvSpPr>
        <p:spPr>
          <a:xfrm xmlns:a="http://schemas.openxmlformats.org/drawingml/2006/main">
            <a:off x="466344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1" name="Text 18">
            <a:extLst xmlns:a="http://schemas.openxmlformats.org/drawingml/2006/main">
              <a:ext uri="{FF2B5EF4-FFF2-40B4-BE49-F238E27FC236}">
                <a16:creationId xmlns:a16="http://schemas.microsoft.com/office/drawing/2014/main" id="{EEC4C66A-FA2C-4F42-A751-6E2C60C2D254}"/>
              </a:ext>
            </a:extLst>
          </p:cNvPr>
          <p:cNvSpPr>
            <a:spLocks xmlns:a="http://schemas.openxmlformats.org/drawingml/2006/main" noGrp="1"/>
          </p:cNvSpPr>
          <p:nvPr/>
        </p:nvSpPr>
        <p:spPr>
          <a:xfrm xmlns:a="http://schemas.openxmlformats.org/drawingml/2006/main">
            <a:off x="4809744" y="2459736"/>
            <a:ext cx="3776472" cy="18470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050">
                <a:solidFill>
                  <a:srgbClr val="1A1A1A"/>
                </a:solidFill>
                <a:latin typeface="Arial"/>
                <a:ea typeface="Arial"/>
                <a:cs typeface="Arial"/>
              </a:rPr>
              <a:t>The goal is not a general-purpose e-commerce platform, nor a general-purpose CRM.</a:t>
            </a:r>
            <a:endParaRPr sz="1050"/>
          </a:p>
          <a:p xmlns:a="http://schemas.openxmlformats.org/drawingml/2006/main">
            <a:pPr marL="0" indent="0">
              <a:lnSpc>
                <a:spcPct val="112000"/>
              </a:lnSpc>
              <a:buNone/>
            </a:pPr>
            <a:endParaRPr sz="1050"/>
          </a:p>
          <a:p xmlns:a="http://schemas.openxmlformats.org/drawingml/2006/main">
            <a:pPr marL="0" indent="0">
              <a:lnSpc>
                <a:spcPct val="112000"/>
              </a:lnSpc>
              <a:buNone/>
            </a:pPr>
            <a:r>
              <a:rPr sz="1050">
                <a:solidFill>
                  <a:srgbClr val="1A1A1A"/>
                </a:solidFill>
                <a:latin typeface="Arial"/>
                <a:ea typeface="Arial"/>
                <a:cs typeface="Arial"/>
              </a:rPr>
              <a:t>The goal is one coherent product for a training company: a storefront a learner can use without instructions, over a CRM core a small team can actually run - where the AI layer is strictly additive and never a dependency.</a:t>
            </a:r>
            <a:endParaRPr sz="1050"/>
          </a:p>
        </p:txBody>
      </p:sp>
    </p:spTree>
    <p:extLst>
      <p:ext uri="{BB962C8B-B14F-4D97-AF65-F5344CB8AC3E}">
        <p14:creationId xmlns:p14="http://schemas.microsoft.com/office/powerpoint/2010/main" val="19494080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1f70b35773034cf2"/>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C246A7D-B01F-4F79-9D25-668AB3768F89}"/>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Architecture</a:t>
            </a:r>
            <a:endParaRPr sz="2100"/>
          </a:p>
        </p:txBody>
      </p:sp>
      <p:sp>
        <p:nvSpPr>
          <p:cNvPr id="4" name="Text 1">
            <a:extLst xmlns:a="http://schemas.openxmlformats.org/drawingml/2006/main">
              <a:ext uri="{FF2B5EF4-FFF2-40B4-BE49-F238E27FC236}">
                <a16:creationId xmlns:a16="http://schemas.microsoft.com/office/drawing/2014/main" id="{2BBE07EC-D54E-40F1-9C4E-CD765A3F9C6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Four layers behind one REST API and a real-time event stream</a:t>
            </a:r>
            <a:endParaRPr sz="1250"/>
          </a:p>
        </p:txBody>
      </p:sp>
      <p:sp>
        <p:nvSpPr>
          <p:cNvPr id="5" name="Shape 2">
            <a:extLst xmlns:a="http://schemas.openxmlformats.org/drawingml/2006/main">
              <a:ext uri="{FF2B5EF4-FFF2-40B4-BE49-F238E27FC236}">
                <a16:creationId xmlns:a16="http://schemas.microsoft.com/office/drawing/2014/main" id="{FEA2E2E2-84A7-4EE9-8DF7-C854B6CA8A09}"/>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032E8035-4713-480E-A0DD-970696A89552}"/>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B6C6FA67-A1A1-4F44-B2CA-22882CC8BCFA}"/>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A8D30708-C90E-4D9D-91B3-1EDD60BB6197}"/>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4A1A2BC1-CCAC-4FAB-8811-44096CD521BA}"/>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5 / 13</a:t>
            </a:r>
            <a:endParaRPr sz="750"/>
          </a:p>
        </p:txBody>
      </p:sp>
      <p:pic>
        <p:nvPicPr>
          <p:cNvPr id="29" name="Image 1"/>
          <p:cNvPicPr>
            <a:picLocks xmlns:a="http://schemas.openxmlformats.org/drawingml/2006/main" noChangeAspect="1"/>
          </p:cNvPicPr>
          <p:nvPr/>
        </p:nvPicPr>
        <p:blipFill>
          <a:blip xmlns:r="http://schemas.openxmlformats.org/officeDocument/2006/relationships" xmlns:a="http://schemas.openxmlformats.org/drawingml/2006/main" r:embed="R3980a863b98641d1"/>
          <a:stretch xmlns:a="http://schemas.openxmlformats.org/drawingml/2006/main">
            <a:fillRect l="0" t="0" r="0" b="0"/>
          </a:stretch>
        </p:blipFill>
        <p:spPr>
          <a:xfrm xmlns:a="http://schemas.openxmlformats.org/drawingml/2006/main">
            <a:off x="384048" y="1060704"/>
            <a:ext cx="3986784" cy="3218688"/>
          </a:xfrm>
          <a:prstGeom xmlns:a="http://schemas.openxmlformats.org/drawingml/2006/main" prst="rect">
            <a:avLst/>
          </a:prstGeom>
        </p:spPr>
      </p:pic>
      <p:sp>
        <p:nvSpPr>
          <p:cNvPr id="11" name="Shape 7">
            <a:extLst xmlns:a="http://schemas.openxmlformats.org/drawingml/2006/main">
              <a:ext uri="{FF2B5EF4-FFF2-40B4-BE49-F238E27FC236}">
                <a16:creationId xmlns:a16="http://schemas.microsoft.com/office/drawing/2014/main" id="{004A00FF-77B5-4EFF-B3CA-E517759D9C07}"/>
              </a:ext>
            </a:extLst>
          </p:cNvPr>
          <p:cNvSpPr>
            <a:spLocks xmlns:a="http://schemas.openxmlformats.org/drawingml/2006/main" noGrp="1"/>
          </p:cNvSpPr>
          <p:nvPr/>
        </p:nvSpPr>
        <p:spPr>
          <a:xfrm xmlns:a="http://schemas.openxmlformats.org/drawingml/2006/main">
            <a:off x="4617720" y="1097280"/>
            <a:ext cx="4114800" cy="73152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2" name="Text 8">
            <a:extLst xmlns:a="http://schemas.openxmlformats.org/drawingml/2006/main">
              <a:ext uri="{FF2B5EF4-FFF2-40B4-BE49-F238E27FC236}">
                <a16:creationId xmlns:a16="http://schemas.microsoft.com/office/drawing/2014/main" id="{744EB650-0F99-4E3C-B013-61F2F0A3582C}"/>
              </a:ext>
            </a:extLst>
          </p:cNvPr>
          <p:cNvSpPr>
            <a:spLocks xmlns:a="http://schemas.openxmlformats.org/drawingml/2006/main" noGrp="1"/>
          </p:cNvSpPr>
          <p:nvPr/>
        </p:nvSpPr>
        <p:spPr>
          <a:xfrm xmlns:a="http://schemas.openxmlformats.org/drawingml/2006/main">
            <a:off x="4745736" y="1133856"/>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Presentation - Next.js 16, React, Tailwind v4
</a:t>
            </a:r>
            <a:r>
              <a:rPr sz="980">
                <a:solidFill>
                  <a:srgbClr val="1A1A1A"/>
                </a:solidFill>
                <a:latin typeface="Arial"/>
                <a:ea typeface="Arial"/>
                <a:cs typeface="Arial"/>
              </a:rPr>
              <a:t>Pages, route guards from the local session, a typed REST client and a Server-Sent Events client for live statistics.</a:t>
            </a:r>
            <a:endParaRPr sz="1050"/>
          </a:p>
        </p:txBody>
      </p:sp>
      <p:sp>
        <p:nvSpPr>
          <p:cNvPr id="13" name="Shape 9">
            <a:extLst xmlns:a="http://schemas.openxmlformats.org/drawingml/2006/main">
              <a:ext uri="{FF2B5EF4-FFF2-40B4-BE49-F238E27FC236}">
                <a16:creationId xmlns:a16="http://schemas.microsoft.com/office/drawing/2014/main" id="{D81689E5-35EF-4360-B52D-447BDE319893}"/>
              </a:ext>
            </a:extLst>
          </p:cNvPr>
          <p:cNvSpPr>
            <a:spLocks xmlns:a="http://schemas.openxmlformats.org/drawingml/2006/main" noGrp="1"/>
          </p:cNvSpPr>
          <p:nvPr/>
        </p:nvSpPr>
        <p:spPr>
          <a:xfrm xmlns:a="http://schemas.openxmlformats.org/drawingml/2006/main">
            <a:off x="4617720" y="1901952"/>
            <a:ext cx="4114800" cy="73152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4" name="Text 10">
            <a:extLst xmlns:a="http://schemas.openxmlformats.org/drawingml/2006/main">
              <a:ext uri="{FF2B5EF4-FFF2-40B4-BE49-F238E27FC236}">
                <a16:creationId xmlns:a16="http://schemas.microsoft.com/office/drawing/2014/main" id="{2E1F6DA4-1896-420C-845D-39B65596580A}"/>
              </a:ext>
            </a:extLst>
          </p:cNvPr>
          <p:cNvSpPr>
            <a:spLocks xmlns:a="http://schemas.openxmlformats.org/drawingml/2006/main" noGrp="1"/>
          </p:cNvSpPr>
          <p:nvPr/>
        </p:nvSpPr>
        <p:spPr>
          <a:xfrm xmlns:a="http://schemas.openxmlformats.org/drawingml/2006/main">
            <a:off x="4745736" y="1938528"/>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Application - Spring Boot 3.5, Java 17
</a:t>
            </a:r>
            <a:r>
              <a:rPr sz="980">
                <a:solidFill>
                  <a:srgbClr val="1A1A1A"/>
                </a:solidFill>
                <a:latin typeface="Arial"/>
                <a:ea typeface="Arial"/>
                <a:cs typeface="Arial"/>
              </a:rPr>
              <a:t>REST controllers under /api, the auth, AI, trainer and report services, and a public statistics broadcaster.</a:t>
            </a:r>
            <a:endParaRPr sz="1050"/>
          </a:p>
        </p:txBody>
      </p:sp>
      <p:sp>
        <p:nvSpPr>
          <p:cNvPr id="15" name="Shape 11">
            <a:extLst xmlns:a="http://schemas.openxmlformats.org/drawingml/2006/main">
              <a:ext uri="{FF2B5EF4-FFF2-40B4-BE49-F238E27FC236}">
                <a16:creationId xmlns:a16="http://schemas.microsoft.com/office/drawing/2014/main" id="{4E3DFBD4-7B4F-48B9-A133-B93DAE86BDFD}"/>
              </a:ext>
            </a:extLst>
          </p:cNvPr>
          <p:cNvSpPr>
            <a:spLocks xmlns:a="http://schemas.openxmlformats.org/drawingml/2006/main" noGrp="1"/>
          </p:cNvSpPr>
          <p:nvPr/>
        </p:nvSpPr>
        <p:spPr>
          <a:xfrm xmlns:a="http://schemas.openxmlformats.org/drawingml/2006/main">
            <a:off x="4617720" y="2706624"/>
            <a:ext cx="4114800" cy="73152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F8691469-F16F-4538-9804-B8FCDDFE65C8}"/>
              </a:ext>
            </a:extLst>
          </p:cNvPr>
          <p:cNvSpPr>
            <a:spLocks xmlns:a="http://schemas.openxmlformats.org/drawingml/2006/main" noGrp="1"/>
          </p:cNvSpPr>
          <p:nvPr/>
        </p:nvSpPr>
        <p:spPr>
          <a:xfrm xmlns:a="http://schemas.openxmlformats.org/drawingml/2006/main">
            <a:off x="4745736" y="2743200"/>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Domain - plain Java
</a:t>
            </a:r>
            <a:r>
              <a:rPr sz="980">
                <a:solidFill>
                  <a:srgbClr val="1A1A1A"/>
                </a:solidFill>
                <a:latin typeface="Arial"/>
                <a:ea typeface="Arial"/>
                <a:cs typeface="Arial"/>
              </a:rPr>
              <a:t>Commands, domain services, an EventBus with observers, and repositories. CrmFacade is the single entry point over all of it.</a:t>
            </a:r>
            <a:endParaRPr sz="1050"/>
          </a:p>
        </p:txBody>
      </p:sp>
      <p:sp>
        <p:nvSpPr>
          <p:cNvPr id="17" name="Shape 13">
            <a:extLst xmlns:a="http://schemas.openxmlformats.org/drawingml/2006/main">
              <a:ext uri="{FF2B5EF4-FFF2-40B4-BE49-F238E27FC236}">
                <a16:creationId xmlns:a16="http://schemas.microsoft.com/office/drawing/2014/main" id="{5C1F7A97-1254-4DE2-8EEA-AD41BE4048EE}"/>
              </a:ext>
            </a:extLst>
          </p:cNvPr>
          <p:cNvSpPr>
            <a:spLocks xmlns:a="http://schemas.openxmlformats.org/drawingml/2006/main" noGrp="1"/>
          </p:cNvSpPr>
          <p:nvPr/>
        </p:nvSpPr>
        <p:spPr>
          <a:xfrm xmlns:a="http://schemas.openxmlformats.org/drawingml/2006/main">
            <a:off x="4617720" y="3511296"/>
            <a:ext cx="4114800" cy="73152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4">
            <a:extLst xmlns:a="http://schemas.openxmlformats.org/drawingml/2006/main">
              <a:ext uri="{FF2B5EF4-FFF2-40B4-BE49-F238E27FC236}">
                <a16:creationId xmlns:a16="http://schemas.microsoft.com/office/drawing/2014/main" id="{873FF069-FD36-45F2-8876-E4DEC2919222}"/>
              </a:ext>
            </a:extLst>
          </p:cNvPr>
          <p:cNvSpPr>
            <a:spLocks xmlns:a="http://schemas.openxmlformats.org/drawingml/2006/main" noGrp="1"/>
          </p:cNvSpPr>
          <p:nvPr/>
        </p:nvSpPr>
        <p:spPr>
          <a:xfrm xmlns:a="http://schemas.openxmlformats.org/drawingml/2006/main">
            <a:off x="4745736" y="3547872"/>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Persistence - MariaDB via JDBC and HikariCP
</a:t>
            </a:r>
            <a:r>
              <a:rPr sz="980">
                <a:solidFill>
                  <a:srgbClr val="1A1A1A"/>
                </a:solidFill>
                <a:latin typeface="Arial"/>
                <a:ea typeface="Arial"/>
                <a:cs typeface="Arial"/>
              </a:rPr>
              <a:t>Contacts, enrolments, invoices and issues survive restarts; the schema is created and updated at start-up.</a:t>
            </a:r>
            <a:endParaRPr sz="1050"/>
          </a:p>
        </p:txBody>
      </p:sp>
    </p:spTree>
    <p:extLst>
      <p:ext uri="{BB962C8B-B14F-4D97-AF65-F5344CB8AC3E}">
        <p14:creationId xmlns:p14="http://schemas.microsoft.com/office/powerpoint/2010/main" val="17733860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37114ca431644061"/>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C8E71BC-F6B7-49EA-9BB7-3C10F6CD5352}"/>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The AI Layer</a:t>
            </a:r>
            <a:endParaRPr sz="2100"/>
          </a:p>
        </p:txBody>
      </p:sp>
      <p:sp>
        <p:nvSpPr>
          <p:cNvPr id="4" name="Text 1">
            <a:extLst xmlns:a="http://schemas.openxmlformats.org/drawingml/2006/main">
              <a:ext uri="{FF2B5EF4-FFF2-40B4-BE49-F238E27FC236}">
                <a16:creationId xmlns:a16="http://schemas.microsoft.com/office/drawing/2014/main" id="{13456033-C247-41AB-820F-C8A50D7A9F9B}"/>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Optional intelligence, powered by the Anthropic Claude API</a:t>
            </a:r>
            <a:endParaRPr sz="1250"/>
          </a:p>
        </p:txBody>
      </p:sp>
      <p:sp>
        <p:nvSpPr>
          <p:cNvPr id="5" name="Shape 2">
            <a:extLst xmlns:a="http://schemas.openxmlformats.org/drawingml/2006/main">
              <a:ext uri="{FF2B5EF4-FFF2-40B4-BE49-F238E27FC236}">
                <a16:creationId xmlns:a16="http://schemas.microsoft.com/office/drawing/2014/main" id="{A92C9F6A-740A-42B7-A138-00DFCFFD9A3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D9A9F68F-7D16-4670-9CC7-747DB270573D}"/>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360A12E2-A854-4BE6-8679-9834678E0F1D}"/>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28E4E19B-189A-46FC-B2E5-DBF0ED80A66C}"/>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70B0EEAB-671F-41F2-BDBE-C0FB679F4962}"/>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10 / 13</a:t>
            </a:r>
            <a:endParaRPr sz="750"/>
          </a:p>
        </p:txBody>
      </p:sp>
      <p:sp>
        <p:nvSpPr>
          <p:cNvPr id="10" name="Shape 7">
            <a:extLst xmlns:a="http://schemas.openxmlformats.org/drawingml/2006/main">
              <a:ext uri="{FF2B5EF4-FFF2-40B4-BE49-F238E27FC236}">
                <a16:creationId xmlns:a16="http://schemas.microsoft.com/office/drawing/2014/main" id="{D94BF2A2-F9F1-4B06-95F0-F5BE9ACA9760}"/>
              </a:ext>
            </a:extLst>
          </p:cNvPr>
          <p:cNvSpPr>
            <a:spLocks xmlns:a="http://schemas.openxmlformats.org/drawingml/2006/main" noGrp="1"/>
          </p:cNvSpPr>
          <p:nvPr/>
        </p:nvSpPr>
        <p:spPr>
          <a:xfrm xmlns:a="http://schemas.openxmlformats.org/drawingml/2006/main">
            <a:off x="411480" y="1078992"/>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56FF6AE0-A929-48F8-B6A4-A6B3E8A970A3}"/>
              </a:ext>
            </a:extLst>
          </p:cNvPr>
          <p:cNvSpPr>
            <a:spLocks xmlns:a="http://schemas.openxmlformats.org/drawingml/2006/main" noGrp="1"/>
          </p:cNvSpPr>
          <p:nvPr/>
        </p:nvSpPr>
        <p:spPr>
          <a:xfrm xmlns:a="http://schemas.openxmlformats.org/drawingml/2006/main">
            <a:off x="539496" y="1115568"/>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Conversational assistant   </a:t>
            </a:r>
            <a:r>
              <a:rPr sz="860">
                <a:solidFill>
                  <a:srgbClr val="2588E6"/>
                </a:solidFill>
                <a:latin typeface="Courier New"/>
                <a:ea typeface="Courier New"/>
                <a:cs typeface="Courier New"/>
              </a:rPr>
              <a:t>/api/ai/chat
</a:t>
            </a:r>
            <a:r>
              <a:rPr sz="980">
                <a:solidFill>
                  <a:srgbClr val="1A1A1A"/>
                </a:solidFill>
                <a:latin typeface="Arial"/>
                <a:ea typeface="Arial"/>
                <a:cs typeface="Arial"/>
              </a:rPr>
              <a:t>Answers questions about courses, enrolment and corporate training, using the live catalogue as context.</a:t>
            </a:r>
            <a:endParaRPr sz="1080"/>
          </a:p>
        </p:txBody>
      </p:sp>
      <p:sp>
        <p:nvSpPr>
          <p:cNvPr id="12" name="Shape 9">
            <a:extLst xmlns:a="http://schemas.openxmlformats.org/drawingml/2006/main">
              <a:ext uri="{FF2B5EF4-FFF2-40B4-BE49-F238E27FC236}">
                <a16:creationId xmlns:a16="http://schemas.microsoft.com/office/drawing/2014/main" id="{F272372E-CD5B-4039-8F7A-572854FF4122}"/>
              </a:ext>
            </a:extLst>
          </p:cNvPr>
          <p:cNvSpPr>
            <a:spLocks xmlns:a="http://schemas.openxmlformats.org/drawingml/2006/main" noGrp="1"/>
          </p:cNvSpPr>
          <p:nvPr/>
        </p:nvSpPr>
        <p:spPr>
          <a:xfrm xmlns:a="http://schemas.openxmlformats.org/drawingml/2006/main">
            <a:off x="411480" y="1865376"/>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EF50E2EF-1B62-4995-8275-8787AEF8CB03}"/>
              </a:ext>
            </a:extLst>
          </p:cNvPr>
          <p:cNvSpPr>
            <a:spLocks xmlns:a="http://schemas.openxmlformats.org/drawingml/2006/main" noGrp="1"/>
          </p:cNvSpPr>
          <p:nvPr/>
        </p:nvSpPr>
        <p:spPr>
          <a:xfrm xmlns:a="http://schemas.openxmlformats.org/drawingml/2006/main">
            <a:off x="539496" y="1901952"/>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Recommendation quiz   </a:t>
            </a:r>
            <a:r>
              <a:rPr sz="860">
                <a:solidFill>
                  <a:srgbClr val="2588E6"/>
                </a:solidFill>
                <a:latin typeface="Courier New"/>
                <a:ea typeface="Courier New"/>
                <a:cs typeface="Courier New"/>
              </a:rPr>
              <a:t>/api/ai/recommendations/visitor
</a:t>
            </a:r>
            <a:r>
              <a:rPr sz="980">
                <a:solidFill>
                  <a:srgbClr val="1A1A1A"/>
                </a:solidFill>
                <a:latin typeface="Arial"/>
                <a:ea typeface="Arial"/>
                <a:cs typeface="Arial"/>
              </a:rPr>
              <a:t>Matches a visitor's interests, level and goal to courses, each with a fit score and a reason.</a:t>
            </a:r>
            <a:endParaRPr sz="1080"/>
          </a:p>
        </p:txBody>
      </p:sp>
      <p:sp>
        <p:nvSpPr>
          <p:cNvPr id="14" name="Shape 11">
            <a:extLst xmlns:a="http://schemas.openxmlformats.org/drawingml/2006/main">
              <a:ext uri="{FF2B5EF4-FFF2-40B4-BE49-F238E27FC236}">
                <a16:creationId xmlns:a16="http://schemas.microsoft.com/office/drawing/2014/main" id="{4F804CBE-F92D-455A-977F-1F7ECD803A4F}"/>
              </a:ext>
            </a:extLst>
          </p:cNvPr>
          <p:cNvSpPr>
            <a:spLocks xmlns:a="http://schemas.openxmlformats.org/drawingml/2006/main" noGrp="1"/>
          </p:cNvSpPr>
          <p:nvPr/>
        </p:nvSpPr>
        <p:spPr>
          <a:xfrm xmlns:a="http://schemas.openxmlformats.org/drawingml/2006/main">
            <a:off x="411480" y="2651760"/>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6659BFE7-BB99-4558-8786-F6D9CC428BB6}"/>
              </a:ext>
            </a:extLst>
          </p:cNvPr>
          <p:cNvSpPr>
            <a:spLocks xmlns:a="http://schemas.openxmlformats.org/drawingml/2006/main" noGrp="1"/>
          </p:cNvSpPr>
          <p:nvPr/>
        </p:nvSpPr>
        <p:spPr>
          <a:xfrm xmlns:a="http://schemas.openxmlformats.org/drawingml/2006/main">
            <a:off x="539496" y="2688336"/>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Per-company recommendations   </a:t>
            </a:r>
            <a:r>
              <a:rPr sz="860">
                <a:solidFill>
                  <a:srgbClr val="2588E6"/>
                </a:solidFill>
                <a:latin typeface="Courier New"/>
                <a:ea typeface="Courier New"/>
                <a:cs typeface="Courier New"/>
              </a:rPr>
              <a:t>/api/ai/recommendations/company
</a:t>
            </a:r>
            <a:r>
              <a:rPr sz="980">
                <a:solidFill>
                  <a:srgbClr val="1A1A1A"/>
                </a:solidFill>
                <a:latin typeface="Arial"/>
                <a:ea typeface="Arial"/>
                <a:cs typeface="Arial"/>
              </a:rPr>
              <a:t>Analyses employee roles and interests to propose a training programme for a whole team.</a:t>
            </a:r>
            <a:endParaRPr sz="1080"/>
          </a:p>
        </p:txBody>
      </p:sp>
      <p:sp>
        <p:nvSpPr>
          <p:cNvPr id="16" name="Shape 13">
            <a:extLst xmlns:a="http://schemas.openxmlformats.org/drawingml/2006/main">
              <a:ext uri="{FF2B5EF4-FFF2-40B4-BE49-F238E27FC236}">
                <a16:creationId xmlns:a16="http://schemas.microsoft.com/office/drawing/2014/main" id="{B74B32C8-584C-4649-9B42-90ED6FE23568}"/>
              </a:ext>
            </a:extLst>
          </p:cNvPr>
          <p:cNvSpPr>
            <a:spLocks xmlns:a="http://schemas.openxmlformats.org/drawingml/2006/main" noGrp="1"/>
          </p:cNvSpPr>
          <p:nvPr/>
        </p:nvSpPr>
        <p:spPr>
          <a:xfrm xmlns:a="http://schemas.openxmlformats.org/drawingml/2006/main">
            <a:off x="411480" y="3438144"/>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8425344E-FE1D-48F7-9B9B-D0F89F4D11F9}"/>
              </a:ext>
            </a:extLst>
          </p:cNvPr>
          <p:cNvSpPr>
            <a:spLocks xmlns:a="http://schemas.openxmlformats.org/drawingml/2006/main" noGrp="1"/>
          </p:cNvSpPr>
          <p:nvPr/>
        </p:nvSpPr>
        <p:spPr>
          <a:xfrm xmlns:a="http://schemas.openxmlformats.org/drawingml/2006/main">
            <a:off x="539496" y="3474720"/>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Live page translation   </a:t>
            </a:r>
            <a:r>
              <a:rPr sz="860">
                <a:solidFill>
                  <a:srgbClr val="2588E6"/>
                </a:solidFill>
                <a:latin typeface="Courier New"/>
                <a:ea typeface="Courier New"/>
                <a:cs typeface="Courier New"/>
              </a:rPr>
              <a:t>/api/ai/translate
</a:t>
            </a:r>
            <a:r>
              <a:rPr sz="980">
                <a:solidFill>
                  <a:srgbClr val="1A1A1A"/>
                </a:solidFill>
                <a:latin typeface="Arial"/>
                <a:ea typeface="Arial"/>
                <a:cs typeface="Arial"/>
              </a:rPr>
              <a:t>Translates the interface into any language, preserving brand names, people, e-mails and numbers.</a:t>
            </a:r>
            <a:endParaRPr sz="1080"/>
          </a:p>
        </p:txBody>
      </p:sp>
      <p:sp>
        <p:nvSpPr>
          <p:cNvPr id="18" name="Shape 15">
            <a:extLst xmlns:a="http://schemas.openxmlformats.org/drawingml/2006/main">
              <a:ext uri="{FF2B5EF4-FFF2-40B4-BE49-F238E27FC236}">
                <a16:creationId xmlns:a16="http://schemas.microsoft.com/office/drawing/2014/main" id="{197CEC19-9D2E-4E0A-A63C-192CF343F77D}"/>
              </a:ext>
            </a:extLst>
          </p:cNvPr>
          <p:cNvSpPr>
            <a:spLocks xmlns:a="http://schemas.openxmlformats.org/drawingml/2006/main" noGrp="1"/>
          </p:cNvSpPr>
          <p:nvPr/>
        </p:nvSpPr>
        <p:spPr>
          <a:xfrm xmlns:a="http://schemas.openxmlformats.org/drawingml/2006/main">
            <a:off x="411480" y="4224528"/>
            <a:ext cx="457200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343DCC68-ED23-434B-AB6A-5D172B6E7F0D}"/>
              </a:ext>
            </a:extLst>
          </p:cNvPr>
          <p:cNvSpPr>
            <a:spLocks xmlns:a="http://schemas.openxmlformats.org/drawingml/2006/main" noGrp="1"/>
          </p:cNvSpPr>
          <p:nvPr/>
        </p:nvSpPr>
        <p:spPr>
          <a:xfrm xmlns:a="http://schemas.openxmlformats.org/drawingml/2006/main">
            <a:off x="530352" y="4224528"/>
            <a:ext cx="433425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Arial"/>
                <a:ea typeface="Arial"/>
                <a:cs typeface="Arial"/>
              </a:rPr>
              <a:t>Strictly additive: with no API key the buttons disappear</a:t>
            </a:r>
            <a:endParaRPr sz="1050"/>
          </a:p>
        </p:txBody>
      </p:sp>
      <p:sp>
        <p:nvSpPr>
          <p:cNvPr id="20" name="Shape 17">
            <a:extLst xmlns:a="http://schemas.openxmlformats.org/drawingml/2006/main">
              <a:ext uri="{FF2B5EF4-FFF2-40B4-BE49-F238E27FC236}">
                <a16:creationId xmlns:a16="http://schemas.microsoft.com/office/drawing/2014/main" id="{542A7CB2-50F8-453D-AAA5-C76C664CB12E}"/>
              </a:ext>
            </a:extLst>
          </p:cNvPr>
          <p:cNvSpPr>
            <a:spLocks xmlns:a="http://schemas.openxmlformats.org/drawingml/2006/main" noGrp="1"/>
          </p:cNvSpPr>
          <p:nvPr/>
        </p:nvSpPr>
        <p:spPr>
          <a:xfrm xmlns:a="http://schemas.openxmlformats.org/drawingml/2006/main">
            <a:off x="411480" y="4535424"/>
            <a:ext cx="4572000" cy="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3e81c80a23204180"/>
          <a:stretch xmlns:a="http://schemas.openxmlformats.org/drawingml/2006/main">
            <a:fillRect l="0" t="0" r="0" b="0"/>
          </a:stretch>
        </p:blipFill>
        <p:spPr>
          <a:xfrm xmlns:a="http://schemas.openxmlformats.org/drawingml/2006/main">
            <a:off x="5230368" y="1115568"/>
            <a:ext cx="3502152" cy="2185416"/>
          </a:xfrm>
          <a:prstGeom xmlns:a="http://schemas.openxmlformats.org/drawingml/2006/main" prst="rect">
            <a:avLst/>
          </a:prstGeom>
        </p:spPr>
      </p:pic>
      <p:sp>
        <p:nvSpPr>
          <p:cNvPr id="22" name="Shape 18">
            <a:extLst xmlns:a="http://schemas.openxmlformats.org/drawingml/2006/main">
              <a:ext uri="{FF2B5EF4-FFF2-40B4-BE49-F238E27FC236}">
                <a16:creationId xmlns:a16="http://schemas.microsoft.com/office/drawing/2014/main" id="{51CB07D1-D1C9-4290-937E-30462CCE1830}"/>
              </a:ext>
            </a:extLst>
          </p:cNvPr>
          <p:cNvSpPr>
            <a:spLocks xmlns:a="http://schemas.openxmlformats.org/drawingml/2006/main" noGrp="1"/>
          </p:cNvSpPr>
          <p:nvPr/>
        </p:nvSpPr>
        <p:spPr>
          <a:xfrm xmlns:a="http://schemas.openxmlformats.org/drawingml/2006/main">
            <a:off x="5230368" y="3419856"/>
            <a:ext cx="3502152" cy="11155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C6FD0085-BC31-49BE-94A6-43E9352851C8}"/>
              </a:ext>
            </a:extLst>
          </p:cNvPr>
          <p:cNvSpPr>
            <a:spLocks xmlns:a="http://schemas.openxmlformats.org/drawingml/2006/main" noGrp="1"/>
          </p:cNvSpPr>
          <p:nvPr/>
        </p:nvSpPr>
        <p:spPr>
          <a:xfrm xmlns:a="http://schemas.openxmlformats.org/drawingml/2006/main">
            <a:off x="5376672" y="3456432"/>
            <a:ext cx="3209544"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00">
                <a:solidFill>
                  <a:srgbClr val="1A1A1A"/>
                </a:solidFill>
                <a:latin typeface="Arial"/>
                <a:ea typeface="Arial"/>
                <a:cs typeface="Arial"/>
              </a:rPr>
              <a:t>All four features share one Claude client and one API key. I implemented the prompts, the REST endpoints, the structured JSON response handling and the matching interfaces - and made sure the rest of the application stays fully operational when AI is not configured.</a:t>
            </a:r>
            <a:endParaRPr sz="1000"/>
          </a:p>
        </p:txBody>
      </p:sp>
    </p:spTree>
    <p:extLst>
      <p:ext uri="{BB962C8B-B14F-4D97-AF65-F5344CB8AC3E}">
        <p14:creationId xmlns:p14="http://schemas.microsoft.com/office/powerpoint/2010/main" val="14751299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dc5109059e6c461e"/>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E34A00B-2C45-C3A7-554E-CC4F3A0A7E09}"/>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Demo</a:t>
            </a:r>
            <a:endParaRPr sz="2100"/>
          </a:p>
        </p:txBody>
      </p:sp>
      <p:sp>
        <p:nvSpPr>
          <p:cNvPr id="4" name="Text 1">
            <a:extLst xmlns:a="http://schemas.openxmlformats.org/drawingml/2006/main">
              <a:ext uri="{FF2B5EF4-FFF2-40B4-BE49-F238E27FC236}">
                <a16:creationId xmlns:a16="http://schemas.microsoft.com/office/drawing/2014/main" id="{42814A06-A334-7F73-92D2-94CAA0AAE750}"/>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Video</a:t>
            </a:r>
            <a:endParaRPr sz="1250"/>
          </a:p>
        </p:txBody>
      </p:sp>
      <p:sp>
        <p:nvSpPr>
          <p:cNvPr id="5" name="Shape 2">
            <a:extLst xmlns:a="http://schemas.openxmlformats.org/drawingml/2006/main">
              <a:ext uri="{FF2B5EF4-FFF2-40B4-BE49-F238E27FC236}">
                <a16:creationId xmlns:a16="http://schemas.microsoft.com/office/drawing/2014/main" id="{D39D863B-5FD8-4EA5-D889-C2DAE3EA8FC4}"/>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BAA0535-8956-6FC8-77B6-97D1EF35F62E}"/>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CBBADE4-CD4E-65AA-B355-198AF6D3CA72}"/>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8C004D50-2FFC-150E-31B1-380D046274C4}"/>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93AE2192-0D52-37FB-B2E3-CCBF1C1A59C6}"/>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12 / 13</a:t>
            </a:r>
            <a:endParaRPr sz="750"/>
          </a:p>
        </p:txBody>
      </p:sp>
      <p:pic>
        <p:nvPicPr>
          <p:cNvPr id="20" name="Demo"/>
          <p:cNvPicPr>
            <a:picLocks xmlns:a="http://schemas.openxmlformats.org/drawingml/2006/main" noChangeAspect="1"/>
          </p:cNvPicPr>
          <p:nvPr/>
        </p:nvPicPr>
        <p:blipFill>
          <a:blip xmlns:r="http://schemas.openxmlformats.org/officeDocument/2006/relationships" xmlns:a="http://schemas.openxmlformats.org/drawingml/2006/main" r:embed="R143a7fe250cb42b9"/>
          <a:stretch xmlns:a="http://schemas.openxmlformats.org/drawingml/2006/main">
            <a:fillRect l="0" t="0" r="0" b="0"/>
          </a:stretch>
        </p:blipFill>
        <p:spPr>
          <a:xfrm xmlns:a="http://schemas.openxmlformats.org/drawingml/2006/main">
            <a:off x="1143000" y="389763"/>
            <a:ext cx="7662672" cy="4310253"/>
          </a:xfrm>
          <a:prstGeom xmlns:a="http://schemas.openxmlformats.org/drawingml/2006/main" prst="rect">
            <a:avLst/>
          </a:prstGeom>
        </p:spPr>
      </p:pic>
    </p:spTree>
    <p:extLst>
      <p:ext uri="{BB962C8B-B14F-4D97-AF65-F5344CB8AC3E}">
        <p14:creationId xmlns:p14="http://schemas.microsoft.com/office/powerpoint/2010/main" val="23826265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11b419feef4c4c12"/>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9A3C18B-0775-4ED9-A725-FD9AD1EDBA6E}"/>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Conclusion and Future Work</a:t>
            </a:r>
            <a:endParaRPr sz="2100"/>
          </a:p>
        </p:txBody>
      </p:sp>
      <p:sp>
        <p:nvSpPr>
          <p:cNvPr id="4" name="Text 1">
            <a:extLst xmlns:a="http://schemas.openxmlformats.org/drawingml/2006/main">
              <a:ext uri="{FF2B5EF4-FFF2-40B4-BE49-F238E27FC236}">
                <a16:creationId xmlns:a16="http://schemas.microsoft.com/office/drawing/2014/main" id="{4CFF8458-30E9-4228-BD5D-30B37C53E556}"/>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product where the storefront and the CRM are the same system</a:t>
            </a:r>
            <a:endParaRPr sz="1250"/>
          </a:p>
        </p:txBody>
      </p:sp>
      <p:sp>
        <p:nvSpPr>
          <p:cNvPr id="5" name="Shape 2">
            <a:extLst xmlns:a="http://schemas.openxmlformats.org/drawingml/2006/main">
              <a:ext uri="{FF2B5EF4-FFF2-40B4-BE49-F238E27FC236}">
                <a16:creationId xmlns:a16="http://schemas.microsoft.com/office/drawing/2014/main" id="{04764120-F329-457C-BA0C-E044E3D8AB8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C3CB3065-7CBC-496D-9DEB-4114157AA708}"/>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544210E4-6CE6-4D3E-BB1C-793131169F40}"/>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7012BAA1-6AC4-44BA-8CE9-284806DE9505}"/>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AC6AD8FE-CFD9-47EC-93F1-0F01A7424B9B}"/>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13 / 13</a:t>
            </a:r>
            <a:endParaRPr sz="750"/>
          </a:p>
        </p:txBody>
      </p:sp>
      <p:sp>
        <p:nvSpPr>
          <p:cNvPr id="10" name="Shape 7">
            <a:extLst xmlns:a="http://schemas.openxmlformats.org/drawingml/2006/main">
              <a:ext uri="{FF2B5EF4-FFF2-40B4-BE49-F238E27FC236}">
                <a16:creationId xmlns:a16="http://schemas.microsoft.com/office/drawing/2014/main" id="{3DA865FF-0F5F-4AF0-B131-BDD1E6A4C211}"/>
              </a:ext>
            </a:extLst>
          </p:cNvPr>
          <p:cNvSpPr>
            <a:spLocks xmlns:a="http://schemas.openxmlformats.org/drawingml/2006/main" noGrp="1"/>
          </p:cNvSpPr>
          <p:nvPr/>
        </p:nvSpPr>
        <p:spPr>
          <a:xfrm xmlns:a="http://schemas.openxmlformats.org/drawingml/2006/main">
            <a:off x="384048" y="1042416"/>
            <a:ext cx="416052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B646920D-C837-4715-AA15-3D5A238CDDC8}"/>
              </a:ext>
            </a:extLst>
          </p:cNvPr>
          <p:cNvSpPr>
            <a:spLocks xmlns:a="http://schemas.openxmlformats.org/drawingml/2006/main" noGrp="1"/>
          </p:cNvSpPr>
          <p:nvPr/>
        </p:nvSpPr>
        <p:spPr>
          <a:xfrm xmlns:a="http://schemas.openxmlformats.org/drawingml/2006/main">
            <a:off x="502920"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Implemented</a:t>
            </a:r>
            <a:endParaRPr sz="1300"/>
          </a:p>
        </p:txBody>
      </p:sp>
      <p:sp>
        <p:nvSpPr>
          <p:cNvPr id="12" name="Shape 9">
            <a:extLst xmlns:a="http://schemas.openxmlformats.org/drawingml/2006/main">
              <a:ext uri="{FF2B5EF4-FFF2-40B4-BE49-F238E27FC236}">
                <a16:creationId xmlns:a16="http://schemas.microsoft.com/office/drawing/2014/main" id="{E420EA54-D305-47B6-859A-493FBCFD8E3A}"/>
              </a:ext>
            </a:extLst>
          </p:cNvPr>
          <p:cNvSpPr>
            <a:spLocks xmlns:a="http://schemas.openxmlformats.org/drawingml/2006/main" noGrp="1"/>
          </p:cNvSpPr>
          <p:nvPr/>
        </p:nvSpPr>
        <p:spPr>
          <a:xfrm xmlns:a="http://schemas.openxmlformats.org/drawingml/2006/main">
            <a:off x="384048"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26C23B61-1D52-4B46-BB4E-B7646DBBE424}"/>
              </a:ext>
            </a:extLst>
          </p:cNvPr>
          <p:cNvSpPr>
            <a:spLocks xmlns:a="http://schemas.openxmlformats.org/drawingml/2006/main" noGrp="1"/>
          </p:cNvSpPr>
          <p:nvPr/>
        </p:nvSpPr>
        <p:spPr>
          <a:xfrm xmlns:a="http://schemas.openxmlformats.org/drawingml/2006/main">
            <a:off x="530352"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client portal: catalogue, one-click purchase, star reviews, 1:1 booking with calendar and payment, issue reporting.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seven-tab administrator portal: contacts, courses, purchases, invoices, analytics, employees,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event-driven Java domain layer on classic design patterns, with automatic invoicing and lead scoring.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Live statistics over SSE, Excel import, and CSV / Excel / PDF export.</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optional Claude layer: assistant, recommendation quiz, per-company advice, live translation.</a:t>
            </a:r>
            <a:endParaRPr sz="980"/>
          </a:p>
        </p:txBody>
      </p:sp>
      <p:sp>
        <p:nvSpPr>
          <p:cNvPr id="14" name="Shape 11">
            <a:extLst xmlns:a="http://schemas.openxmlformats.org/drawingml/2006/main">
              <a:ext uri="{FF2B5EF4-FFF2-40B4-BE49-F238E27FC236}">
                <a16:creationId xmlns:a16="http://schemas.microsoft.com/office/drawing/2014/main" id="{033BD3D6-9E3C-423C-AF8E-DE4A0BC0CB77}"/>
              </a:ext>
            </a:extLst>
          </p:cNvPr>
          <p:cNvSpPr>
            <a:spLocks xmlns:a="http://schemas.openxmlformats.org/drawingml/2006/main" noGrp="1"/>
          </p:cNvSpPr>
          <p:nvPr/>
        </p:nvSpPr>
        <p:spPr>
          <a:xfrm xmlns:a="http://schemas.openxmlformats.org/drawingml/2006/main">
            <a:off x="4599432" y="1042416"/>
            <a:ext cx="4160520" cy="310896"/>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8C0E26BF-171A-40D8-A0D2-7E5A5BE0D2AE}"/>
              </a:ext>
            </a:extLst>
          </p:cNvPr>
          <p:cNvSpPr>
            <a:spLocks xmlns:a="http://schemas.openxmlformats.org/drawingml/2006/main" noGrp="1"/>
          </p:cNvSpPr>
          <p:nvPr/>
        </p:nvSpPr>
        <p:spPr>
          <a:xfrm xmlns:a="http://schemas.openxmlformats.org/drawingml/2006/main">
            <a:off x="4718304"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Limitations and next steps</a:t>
            </a:r>
            <a:endParaRPr sz="1300"/>
          </a:p>
        </p:txBody>
      </p:sp>
      <p:sp>
        <p:nvSpPr>
          <p:cNvPr id="16" name="Shape 13">
            <a:extLst xmlns:a="http://schemas.openxmlformats.org/drawingml/2006/main">
              <a:ext uri="{FF2B5EF4-FFF2-40B4-BE49-F238E27FC236}">
                <a16:creationId xmlns:a16="http://schemas.microsoft.com/office/drawing/2014/main" id="{E13E70A1-EA18-4B12-8BBC-246923C99E2C}"/>
              </a:ext>
            </a:extLst>
          </p:cNvPr>
          <p:cNvSpPr>
            <a:spLocks xmlns:a="http://schemas.openxmlformats.org/drawingml/2006/main" noGrp="1"/>
          </p:cNvSpPr>
          <p:nvPr/>
        </p:nvSpPr>
        <p:spPr>
          <a:xfrm xmlns:a="http://schemas.openxmlformats.org/drawingml/2006/main">
            <a:off x="4599432"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2B6E366C-4C16-435D-8635-41312B3EF15C}"/>
              </a:ext>
            </a:extLst>
          </p:cNvPr>
          <p:cNvSpPr>
            <a:spLocks xmlns:a="http://schemas.openxmlformats.org/drawingml/2006/main" noGrp="1"/>
          </p:cNvSpPr>
          <p:nvPr/>
        </p:nvSpPr>
        <p:spPr>
          <a:xfrm xmlns:a="http://schemas.openxmlformats.org/drawingml/2006/main">
            <a:off x="4745736"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Automated test suite - unit and integration tests over the commands, observers, scoring strategies and REST endpoints, enabling continuous integration.</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Stronger authentication - token-based sessions, password hashing at rest, e-mail verification and a genuine reset flow with expiring links.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Richer analytics - historical trends, cohort analysis and exportable dashboards beyond point-in-time metrics.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Deeper AI - conversation memory and AI summaries of support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Deployment and scaling - containerising the two services for a cloud deployment.</a:t>
            </a:r>
            <a:endParaRPr sz="980"/>
          </a:p>
        </p:txBody>
      </p:sp>
      <p:sp>
        <p:nvSpPr>
          <p:cNvPr id="18" name="Shape 15">
            <a:extLst xmlns:a="http://schemas.openxmlformats.org/drawingml/2006/main">
              <a:ext uri="{FF2B5EF4-FFF2-40B4-BE49-F238E27FC236}">
                <a16:creationId xmlns:a16="http://schemas.microsoft.com/office/drawing/2014/main" id="{D4B95D50-5058-4807-91D7-0BFA0600FC57}"/>
              </a:ext>
            </a:extLst>
          </p:cNvPr>
          <p:cNvSpPr>
            <a:spLocks xmlns:a="http://schemas.openxmlformats.org/drawingml/2006/main" noGrp="1"/>
          </p:cNvSpPr>
          <p:nvPr/>
        </p:nvSpPr>
        <p:spPr>
          <a:xfrm xmlns:a="http://schemas.openxmlformats.org/drawingml/2006/main">
            <a:off x="384048" y="3913632"/>
            <a:ext cx="8375904" cy="54864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93265322-C172-4692-8536-1B71500A401C}"/>
              </a:ext>
            </a:extLst>
          </p:cNvPr>
          <p:cNvSpPr>
            <a:spLocks xmlns:a="http://schemas.openxmlformats.org/drawingml/2006/main" noGrp="1"/>
          </p:cNvSpPr>
          <p:nvPr/>
        </p:nvSpPr>
        <p:spPr>
          <a:xfrm xmlns:a="http://schemas.openxmlformats.org/drawingml/2006/main">
            <a:off x="530352" y="3950208"/>
            <a:ext cx="80832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80">
                <a:solidFill>
                  <a:srgbClr val="1A1A1A"/>
                </a:solidFill>
                <a:latin typeface="Arial"/>
                <a:ea typeface="Arial"/>
                <a:cs typeface="Arial"/>
              </a:rPr>
              <a:t>A visitor becomes a tracked lead on registration and a customer on the first purchase, and every action after that propagates into the administration portal by itself. That is the result: one click, several reactions, no reconciliation.</a:t>
            </a:r>
            <a:endParaRPr sz="1080"/>
          </a:p>
        </p:txBody>
      </p:sp>
    </p:spTree>
    <p:extLst>
      <p:ext uri="{BB962C8B-B14F-4D97-AF65-F5344CB8AC3E}">
        <p14:creationId xmlns:p14="http://schemas.microsoft.com/office/powerpoint/2010/main" val="205808319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2026-08-31T22:47:25.9580000Z</dcterms:created>
  <dcterms:modified xsi:type="dcterms:W3CDTF">2026-08-31T22:47:25.9580000Z</dcterms:modified>
</coreProperties>
</file>