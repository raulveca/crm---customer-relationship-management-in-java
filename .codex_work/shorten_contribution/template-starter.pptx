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7a9811ed44a89" /><Relationship Type="http://schemas.openxmlformats.org/officeDocument/2006/relationships/extended-properties" Target="/docProps/app.xml" Id="Rb23e490ea3924b30" /><Relationship Type="http://schemas.openxmlformats.org/officeDocument/2006/relationships/officeDocument" Target="/ppt/presentation.xml" Id="Re56f95f3ac4a4b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645cb4aec4bf4"/>
  </p:sldMasterIdLst>
  <p:notesMasterIdLst>
    <p:notesMasterId xmlns:r="http://schemas.openxmlformats.org/officeDocument/2006/relationships" r:id="R7a8137aa22c44309"/>
  </p:notesMasterIdLst>
  <p:sldIdLst>
    <p:sldId xmlns:r="http://schemas.openxmlformats.org/officeDocument/2006/relationships" id="256" r:id="R9c76078f87cc4dd2"/>
    <p:sldId xmlns:r="http://schemas.openxmlformats.org/officeDocument/2006/relationships" id="257" r:id="Rb77788e0b79c436a"/>
    <p:sldId xmlns:r="http://schemas.openxmlformats.org/officeDocument/2006/relationships" id="258" r:id="R68b0b3fb12f0434d"/>
    <p:sldId xmlns:r="http://schemas.openxmlformats.org/officeDocument/2006/relationships" id="259" r:id="R2a41f570386743fd"/>
    <p:sldId xmlns:r="http://schemas.openxmlformats.org/officeDocument/2006/relationships" id="260" r:id="Rbcb9283905ea4af7"/>
    <p:sldId xmlns:r="http://schemas.openxmlformats.org/officeDocument/2006/relationships" id="261" r:id="R93e9209c685c410e"/>
    <p:sldId xmlns:r="http://schemas.openxmlformats.org/officeDocument/2006/relationships" id="262" r:id="Rdc34f7a0d63945d2"/>
    <p:sldId xmlns:r="http://schemas.openxmlformats.org/officeDocument/2006/relationships" id="263" r:id="R78078ed42f734830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582c81e3cf4ae9" /><Relationship Type="http://schemas.openxmlformats.org/officeDocument/2006/relationships/slideMaster" Target="/ppt/slideMasters/slideMaster1.xml" Id="Rc8f645cb4aec4bf4" /><Relationship Type="http://schemas.openxmlformats.org/officeDocument/2006/relationships/notesMaster" Target="/ppt/notesMasters/notesMaster1.xml" Id="R7a8137aa22c44309" /><Relationship Type="http://schemas.openxmlformats.org/officeDocument/2006/relationships/presProps" Target="/ppt/presProps.xml" Id="R0b9b1940a59c4f3a" /><Relationship Type="http://schemas.openxmlformats.org/officeDocument/2006/relationships/viewProps" Target="/ppt/viewProps.xml" Id="Rde866f80af884274" /><Relationship Type="http://schemas.openxmlformats.org/officeDocument/2006/relationships/tableStyles" Target="/ppt/tableStyles.xml" Id="Rcdf657356efb4d8d" /><Relationship Type="http://schemas.openxmlformats.org/officeDocument/2006/relationships/slide" Target="/ppt/slides/slide1.xml" Id="R9c76078f87cc4dd2" /><Relationship Type="http://schemas.openxmlformats.org/officeDocument/2006/relationships/slide" Target="/ppt/slides/slide2.xml" Id="Rb77788e0b79c436a" /><Relationship Type="http://schemas.openxmlformats.org/officeDocument/2006/relationships/slide" Target="/ppt/slides/slide3.xml" Id="R68b0b3fb12f0434d" /><Relationship Type="http://schemas.openxmlformats.org/officeDocument/2006/relationships/slide" Target="/ppt/slides/slide4.xml" Id="R2a41f570386743fd" /><Relationship Type="http://schemas.openxmlformats.org/officeDocument/2006/relationships/slide" Target="/ppt/slides/slide5.xml" Id="Rbcb9283905ea4af7" /><Relationship Type="http://schemas.openxmlformats.org/officeDocument/2006/relationships/slide" Target="/ppt/slides/slide6.xml" Id="R93e9209c685c410e" /><Relationship Type="http://schemas.openxmlformats.org/officeDocument/2006/relationships/slide" Target="/ppt/slides/slide7.xml" Id="Rdc34f7a0d63945d2" /><Relationship Type="http://schemas.openxmlformats.org/officeDocument/2006/relationships/slide" Target="/ppt/slides/slide8.xml" Id="R78078ed42f73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1ee61214494c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cb70d30d54656" /><Relationship Type="http://schemas.openxmlformats.org/officeDocument/2006/relationships/notesMaster" Target="/ppt/notesMasters/notesMaster1.xml" Id="R951d595dec4b4f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4ba8874ec41a9" /><Relationship Type="http://schemas.openxmlformats.org/officeDocument/2006/relationships/notesMaster" Target="/ppt/notesMasters/notesMaster1.xml" Id="R152be6265dd942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0d1075cd1745e1" /><Relationship Type="http://schemas.openxmlformats.org/officeDocument/2006/relationships/notesMaster" Target="/ppt/notesMasters/notesMaster1.xml" Id="R55b128e4cc4446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de6ad18754057" /><Relationship Type="http://schemas.openxmlformats.org/officeDocument/2006/relationships/notesMaster" Target="/ppt/notesMasters/notesMaster1.xml" Id="Rabf16dd7dbcb4e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a831a7d67c446d" /><Relationship Type="http://schemas.openxmlformats.org/officeDocument/2006/relationships/notesMaster" Target="/ppt/notesMasters/notesMaster1.xml" Id="R189600e6d6cc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21a813f44f44d3" /><Relationship Type="http://schemas.openxmlformats.org/officeDocument/2006/relationships/notesMaster" Target="/ppt/notesMasters/notesMaster1.xml" Id="R122b5824845c4d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40c6d5abe44eba" /><Relationship Type="http://schemas.openxmlformats.org/officeDocument/2006/relationships/notesMaster" Target="/ppt/notesMasters/notesMaster1.xml" Id="R6c195456142f40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1b73e11f124f93" /><Relationship Type="http://schemas.openxmlformats.org/officeDocument/2006/relationships/notesMaster" Target="/ppt/notesMasters/notesMaster1.xml" Id="Rac038573500942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bc6fd60ec4d8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b0e1178dff4940" /><Relationship Type="http://schemas.openxmlformats.org/officeDocument/2006/relationships/slideLayout" Target="/ppt/slideLayouts/slideLayout1.xml" Id="R522d60bde5014d6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d60bde5014d6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d3f21dbb14c9f" /><Relationship Type="http://schemas.openxmlformats.org/officeDocument/2006/relationships/image" Target="/ppt/media/image.png" Id="R32f4c01945e84d5b" /><Relationship Type="http://schemas.openxmlformats.org/officeDocument/2006/relationships/image" Target="/ppt/media/image2.png" Id="R7b06022d40214c33" /><Relationship Type="http://schemas.openxmlformats.org/officeDocument/2006/relationships/notesSlide" Target="/ppt/notesSlides/notesSlide1.xml" Id="Rcc65056e03a8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4e46d65164854" /><Relationship Type="http://schemas.openxmlformats.org/officeDocument/2006/relationships/image" Target="/ppt/media/image3.png" Id="Ree037e4a76644a1d" /><Relationship Type="http://schemas.openxmlformats.org/officeDocument/2006/relationships/notesSlide" Target="/ppt/notesSlides/notesSlide2.xml" Id="R2d893d25904545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1cadce8eb445b" /><Relationship Type="http://schemas.openxmlformats.org/officeDocument/2006/relationships/image" Target="/ppt/media/image3.png" Id="R26bd09b975834c6a" /><Relationship Type="http://schemas.openxmlformats.org/officeDocument/2006/relationships/notesSlide" Target="/ppt/notesSlides/notesSlide3.xml" Id="Rc2b0ad8f481e48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1c2d22a54454e" /><Relationship Type="http://schemas.openxmlformats.org/officeDocument/2006/relationships/image" Target="/ppt/media/image3.png" Id="R69328968daa244e0" /><Relationship Type="http://schemas.openxmlformats.org/officeDocument/2006/relationships/notesSlide" Target="/ppt/notesSlides/notesSlide4.xml" Id="Rdb56a43d90a84c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389be1c2a4fc1" /><Relationship Type="http://schemas.openxmlformats.org/officeDocument/2006/relationships/image" Target="/ppt/media/image3.png" Id="R53d2ddf15a1d459a" /><Relationship Type="http://schemas.openxmlformats.org/officeDocument/2006/relationships/image" Target="/ppt/media/image4.png" Id="R55e3616c495d4001" /><Relationship Type="http://schemas.openxmlformats.org/officeDocument/2006/relationships/notesSlide" Target="/ppt/notesSlides/notesSlide5.xml" Id="R84f1eca05dbe45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28aacbc694b51" /><Relationship Type="http://schemas.openxmlformats.org/officeDocument/2006/relationships/image" Target="/ppt/media/image3.png" Id="Rd76ad4ab1bcf43fd" /><Relationship Type="http://schemas.openxmlformats.org/officeDocument/2006/relationships/image" Target="/ppt/media/image5.png" Id="R9be217feac78447f" /><Relationship Type="http://schemas.openxmlformats.org/officeDocument/2006/relationships/notesSlide" Target="/ppt/notesSlides/notesSlide6.xml" Id="R714e08f480c145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6888117d24f8d" /><Relationship Type="http://schemas.openxmlformats.org/officeDocument/2006/relationships/image" Target="/ppt/media/image3.png" Id="Raeb6ed3009004828" /><Relationship Type="http://schemas.openxmlformats.org/officeDocument/2006/relationships/notesSlide" Target="/ppt/notesSlides/notesSlide7.xml" Id="Rf0ca18986a1642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6a68bf438453c" /><Relationship Type="http://schemas.openxmlformats.org/officeDocument/2006/relationships/image" Target="/ppt/media/image3.png" Id="R7e3c01305c9e4c62" /><Relationship Type="http://schemas.openxmlformats.org/officeDocument/2006/relationships/notesSlide" Target="/ppt/notesSlides/notesSlide8.xml" Id="Rf51ba7e127e944f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2f4c01945e84d5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6022d40214c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BCD47E-62A9-43BE-B567-70C70E0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"/>
            <a:ext cx="4105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 spc="60">
                <a:solidFill>
                  <a:srgbClr val="AFC0DA"/>
                </a:solidFill>
                <a:latin typeface="Arial"/>
                <a:ea typeface="Arial"/>
                <a:cs typeface="Arial"/>
              </a:rPr>
              <a:t>WEST UNIVERSITY OF TIMIȘOARA</a:t>
            </a:r>
            <a:endParaRPr sz="10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5784892-3249-4781-8F3B-BFD1618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8046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</a:t>
            </a:r>
            <a:endParaRPr sz="3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BB20CC1-4ED3-42E0-855D-17158EC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38528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Web-Based Application for Selling Programming Courses</a:t>
            </a:r>
            <a:endParaRPr sz="1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A3F8A3-0E1A-4E42-BA77-32F42E2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Veca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9DEBD2A-658C-44F3-89EC-32F648C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Supervisor: Lect. Dr. Sebastian Ștefăniga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059EE7-3E39-40EA-8820-AB3D84D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Faculty of Computer Science  ·  Bachelor Thesis Defense, 2026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61AB54-2CEF-440F-A653-8184766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663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E93B8"/>
                </a:solidFill>
                <a:latin typeface="Arial"/>
                <a:ea typeface="Arial"/>
                <a:cs typeface="Arial"/>
              </a:rPr>
              <a:t>www.uvt.ro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47312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37e4a76644a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B685FA4-565D-45B0-8E2F-DE84F47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Problem and Motivation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6CB270-EE20-42E1-A773-3B47F22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storefront and a CRM should not depend on fragile synchronization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C2EF545-8A68-4B57-A6E0-C48CC3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5F7218-37F7-4C51-87E9-E19FF06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54C690-2F1B-4CAC-A572-715B10E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9385B98-5111-413A-80E8-EAEE43F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39CA11-429B-428A-9298-C856D72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1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BEC467-AAE3-47A8-A0EF-842DCF2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customer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Learners need a clear catalogue, trusted reviews, quick purchase and simple tutoring reservations.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A45968-90F2-48FE-A2B3-B46AA44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57400"/>
            <a:ext cx="4892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business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company needs leads, purchases, invoices, analytics and corporate clients in one operational view.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013C427-69EB-4F2E-AC85-F82D774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integration gap.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Separate tools create duplicate or inconsistent data and require slow manual reconciliation.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A6810FB-9C9B-4B19-9984-2E4E74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051560"/>
            <a:ext cx="32004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984CEA-1F52-4515-9AA9-C35D26F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51560"/>
            <a:ext cx="2962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BB80CA4-78A4-4E1C-97F3-76DB316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3200400" cy="1664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11ABE2-9F74-4213-A108-3D60663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1426464"/>
            <a:ext cx="2907792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Use one application and one shared data model so each customer action is captured once and drives the relevant CRM processes automatically.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2B46F3E-E88B-42FD-900E-AB519ED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9232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614951-AC17-4FA8-AA26-C822230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035808"/>
            <a:ext cx="290779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system. Two role-based experiences. No manual reconciliation.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8327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d09b975834c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6FCBAF-3D2E-4809-A619-60B9C0B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Related Work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5448BBE-B548-4D0A-A95E-B0C23A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Existing tools solve parts of the problem, not the whole workflow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68EC9F-EC37-4214-9F3E-59FB391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771C921-EB12-4C65-A6E9-C524DAB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428692-0E4D-4EBA-9388-C0A97B5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28BBE6-427B-4C1B-8055-5277B00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66FACC-4FE1-4F33-AEF4-690A30D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2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A991D9-1BC4-45E7-BF23-D2CAA7E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family of tools covers one side well; none unifies a course storefront and a CRM in a single product.</a:t>
            </a:r>
            <a:endParaRPr sz="1100"/>
          </a:p>
        </p:txBody>
      </p:sp>
      <p:graphicFrame>
        <p:nvGraphicFramePr>
          <p:cNvPr id="25" name="Table 0"/>
          <p:cNvGraphicFramePr/>
          <p:nvPr/>
        </p:nvGraphicFramePr>
        <p:xfrm>
          <a:off xmlns:a="http://schemas.openxmlformats.org/drawingml/2006/main" x="411480" y="1335024"/>
          <a:ext xmlns:a="http://schemas.openxmlformats.org/drawingml/2006/main" cx="832104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2848"/>
                <a:gridCol w="2834640"/>
                <a:gridCol w="3273552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family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Course marketplaces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Udemy, Coursera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Excellent storefront, catalogue, reviews and checkout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Aggregators: the provider owns no customer relationship and has no integrated CRM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Learning management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Moodle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Strong at delivering and tracking course content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Built around content, not selling; commerce and CRM are plug-ins bolted 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CRM platforms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Salesforce, HubSpot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Powerful contacts, pipelines, lead scoring and reporting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Generic: no course catalogue, trainer calendar or public storefront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E-commerce engines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WooCommerce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Self-hosted and able to sell anything, including courses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 course is just a product: no lead stages, tutoring sessions or corporate training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707C931-91D0-4161-BC14-38D4F28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77056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4E9A36-4998-424B-A3E9-44AAD6A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913632"/>
            <a:ext cx="802843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 unifies both sides in one application built on one shared data model, and specialises the generic CRM notions for the training domain: course sessions, trainer calendars, per-hour tutoring with employee discounts, and course-level click-through analytics.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94741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28968daa244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5A84AA-236C-4ACA-89BF-E25C39C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Contribution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B7BE7B-AC15-4D4F-B82D-481A8A9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working product, not a prototype: storefront and CRM as one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D093B6-CC0D-4711-BBD4-06FC9D0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842590B-488A-417D-903D-AD363BE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F12FF5-AC1B-43AA-91D0-0C26939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7C89ACB-E327-4060-B660-A08C173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FA4E08-6ED6-4C61-A0C2-A203516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3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23CECC1-64CC-4591-90CD-26E0A8A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8321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307174-5F91-4709-B9CD-1860906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24128"/>
            <a:ext cx="8083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contribution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0C10BCF-CC6E-4729-9C4A-56379C0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53312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E3210C-784C-472A-BFB3-CFFBFE0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399032"/>
            <a:ext cx="8028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is a functional web application: a course marketplace whose every customer action is recorded exactly once in a complete CRM back office, on a Java domain layer organised around classic design patterns and an event-driven core, with an optional Claude-powered AI layer.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D45381F-7172-4901-9ECE-A11537C8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5E2495-B21B-4BC1-8D76-C356D7A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727C62C-0809-4559-91DB-E1CD7C6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2185EA-B927-4E74-8595-B4CFA8D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478024"/>
            <a:ext cx="3776472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public client portal: browse, purchase, review, book one-to-one tutoring.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administrator portal with seven management tabs.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domain layer on design patterns and an event-driven core, so one action propagates into several automatic reactions.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optional AI assistant that degrades gracefully.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operational and CRM data persisted in MariaDB.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3C37865-3653-44A8-B201-BBCFAB5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A6C0C9-6325-42FF-AB01-F671E91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boundary</a:t>
            </a:r>
            <a:endParaRPr sz="13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0757C56-3A1F-416A-A5CD-9A99A74B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C4C66A-FA2C-4F42-A751-6E2C60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459736"/>
            <a:ext cx="3776472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not a general-purpose e-commerce platform, nor a general-purpose CRM.</a:t>
            </a: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one coherent product for a training company: a storefront a learner can use without instructions, over a CRM core a small team can actually run - where the AI layer is strictly additive and never a dependency.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49408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2ddf15a1d45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C246A7D-B01F-4F79-9D25-668AB37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System Architecture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BBE07EC-D54E-40F1-9C4E-CD765A3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Four layers behind one REST API and a real-time event stream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EA2E2E2-84A7-4EE9-8DF7-C854B6C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2E8035-4713-480E-A0DD-970696A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6C6FA67-A1A1-4F44-B2CA-22882CC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8D30708-C90E-4D9D-91B3-1EDD60B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A1A2BC1-CCAC-4FAB-8811-44096CD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4 / 7</a:t>
            </a:r>
            <a:endParaRPr sz="750"/>
          </a:p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3616c495d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8714" y="726342"/>
            <a:ext cx="5441370" cy="3959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86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d4ab1bcf43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C8E71BC-F6B7-49EA-9BB7-3C10F6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The AI Layer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3456033-C247-41AB-820F-C8A50D7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Optional intelligence, powered by the Anthropic Claude API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2C9F6A-740A-42B7-A138-00DFCFF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9A9F68F-7D16-4670-9CC7-747DB27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0A12E2-A854-4BE6-8679-9834678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E4E19B-189A-46FC-B2E5-DBF0ED8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B0EEAB-671F-41F2-BDBE-C0FB679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5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94BF2A2-F9F1-4B06-95F0-F5BE9AC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6FF6AE0-A929-48F8-B6A4-A6B3E8A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115568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Conversational assistant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/api/ai/chat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Answers questions about courses, enrolment and corporate training, using the live catalogue as context.</a:t>
            </a:r>
            <a:endParaRPr sz="108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272372E-CD5B-4039-8F7A-572854F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65376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F50E2EF-1B62-4995-8275-8787AEF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01952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Recommendation quiz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/api/ai/recommendations/visitor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Matches a visitor's interests, level and goal to courses, each with a fit score and a reason.</a:t>
            </a:r>
            <a:endParaRPr sz="10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F804CBE-F92D-455A-977F-1F7ECD8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51760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59BFE7-BB99-4558-8786-F6D9CC4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688336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Per-company recommendations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/api/ai/recommendations/company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Analyses employee roles and interests to propose a training programme for a whole team.</a:t>
            </a:r>
            <a:endParaRPr sz="108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74B32C8-584C-4649-9B42-90ED6FE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38144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425344E-FE1D-48F7-9B9B-D0F89F4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474720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Live page translation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/api/ai/translate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Translates the interface into any language, preserving brand names, people, e-mails and numbers.</a:t>
            </a:r>
            <a:endParaRPr sz="10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7CEC19-9D2E-4E0A-A63C-192CF343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24528"/>
            <a:ext cx="4572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43DCC68-ED23-434B-AB6A-5D172B6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24528"/>
            <a:ext cx="4334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Strictly additive: with no API key the buttons disappear</a:t>
            </a:r>
            <a:endParaRPr sz="10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42A7CB2-50F8-453D-AAA5-C76C664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35424"/>
            <a:ext cx="4572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217feac7844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0368" y="1115568"/>
            <a:ext cx="3502152" cy="2185416"/>
          </a:xfrm>
          <a:prstGeom xmlns:a="http://schemas.openxmlformats.org/drawingml/2006/main" prst="rect">
            <a:avLst/>
          </a:prstGeom>
        </p:spPr>
      </p:pic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1CB07D1-D1C9-4290-937E-30462CC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3502152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6FD0085-BC31-49BE-94A6-43E9352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456432"/>
            <a:ext cx="3209544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0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four features share one Claude client and one API key. I implemented the prompts, the REST endpoints, the structured JSON response handling and the matching interfaces - and made sure the rest of the application stays fully operational when AI is not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5129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6ed300900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E34A00B-2C45-C3A7-554E-CC4F3A0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Application Demo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814A06-A334-7F73-92D2-94CAA0A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Video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9D863B-5FD8-4EA5-D889-C2DAE3E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BAA0535-8956-6FC8-77B6-97D1EF3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BBADE4-CD4E-65AA-B355-198AF6D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004D50-2FFC-150E-31B1-380D046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AE2192-0D52-37FB-B2E3-CCBF1C1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6 / 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382626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c01305c9e4c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D65B376-E1BE-46E4-AB08-55C2491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Conclusion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41FE52-BA53-4D2B-888A-B8C1E05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TrainingIT demonstrates one coherent storefront and CRM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6FAE1D3-DE64-4C31-A19A-8751123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93FD3D6-09A0-436D-B86E-641F4E0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FCF58E4-94A5-4250-A2CD-A2003796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27F7BB-C3AB-4E16-B6C5-269553F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CB1D2E0-0F0F-480F-AE8D-D42C865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7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F85038C-DC06-4E96-AA9A-A743BC1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D5E0C8-9DEF-47A3-9D62-F8BF773E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90F24E0-6556-490A-9EEC-8A689522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38DE53A-5020-4432-85F2-B3DD5A4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 portal: catalogue, purchase, reviews and tutoring.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CRM portal: contacts, purchases, invoices, analytics and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Event-driven domain: automated lead scoring and invoicing.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Live SSE statistics, imports and multi-format exports.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Optional Claude assistant, recommendations and translation.</a:t>
            </a:r>
            <a:endParaRPr sz="9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1F1DD3-F394-4312-BD66-F5BF613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AE8F365-30E5-468B-8470-1D33458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and next steps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93EF342-A280-478B-89B9-DE52C316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30EC76-A3B2-4B4B-A064-F4CAF9D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End-to-end flows verified against a real MariaDB instance.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Duplicate invoices prevented through idempotent processing.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Observer failures are isolated; optional AI degrades safely.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automated tests and production-grade authentication.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richer analytics and cloud deployment.</a:t>
            </a:r>
            <a:endParaRPr sz="9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D69727E-DCAA-45C6-89E5-C534A41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13632"/>
            <a:ext cx="837590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A346125-F990-4C2F-A330-9788DD9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50208"/>
            <a:ext cx="80832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80">
                <a:solidFill>
                  <a:srgbClr val="1A1A1A"/>
                </a:solidFill>
                <a:latin typeface="Arial"/>
                <a:ea typeface="Arial"/>
                <a:cs typeface="Arial"/>
              </a:rPr>
              <a:t>Each customer action is recorded once and becomes immediately available to the business.</a:t>
            </a:r>
            <a:endParaRPr sz="1080"/>
          </a:p>
        </p:txBody>
      </p:sp>
    </p:spTree>
    <p:extLst>
      <p:ext uri="{BB962C8B-B14F-4D97-AF65-F5344CB8AC3E}">
        <p14:creationId xmlns:p14="http://schemas.microsoft.com/office/powerpoint/2010/main" val="20580831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2026-08-31T23:30:55.6000000Z</dcterms:created>
  <dcterms:modified xsi:type="dcterms:W3CDTF">2026-08-31T23:30:55.6000000Z</dcterms:modified>
</coreProperties>
</file>