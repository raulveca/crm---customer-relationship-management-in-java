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804672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700" b="1">
                <a:solidFill>
                  <a:srgbClr val="2A9D8F"/>
                </a:solidFill>
                <a:latin typeface="Aptos"/>
              </a:defRPr>
            </a:pPr>
            <a:r>
              <a:t>Proiect de licență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869680" cy="86868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4400" b="1">
                <a:solidFill>
                  <a:srgbClr val="172033"/>
                </a:solidFill>
                <a:latin typeface="Aptos"/>
              </a:defRPr>
            </a:pPr>
            <a:r>
              <a:t>CRM Training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59152"/>
            <a:ext cx="868680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900" b="0">
                <a:solidFill>
                  <a:srgbClr val="546179"/>
                </a:solidFill>
                <a:latin typeface="Aptos"/>
              </a:defRPr>
            </a:pPr>
            <a:r>
              <a:t>Sistem CRM pentru managementul lead-urilor, clienților și cursurilor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054096"/>
            <a:ext cx="2834640" cy="54864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401568"/>
            <a:ext cx="5303520" cy="420624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550" b="1">
                <a:solidFill>
                  <a:srgbClr val="172033"/>
                </a:solidFill>
                <a:latin typeface="Aptos"/>
              </a:defRPr>
            </a:pPr>
            <a:r>
              <a:t>Java 8 | JDBC | MariaDB | Maven | Design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31920"/>
            <a:ext cx="566928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0">
                <a:solidFill>
                  <a:srgbClr val="546179"/>
                </a:solidFill>
                <a:latin typeface="Aptos"/>
              </a:defRPr>
            </a:pPr>
            <a:r>
              <a:t>Prezentare video: aproximativ 5 minute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078992"/>
            <a:ext cx="2468880" cy="56692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Lead-uri B2C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468880" cy="566928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Pipeline B2B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2761488"/>
            <a:ext cx="2468880" cy="56692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Cursuri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602736"/>
            <a:ext cx="2468880" cy="566928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089904"/>
            <a:ext cx="502920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Autor: [completează numele]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089904"/>
            <a:ext cx="201168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1050" b="0">
                <a:solidFill>
                  <a:srgbClr val="546179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Context și obiectiv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De ce este util un CRM pentru o firmă de training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00:20-01:00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444752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444752"/>
            <a:ext cx="73152" cy="210312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326440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83664"/>
            <a:ext cx="3200400" cy="1591055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Date despre clienți ținute separat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Prioritizare manuală a lead-urilor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Greu de urmărit activități și follow-up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Pipeline B2B fără vizibilitate clară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44752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444752"/>
            <a:ext cx="73152" cy="2103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1536192"/>
            <a:ext cx="326440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Obiectivul aplicației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883664"/>
            <a:ext cx="3200400" cy="1591055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Centralizarea lead-urilor B2C și B2B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Scor automat pentru prioritizare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Urmărirea oportunităților corporate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Legătura între contacte, cursuri și înscrieri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444752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1444752"/>
            <a:ext cx="73152" cy="21031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0456" y="1536192"/>
            <a:ext cx="326440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Public țintă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83664"/>
            <a:ext cx="3200400" cy="1591055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Echipa de vânzări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Coordonatori cursuri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Manageri de training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Administratori ai catalogului de cursuri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10424160" cy="6400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rmAutofit/>
          </a:bodyPr>
          <a:lstStyle/>
          <a:p>
            <a:pPr algn="ctr">
              <a:defRPr sz="2000" b="1">
                <a:solidFill>
                  <a:srgbClr val="172033"/>
                </a:solidFill>
                <a:latin typeface="Aptos"/>
              </a:defRPr>
            </a:pPr>
            <a:r>
              <a:t>Ideea centrală: aplicația urmărește traseul complet de la lead nou până la oportunitate, înscriere și relație comercială măsurabilă.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992624"/>
            <a:ext cx="2971800" cy="658368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B2C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696712"/>
            <a:ext cx="2971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1100" b="0">
                <a:solidFill>
                  <a:srgbClr val="546179"/>
                </a:solidFill>
                <a:latin typeface="Aptos"/>
              </a:defRPr>
            </a:pPr>
            <a:r>
              <a:t>lead-uri individuale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4992624"/>
            <a:ext cx="2971800" cy="658368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B2B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5696712"/>
            <a:ext cx="2971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1100" b="0">
                <a:solidFill>
                  <a:srgbClr val="546179"/>
                </a:solidFill>
                <a:latin typeface="Aptos"/>
              </a:defRPr>
            </a:pPr>
            <a:r>
              <a:t>clienți corporate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4992624"/>
            <a:ext cx="2971800" cy="658368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5696712"/>
            <a:ext cx="297180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1100" b="0">
                <a:solidFill>
                  <a:srgbClr val="546179"/>
                </a:solidFill>
                <a:latin typeface="Aptos"/>
              </a:defRPr>
            </a:pPr>
            <a:r>
              <a:t>cursuri și înscrieri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Funcționalități principale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Ce poate demonstra aplicația în consolă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01:00-01:40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73152" cy="1783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1536192"/>
            <a:ext cx="289864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Contacte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83664"/>
            <a:ext cx="2834640" cy="127101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lead individual B2C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client corporate B2B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căutare după email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status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444752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444752"/>
            <a:ext cx="73152" cy="1783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1416" y="1536192"/>
            <a:ext cx="289864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Lead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883664"/>
            <a:ext cx="2834640" cy="127101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scor inițial 0-100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lead-uri fierbinți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impact din activități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strategii B2C/B2B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444752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73568" y="1444752"/>
            <a:ext cx="73152" cy="178308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9016" y="1536192"/>
            <a:ext cx="289864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Pipeline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883664"/>
            <a:ext cx="2834640" cy="127101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oportunități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etape de vânzare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probabilitate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valoare estimată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49039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749039"/>
            <a:ext cx="73152" cy="178308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3840479"/>
            <a:ext cx="289864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Training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187952"/>
            <a:ext cx="2834640" cy="127101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catalog cursuri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sesiuni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înscrieri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plăți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749039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5968" y="3749039"/>
            <a:ext cx="73152" cy="17830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71416" y="3840479"/>
            <a:ext cx="289864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Activități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187952"/>
            <a:ext cx="2834640" cy="127101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apel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email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meeting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note și follow-up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3749039"/>
            <a:ext cx="3154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73568" y="3749039"/>
            <a:ext cx="73152" cy="1783080"/>
          </a:xfrm>
          <a:prstGeom prst="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6" y="3840479"/>
            <a:ext cx="289864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Rapoarte rapide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187952"/>
            <a:ext cx="2834640" cy="127101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total contacte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contacte pe status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pipeline activ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cursuri active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Arhitectura aplicației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Structura pe straturi și componentele care decuplează fluxurile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01:40-02:25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1" y="1239011"/>
            <a:ext cx="1783080" cy="694944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20" b="1">
                <a:solidFill>
                  <a:srgbClr val="FFFFFF"/>
                </a:solidFill>
                <a:latin typeface="Aptos"/>
              </a:defRPr>
            </a:pPr>
            <a:r>
              <a:t>ConsoleUI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1" y="1988819"/>
            <a:ext cx="178308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40" b="0">
                <a:solidFill>
                  <a:srgbClr val="546179"/>
                </a:solidFill>
                <a:latin typeface="Aptos"/>
              </a:defRPr>
            </a:pPr>
            <a:r>
              <a:t>meniu și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3431" y="1348739"/>
            <a:ext cx="31089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fontScale="92500" lnSpcReduction="10000"/>
          </a:bodyPr>
          <a:lstStyle/>
          <a:p>
            <a:pPr algn="ctr">
              <a:defRPr sz="2300" b="1">
                <a:solidFill>
                  <a:srgbClr val="54617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1" y="1239011"/>
            <a:ext cx="1783080" cy="694944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20" b="1">
                <a:solidFill>
                  <a:srgbClr val="FFFFFF"/>
                </a:solidFill>
                <a:latin typeface="Aptos"/>
              </a:defRPr>
            </a:pPr>
            <a:r>
              <a:t>CrmFacade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1" y="1988819"/>
            <a:ext cx="178308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40" b="0">
                <a:solidFill>
                  <a:srgbClr val="546179"/>
                </a:solidFill>
                <a:latin typeface="Aptos"/>
              </a:defRPr>
            </a:pPr>
            <a:r>
              <a:t>punct unic de intrare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1" y="1348739"/>
            <a:ext cx="31089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fontScale="92500" lnSpcReduction="10000"/>
          </a:bodyPr>
          <a:lstStyle/>
          <a:p>
            <a:pPr algn="ctr">
              <a:defRPr sz="2300" b="1">
                <a:solidFill>
                  <a:srgbClr val="54617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28031" y="1239011"/>
            <a:ext cx="1783080" cy="694944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20" b="1">
                <a:solidFill>
                  <a:srgbClr val="FFFFFF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1988819"/>
            <a:ext cx="178308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40" b="0">
                <a:solidFill>
                  <a:srgbClr val="546179"/>
                </a:solidFill>
                <a:latin typeface="Aptos"/>
              </a:defRPr>
            </a:pPr>
            <a:r>
              <a:t>logică business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1" y="1348739"/>
            <a:ext cx="31089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fontScale="92500" lnSpcReduction="10000"/>
          </a:bodyPr>
          <a:lstStyle/>
          <a:p>
            <a:pPr algn="ctr">
              <a:defRPr sz="2300" b="1">
                <a:solidFill>
                  <a:srgbClr val="54617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6871" y="1239011"/>
            <a:ext cx="1783080" cy="694944"/>
          </a:xfrm>
          <a:prstGeom prst="roundRect">
            <a:avLst/>
          </a:prstGeom>
          <a:solidFill>
            <a:srgbClr val="6A994E"/>
          </a:solidFill>
          <a:ln w="12700">
            <a:solidFill>
              <a:srgbClr val="6A9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20" b="1">
                <a:solidFill>
                  <a:srgbClr val="FFFFFF"/>
                </a:solidFill>
                <a:latin typeface="Aptos"/>
              </a:defRPr>
            </a:pPr>
            <a:r>
              <a:t>Repositories + DAO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1" y="1988819"/>
            <a:ext cx="178308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40" b="0">
                <a:solidFill>
                  <a:srgbClr val="546179"/>
                </a:solidFill>
                <a:latin typeface="Aptos"/>
              </a:defRPr>
            </a:pPr>
            <a:r>
              <a:t>acces la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1" y="1348739"/>
            <a:ext cx="310896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fontScale="92500" lnSpcReduction="10000"/>
          </a:bodyPr>
          <a:lstStyle/>
          <a:p>
            <a:pPr algn="ctr">
              <a:defRPr sz="2300" b="1">
                <a:solidFill>
                  <a:srgbClr val="54617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1" y="1239011"/>
            <a:ext cx="1783080" cy="694944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520" b="1">
                <a:solidFill>
                  <a:srgbClr val="FFFFFF"/>
                </a:solidFill>
                <a:latin typeface="Aptos"/>
              </a:defRPr>
            </a:pPr>
            <a:r>
              <a:t>MariaDB / 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1988819"/>
            <a:ext cx="178308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40" b="0">
                <a:solidFill>
                  <a:srgbClr val="546179"/>
                </a:solidFill>
                <a:latin typeface="Aptos"/>
              </a:defRPr>
            </a:pPr>
            <a:r>
              <a:t>persistență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79" y="2400300"/>
            <a:ext cx="3017520" cy="88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25879" y="2400300"/>
            <a:ext cx="73152" cy="882396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81326" y="2491739"/>
            <a:ext cx="2761487" cy="18642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rPr sz="1400" dirty="0" err="1"/>
              <a:t>CommandInvoker</a:t>
            </a:r>
            <a:endParaRPr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1490470" y="2839213"/>
            <a:ext cx="2697479" cy="5344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lnSpcReduction="10000"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creează contacte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schimbă status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istoric comenzi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74919" y="2400300"/>
            <a:ext cx="2954122" cy="882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74919" y="2400300"/>
            <a:ext cx="63398" cy="882396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30368" y="2491739"/>
            <a:ext cx="2393290" cy="18642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rPr sz="1400" dirty="0" err="1"/>
              <a:t>EventBus</a:t>
            </a:r>
            <a:r>
              <a:rPr sz="1400" dirty="0"/>
              <a:t> + Observers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2839213"/>
            <a:ext cx="2337816" cy="5344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fontScale="85000" lnSpcReduction="20000"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audit log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email welcome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confirmări</a:t>
            </a:r>
            <a:r>
              <a:rPr dirty="0"/>
              <a:t> </a:t>
            </a:r>
            <a:r>
              <a:rPr dirty="0" err="1"/>
              <a:t>înscriere</a:t>
            </a:r>
            <a:endParaRPr dirty="0"/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actualizare</a:t>
            </a:r>
            <a:r>
              <a:rPr dirty="0"/>
              <a:t> </a:t>
            </a:r>
            <a:r>
              <a:rPr dirty="0" err="1"/>
              <a:t>scor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8823959" y="2400300"/>
            <a:ext cx="2954122" cy="9104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823959" y="2400300"/>
            <a:ext cx="59852" cy="694944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79407" y="2491739"/>
            <a:ext cx="2259399" cy="146819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rPr sz="1400" dirty="0" err="1"/>
              <a:t>Validări</a:t>
            </a:r>
            <a:r>
              <a:rPr sz="1400" dirty="0"/>
              <a:t> </a:t>
            </a:r>
            <a:r>
              <a:rPr sz="1400" dirty="0" err="1"/>
              <a:t>și</a:t>
            </a:r>
            <a:r>
              <a:rPr sz="1400" dirty="0"/>
              <a:t> </a:t>
            </a:r>
            <a:r>
              <a:rPr sz="1400" dirty="0" err="1"/>
              <a:t>strategii</a:t>
            </a:r>
            <a:endParaRPr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8988551" y="2839212"/>
            <a:ext cx="2207029" cy="420881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 fontScale="85000" lnSpcReduction="20000"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email/</a:t>
            </a:r>
            <a:r>
              <a:rPr dirty="0" err="1"/>
              <a:t>telefon</a:t>
            </a:r>
            <a:r>
              <a:rPr dirty="0"/>
              <a:t>/GDPR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scoring B2C/B2B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rPr dirty="0"/>
              <a:t>• pricing individual/corporate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614416"/>
            <a:ext cx="10058400" cy="4023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1250" b="0">
                <a:solidFill>
                  <a:srgbClr val="546179"/>
                </a:solidFill>
                <a:latin typeface="Aptos"/>
              </a:defRPr>
            </a:pPr>
            <a:r>
              <a:t>Codul are 93 fișiere Java în pachetul crm, organizate pe model, dao, repository, service, command, observer, strategy, validation și ui.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Modelul de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Entitățile principale și relațiile din baza de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02:25-03:00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2395728"/>
            <a:ext cx="2697480" cy="7680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CONTACTS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508760"/>
            <a:ext cx="2359152" cy="493776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39112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roluri, responsabili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143000"/>
            <a:ext cx="2359152" cy="493776"/>
          </a:xfrm>
          <a:prstGeom prst="roundRect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673352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apel, email, meeting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508760"/>
            <a:ext cx="2359152" cy="493776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039112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pipeline B2B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389120"/>
            <a:ext cx="2359152" cy="493776"/>
          </a:xfrm>
          <a:prstGeom prst="roundRect">
            <a:avLst/>
          </a:prstGeom>
          <a:solidFill>
            <a:srgbClr val="6A994E"/>
          </a:solidFill>
          <a:ln w="12700">
            <a:solidFill>
              <a:srgbClr val="6A9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TRAINERS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19472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specializări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60520"/>
            <a:ext cx="2359152" cy="493776"/>
          </a:xfrm>
          <a:prstGeom prst="roundRect">
            <a:avLst/>
          </a:prstGeom>
          <a:solidFill>
            <a:srgbClr val="E9C46A"/>
          </a:solidFill>
          <a:ln w="127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ENROLLMENTS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690872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contact + curs + plată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4389120"/>
            <a:ext cx="2359152" cy="49377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COURSES /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4919472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catalog și programări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182112"/>
            <a:ext cx="2359152" cy="493776"/>
          </a:xfrm>
          <a:prstGeom prst="roundRect">
            <a:avLst/>
          </a:prstGeom>
          <a:solidFill>
            <a:srgbClr val="546179"/>
          </a:solidFill>
          <a:ln w="12700">
            <a:solidFill>
              <a:srgbClr val="5461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330" b="1">
                <a:solidFill>
                  <a:srgbClr val="FFFFFF"/>
                </a:solidFill>
                <a:latin typeface="Aptos"/>
              </a:defRPr>
            </a:pPr>
            <a:r>
              <a:t>INVOICES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712463"/>
            <a:ext cx="2359152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919" b="0">
                <a:solidFill>
                  <a:srgbClr val="546179"/>
                </a:solidFill>
                <a:latin typeface="Aptos"/>
              </a:defRPr>
            </a:pPr>
            <a:r>
              <a:t>facturare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2743200"/>
            <a:ext cx="1554480" cy="36576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79792" y="2743200"/>
            <a:ext cx="1005840" cy="36576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89320" y="1938528"/>
            <a:ext cx="36576" cy="43891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3182112"/>
            <a:ext cx="36576" cy="731520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605272"/>
            <a:ext cx="1078992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1300" b="1">
                <a:solidFill>
                  <a:srgbClr val="172033"/>
                </a:solidFill>
                <a:latin typeface="Aptos"/>
              </a:defRPr>
            </a:pPr>
            <a:r>
              <a:t>Schema include indexuri pentru email, status, lead_score si stage, plus view-uri pentru hot leads și active pipeline.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Design patterns aplicate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Pattern-urile nu sunt doar teoretice: fiecare susține un flux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03:00-03:50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109728" cy="8046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508760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Singleton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4016" y="1508760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AppConfig, DatabaseConnection, servicii, EventBus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417320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91072" y="1417320"/>
            <a:ext cx="109728" cy="8046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508760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Facade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1508760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CrmFacade simplifică accesul la subsisteme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496312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" y="2496312"/>
            <a:ext cx="109728" cy="804672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2587752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2587752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ContactBuilder și OpportunityBuilder pentru obiecte complexe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2496312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91072" y="2496312"/>
            <a:ext cx="109728" cy="804672"/>
          </a:xfrm>
          <a:prstGeom prst="rect">
            <a:avLst/>
          </a:prstGeom>
          <a:solidFill>
            <a:srgbClr val="6A9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9672" y="2587752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Repository / DAO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2587752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separă logica de business de SQL și CRUD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575304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3232" y="3575304"/>
            <a:ext cx="109728" cy="80467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3666744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14016" y="3666744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operații încapsulate și istoric de execuție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3575304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91072" y="3575304"/>
            <a:ext cx="109728" cy="80467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3666744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Observer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3666744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evenimente pentru audit, email și actualizare scor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654296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3232" y="4654296"/>
            <a:ext cx="109728" cy="8046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1832" y="4745736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4016" y="4745736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lead scoring și pricing individual/corporate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4654296"/>
            <a:ext cx="50749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91072" y="4654296"/>
            <a:ext cx="109728" cy="80467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9672" y="4745736"/>
            <a:ext cx="15087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40" b="1">
                <a:solidFill>
                  <a:srgbClr val="172033"/>
                </a:solidFill>
                <a:latin typeface="Aptos"/>
              </a:defRPr>
            </a:pPr>
            <a:r>
              <a:t>Chain + Factory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1856" y="4745736"/>
            <a:ext cx="3063240" cy="43891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19" b="0">
                <a:solidFill>
                  <a:srgbClr val="546179"/>
                </a:solidFill>
                <a:latin typeface="Aptos"/>
              </a:defRPr>
            </a:pPr>
            <a:r>
              <a:t>validări contact și creare activități/notificări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824728"/>
            <a:ext cx="987552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1250" b="0">
                <a:solidFill>
                  <a:srgbClr val="546179"/>
                </a:solidFill>
                <a:latin typeface="Aptos"/>
              </a:defRPr>
            </a:pPr>
            <a:r>
              <a:t>Prin aceste pattern-uri aplicația devine mai ușor de extins: se pot adăuga noi strategii de scoring, observatori sau tipuri de activități fără schimbări majore în UI.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Scenariu de demo pentru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Ordinea recomandată pentru o prezentare fluidă de 5 minute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03:50-04:35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1499616"/>
            <a:ext cx="27889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Pornire aplicație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865376"/>
            <a:ext cx="27889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arată bannerul și meniul principal</a:t>
            </a:r>
          </a:p>
        </p:txBody>
      </p:sp>
      <p:sp>
        <p:nvSpPr>
          <p:cNvPr id="10" name="Oval 9"/>
          <p:cNvSpPr/>
          <p:nvPr/>
        </p:nvSpPr>
        <p:spPr>
          <a:xfrm>
            <a:off x="4526280" y="1481328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499616"/>
            <a:ext cx="27889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Demo rapid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865376"/>
            <a:ext cx="27889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creează lead B2C, activitate, status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1481328"/>
            <a:ext cx="548640" cy="54864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9992" y="1499616"/>
            <a:ext cx="27889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Client corporate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9992" y="1865376"/>
            <a:ext cx="27889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creează contact B2B cu date fiscale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355848"/>
            <a:ext cx="548640" cy="548640"/>
          </a:xfrm>
          <a:prstGeom prst="ellipse">
            <a:avLst/>
          </a:prstGeom>
          <a:solidFill>
            <a:srgbClr val="6A994E"/>
          </a:solidFill>
          <a:ln w="12700">
            <a:solidFill>
              <a:srgbClr val="6A9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374136"/>
            <a:ext cx="27889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Oportunitate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3739896"/>
            <a:ext cx="27889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adaugă training corporate în pipeline</a:t>
            </a:r>
          </a:p>
        </p:txBody>
      </p:sp>
      <p:sp>
        <p:nvSpPr>
          <p:cNvPr id="19" name="Oval 18"/>
          <p:cNvSpPr/>
          <p:nvPr/>
        </p:nvSpPr>
        <p:spPr>
          <a:xfrm>
            <a:off x="4526280" y="3355848"/>
            <a:ext cx="548640" cy="5486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3374136"/>
            <a:ext cx="27889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3739896"/>
            <a:ext cx="27889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mută etapa și arată probabilitatea</a:t>
            </a:r>
          </a:p>
        </p:txBody>
      </p:sp>
      <p:sp>
        <p:nvSpPr>
          <p:cNvPr id="22" name="Oval 21"/>
          <p:cNvSpPr/>
          <p:nvPr/>
        </p:nvSpPr>
        <p:spPr>
          <a:xfrm>
            <a:off x="8366760" y="3355848"/>
            <a:ext cx="548640" cy="54864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3374136"/>
            <a:ext cx="278892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400" b="1">
                <a:solidFill>
                  <a:srgbClr val="172033"/>
                </a:solidFill>
                <a:latin typeface="Aptos"/>
              </a:defRPr>
            </a:pPr>
            <a:r>
              <a:t>Rapoarte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3739896"/>
            <a:ext cx="2788920" cy="5486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50" b="0">
                <a:solidFill>
                  <a:srgbClr val="546179"/>
                </a:solidFill>
                <a:latin typeface="Aptos"/>
              </a:defRPr>
            </a:pPr>
            <a:r>
              <a:t>hot leads, statistici, cursuri active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5532120"/>
            <a:ext cx="10287000" cy="530352"/>
          </a:xfrm>
          <a:prstGeom prst="roundRect">
            <a:avLst/>
          </a:prstGeom>
          <a:solidFill>
            <a:srgbClr val="264653"/>
          </a:solidFill>
          <a:ln w="12700"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t>Mesaj cheie pentru comisie: sistemul acoperă ciclul lead -&gt; activitate -&gt; scoring -&gt; oportunitate -&gt; curs/înscriere, cu arhitectură modulară și persistență SQL.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91695" cy="5029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7863840" cy="5029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2800" b="1">
                <a:solidFill>
                  <a:srgbClr val="172033"/>
                </a:solidFill>
                <a:latin typeface="Aptos"/>
              </a:defRPr>
            </a:pPr>
            <a:r>
              <a:t>Concluzii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77824"/>
            <a:ext cx="8778240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250" b="0">
                <a:solidFill>
                  <a:srgbClr val="546179"/>
                </a:solidFill>
                <a:latin typeface="Aptos"/>
              </a:defRPr>
            </a:pPr>
            <a:r>
              <a:t>Rezultatul proiectului și direcții de dezvoltare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411480"/>
            <a:ext cx="1600200" cy="310896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04:35-05:00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73152" cy="2057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17296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Ce demonstrează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856232"/>
            <a:ext cx="3108960" cy="15453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aplicație Java modulară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persistență relațională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pattern-uri aplicate practic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flux CRM complet pentru training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4173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417320"/>
            <a:ext cx="73152" cy="2057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1508760"/>
            <a:ext cx="317296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Beneficii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56232"/>
            <a:ext cx="3108960" cy="15453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prioritizare prin lead score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vizibilitate în pipeline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validări și audit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cod extensibil și decuplat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173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3" y="1417320"/>
            <a:ext cx="73152" cy="2057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508760"/>
            <a:ext cx="3172968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350" b="1">
                <a:solidFill>
                  <a:srgbClr val="172033"/>
                </a:solidFill>
                <a:latin typeface="Aptos"/>
              </a:defRPr>
            </a:pPr>
            <a:r>
              <a:t>Extensii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1856232"/>
            <a:ext cx="3108960" cy="1545336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interfață web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autentificare și roluri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dashboard cu rapoarte</a:t>
            </a:r>
          </a:p>
          <a:p>
            <a:pPr algn="l">
              <a:defRPr sz="1060" b="0">
                <a:solidFill>
                  <a:srgbClr val="546179"/>
                </a:solidFill>
                <a:latin typeface="Aptos"/>
              </a:defRPr>
            </a:pPr>
            <a:r>
              <a:t>• API REST și teste 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15968"/>
            <a:ext cx="10058400" cy="7132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ctr">
              <a:defRPr sz="2200" b="1">
                <a:solidFill>
                  <a:srgbClr val="172033"/>
                </a:solidFill>
                <a:latin typeface="Aptos"/>
              </a:defRPr>
            </a:pPr>
            <a:r>
              <a:t>CRM Training IT transforma gestiunea clienților și cursurilor într-un proces urmăribil, măsurabil și pregătit pentru extindere.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087" y="5486400"/>
            <a:ext cx="3931920" cy="502920"/>
          </a:xfrm>
          <a:prstGeom prst="roundRect">
            <a:avLst/>
          </a:prstGeom>
          <a:solidFill>
            <a:srgbClr val="2A9D8F"/>
          </a:solidFill>
          <a:ln w="127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rm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Aptos"/>
              </a:defRPr>
            </a:pPr>
            <a:r>
              <a:t>Mulțumesc!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55680" cy="10972"/>
          </a:xfrm>
          <a:prstGeom prst="rect">
            <a:avLst/>
          </a:prstGeom>
          <a:solidFill>
            <a:srgbClr val="D8D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512064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l">
              <a:defRPr sz="850" b="0">
                <a:solidFill>
                  <a:srgbClr val="546179"/>
                </a:solidFill>
                <a:latin typeface="Aptos"/>
              </a:defRPr>
            </a:pPr>
            <a:r>
              <a:t>CRM Training IT | Proiect de licență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36576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normAutofit/>
          </a:bodyPr>
          <a:lstStyle/>
          <a:p>
            <a:pPr algn="r">
              <a:defRPr sz="850" b="0">
                <a:solidFill>
                  <a:srgbClr val="546179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774</Words>
  <Application>Microsoft Office PowerPoint</Application>
  <PresentationFormat>Widescreen</PresentationFormat>
  <Paragraphs>195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Raul Veca</cp:lastModifiedBy>
  <cp:revision>2</cp:revision>
  <dcterms:created xsi:type="dcterms:W3CDTF">2013-01-27T09:14:16Z</dcterms:created>
  <dcterms:modified xsi:type="dcterms:W3CDTF">2026-05-12T18:17:17Z</dcterms:modified>
  <cp:category/>
</cp:coreProperties>
</file>