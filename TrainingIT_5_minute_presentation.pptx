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41c288f20a43f7" /><Relationship Type="http://schemas.openxmlformats.org/officeDocument/2006/relationships/extended-properties" Target="/docProps/app.xml" Id="Rda6289bdd86044c8" /><Relationship Type="http://schemas.openxmlformats.org/officeDocument/2006/relationships/officeDocument" Target="/ppt/presentation.xml" Id="Rc354e5b7523e467c" /></Relationships>
</file>

<file path=ppt/presentation.xml><?xml version="1.0" encoding="utf-8"?>
<p:presentation xmlns:p="http://schemas.openxmlformats.org/presentationml/2006/main">
  <p:sldMasterIdLst>
    <p:sldMasterId xmlns:r="http://schemas.openxmlformats.org/officeDocument/2006/relationships" id="2147483648" r:id="Rcac9f5d7f13e4e97"/>
  </p:sldMasterIdLst>
  <p:notesMasterIdLst>
    <p:notesMasterId xmlns:r="http://schemas.openxmlformats.org/officeDocument/2006/relationships" r:id="R971ead7925824273"/>
  </p:notesMasterIdLst>
  <p:sldIdLst>
    <p:sldId xmlns:r="http://schemas.openxmlformats.org/officeDocument/2006/relationships" id="256" r:id="R85748ce379a04914"/>
    <p:sldId xmlns:r="http://schemas.openxmlformats.org/officeDocument/2006/relationships" id="257" r:id="R73a0c264777c4ab7"/>
    <p:sldId xmlns:r="http://schemas.openxmlformats.org/officeDocument/2006/relationships" id="258" r:id="Rdfd927f937ee4a43"/>
    <p:sldId xmlns:r="http://schemas.openxmlformats.org/officeDocument/2006/relationships" id="259" r:id="Rec3ab78d855741b4"/>
    <p:sldId xmlns:r="http://schemas.openxmlformats.org/officeDocument/2006/relationships" id="260" r:id="R1b3f5614e06045f2"/>
    <p:sldId xmlns:r="http://schemas.openxmlformats.org/officeDocument/2006/relationships" id="261" r:id="R475f5313d4344c79"/>
    <p:sldId xmlns:r="http://schemas.openxmlformats.org/officeDocument/2006/relationships" id="262" r:id="R44007bf507e94773"/>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465d420ee564e27" /><Relationship Type="http://schemas.openxmlformats.org/officeDocument/2006/relationships/slideMaster" Target="/ppt/slideMasters/slideMaster1.xml" Id="Rcac9f5d7f13e4e97" /><Relationship Type="http://schemas.openxmlformats.org/officeDocument/2006/relationships/notesMaster" Target="/ppt/notesMasters/notesMaster1.xml" Id="R971ead7925824273" /><Relationship Type="http://schemas.openxmlformats.org/officeDocument/2006/relationships/presProps" Target="/ppt/presProps.xml" Id="R23477361f05c4ebc" /><Relationship Type="http://schemas.openxmlformats.org/officeDocument/2006/relationships/viewProps" Target="/ppt/viewProps.xml" Id="Rc968954c7c8f4857" /><Relationship Type="http://schemas.openxmlformats.org/officeDocument/2006/relationships/tableStyles" Target="/ppt/tableStyles.xml" Id="Rb8840ec8fb694438" /><Relationship Type="http://schemas.openxmlformats.org/officeDocument/2006/relationships/slide" Target="/ppt/slides/slide1.xml" Id="R85748ce379a04914" /><Relationship Type="http://schemas.openxmlformats.org/officeDocument/2006/relationships/slide" Target="/ppt/slides/slide2.xml" Id="R73a0c264777c4ab7" /><Relationship Type="http://schemas.openxmlformats.org/officeDocument/2006/relationships/slide" Target="/ppt/slides/slide3.xml" Id="Rdfd927f937ee4a43" /><Relationship Type="http://schemas.openxmlformats.org/officeDocument/2006/relationships/slide" Target="/ppt/slides/slide4.xml" Id="Rec3ab78d855741b4" /><Relationship Type="http://schemas.openxmlformats.org/officeDocument/2006/relationships/slide" Target="/ppt/slides/slide5.xml" Id="R1b3f5614e06045f2" /><Relationship Type="http://schemas.openxmlformats.org/officeDocument/2006/relationships/slide" Target="/ppt/slides/slide6.xml" Id="R475f5313d4344c79" /><Relationship Type="http://schemas.openxmlformats.org/officeDocument/2006/relationships/slide" Target="/ppt/slides/slide7.xml" Id="R44007bf507e947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7d39d5dfc24b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0b179433954992" /><Relationship Type="http://schemas.openxmlformats.org/officeDocument/2006/relationships/notesMaster" Target="/ppt/notesMasters/notesMaster1.xml" Id="R9c9ffd78f15245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e3fb029d6443f8" /><Relationship Type="http://schemas.openxmlformats.org/officeDocument/2006/relationships/notesMaster" Target="/ppt/notesMasters/notesMaster1.xml" Id="Rfe1f9b8643a44a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1885b979a3404a" /><Relationship Type="http://schemas.openxmlformats.org/officeDocument/2006/relationships/notesMaster" Target="/ppt/notesMasters/notesMaster1.xml" Id="R3d216b59f06442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4f4e947a224648" /><Relationship Type="http://schemas.openxmlformats.org/officeDocument/2006/relationships/notesMaster" Target="/ppt/notesMasters/notesMaster1.xml" Id="R919e724701484e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cf8b2c1165449f" /><Relationship Type="http://schemas.openxmlformats.org/officeDocument/2006/relationships/notesMaster" Target="/ppt/notesMasters/notesMaster1.xml" Id="Re5c0631d5bdf4e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53ff238fb941b8" /><Relationship Type="http://schemas.openxmlformats.org/officeDocument/2006/relationships/notesMaster" Target="/ppt/notesMasters/notesMaster1.xml" Id="R57549b2a7cac4f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b4cbffa25b4469" /><Relationship Type="http://schemas.openxmlformats.org/officeDocument/2006/relationships/notesMaster" Target="/ppt/notesMasters/notesMaster1.xml" Id="Rac10f31e0d1a40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training company serves two audiences. Learners expect a simple online shop, while the company needs leads, invoices, analytics and support history. If the shop and CRM are separate, every synchronisation point can lose or contradict data. TrainingIT removes that gap: both experiences use the same backend and data model, so each customer action is recorded once and triggers the necessary administrative reactions.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products solve only part of this workflow. Course marketplaces offer discovery and checkout but do not give one provider an integrated CRM. Moodle focuses on learning delivery. Salesforce and HubSpot manage customers but do not understand course sessions or trainer calendars. WooCommerce sells courses as ordinary products. TrainingIT's difference is domain-specific integration: storefront and CRM are one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contribution is applied: a working full-stack system, not only a design. It includes a client portal, a seven-section administrator portal, persistent MariaDB data and an event-driven Java domain layer. Classic patterns keep responsibilities separated, while the AI layer is optional. The boundary is deliberate: this is a specialised product for a training company, not a generic shop or generic CRM.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layer is Next.js and React, with route protection, a typed REST client and SSE for live statistics. Spring Boot exposes thin controllers and application services. The Java domain layer contains commands, services, EventBus observers, repositories and DAOs. MariaDB persists both operational and CRM data through JDBC and HikariCP. Claude is the only optional external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 layer provides four capabilities: catalogue-aware chat, a visitor recommendation quiz, training suggestions for company teams and dynamic page translation. They share one Claude client, while prompts and structured responses stay behind dedicated endpoints. The key architectural property is graceful degradation: without an API key, the AI controls disappear and all core application workflows continue normally.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now switch to the running application. I will show the learner catalogue, a purchase appearing in the administrator portal, and the AI recommendation flow if time allows. The important observation is that both portals operate on the same session data and shared backend, so the administrative result appears without a separate synchronisation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TrainingIT meets the main objective: the storefront and CRM work as one coherent product. A registration creates a lead; a purchase, review, booking or issue is reflected automatically in administration. The next priorities are automated test coverage, stronger authentication, richer analytics, deeper AI context and cloud deployment. The final result is simple: one action, several reactions, no manual reconciliation.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82f7aedc6149f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18e15044204dfe" /><Relationship Type="http://schemas.openxmlformats.org/officeDocument/2006/relationships/slideLayout" Target="/ppt/slideLayouts/slideLayout1.xml" Id="Ree5b518bc11741b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5b518bc11741b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c6b170632da4610" /><Relationship Type="http://schemas.openxmlformats.org/officeDocument/2006/relationships/image" Target="/ppt/media/image.png" Id="R31890824cdd843c1" /><Relationship Type="http://schemas.openxmlformats.org/officeDocument/2006/relationships/notesSlide" Target="/ppt/notesSlides/notesSlide1.xml" Id="Rc4844b291f1c40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9c6c50ea0049c4" /><Relationship Type="http://schemas.openxmlformats.org/officeDocument/2006/relationships/image" Target="/ppt/media/image.png" Id="Rc90b0cb1a1cb447d" /><Relationship Type="http://schemas.openxmlformats.org/officeDocument/2006/relationships/notesSlide" Target="/ppt/notesSlides/notesSlide2.xml" Id="R800f14fd37c340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b0187cc6554165" /><Relationship Type="http://schemas.openxmlformats.org/officeDocument/2006/relationships/image" Target="/ppt/media/image.png" Id="R30d8fe4bce8f4ae5" /><Relationship Type="http://schemas.openxmlformats.org/officeDocument/2006/relationships/notesSlide" Target="/ppt/notesSlides/notesSlide3.xml" Id="Rb7ac0c72f02b4a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52a482e318e49a8" /><Relationship Type="http://schemas.openxmlformats.org/officeDocument/2006/relationships/image" Target="/ppt/media/image2.png" Id="R8e0e5c56cd3944fa" /><Relationship Type="http://schemas.openxmlformats.org/officeDocument/2006/relationships/notesSlide" Target="/ppt/notesSlides/notesSlide4.xml" Id="R5b813a4178944d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16a5a25d8d4ba6" /><Relationship Type="http://schemas.openxmlformats.org/officeDocument/2006/relationships/image" Target="/ppt/media/image.png" Id="R647e9802a4bc4bd7" /><Relationship Type="http://schemas.openxmlformats.org/officeDocument/2006/relationships/image" Target="/ppt/media/image3.png" Id="Re081a32ae08047dd" /><Relationship Type="http://schemas.openxmlformats.org/officeDocument/2006/relationships/notesSlide" Target="/ppt/notesSlides/notesSlide5.xml" Id="R1839c0481b6146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727dac1e904a65" /><Relationship Type="http://schemas.openxmlformats.org/officeDocument/2006/relationships/image" Target="/ppt/media/image.png" Id="Redd47f26d32c44b8" /><Relationship Type="http://schemas.openxmlformats.org/officeDocument/2006/relationships/notesSlide" Target="/ppt/notesSlides/notesSlide6.xml" Id="Rf1df8a58927b44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c6bdcb3f16b443f" /><Relationship Type="http://schemas.openxmlformats.org/officeDocument/2006/relationships/image" Target="/ppt/media/image.png" Id="R848e788de7274ac9" /><Relationship Type="http://schemas.openxmlformats.org/officeDocument/2006/relationships/notesSlide" Target="/ppt/notesSlides/notesSlide7.xml" Id="Rb9cb8a6affb14d3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31890824cdd843c1"/>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224503C8-3969-4608-8E92-8CE80C9648FF}"/>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Problem and Motivation</a:t>
            </a:r>
            <a:endParaRPr sz="2100"/>
          </a:p>
        </p:txBody>
      </p:sp>
      <p:sp>
        <p:nvSpPr>
          <p:cNvPr id="4" name="Text 1">
            <a:extLst xmlns:a="http://schemas.openxmlformats.org/drawingml/2006/main">
              <a:ext uri="{FF2B5EF4-FFF2-40B4-BE49-F238E27FC236}">
                <a16:creationId xmlns:a16="http://schemas.microsoft.com/office/drawing/2014/main" id="{820B133D-9517-44E0-A7AB-4E1E8E4F2FEC}"/>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One platform for learning and CRM operations</a:t>
            </a:r>
            <a:endParaRPr sz="1250"/>
          </a:p>
        </p:txBody>
      </p:sp>
      <p:sp>
        <p:nvSpPr>
          <p:cNvPr id="5" name="Shape 2">
            <a:extLst xmlns:a="http://schemas.openxmlformats.org/drawingml/2006/main">
              <a:ext uri="{FF2B5EF4-FFF2-40B4-BE49-F238E27FC236}">
                <a16:creationId xmlns:a16="http://schemas.microsoft.com/office/drawing/2014/main" id="{A097C286-F679-4793-AA0E-8E3325CC7218}"/>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6397C96D-6B7A-4DCA-8F9F-C7839313D6F1}"/>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7B71BCEF-DBF7-4A62-A78D-5F67AE6919D3}"/>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E8AF3B58-0BF6-49A6-8F39-2632F04FBCB2}"/>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3E420EC1-988A-4A14-A4C8-7CE7C20EC07F}"/>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1 / 7</a:t>
            </a:r>
            <a:endParaRPr sz="750"/>
          </a:p>
        </p:txBody>
      </p:sp>
      <p:sp>
        <p:nvSpPr>
          <p:cNvPr id="10" name="Text 7">
            <a:extLst xmlns:a="http://schemas.openxmlformats.org/drawingml/2006/main">
              <a:ext uri="{FF2B5EF4-FFF2-40B4-BE49-F238E27FC236}">
                <a16:creationId xmlns:a16="http://schemas.microsoft.com/office/drawing/2014/main" id="{4D55168D-8537-416D-BBCE-A33E3F4D1BAC}"/>
              </a:ext>
            </a:extLst>
          </p:cNvPr>
          <p:cNvSpPr>
            <a:spLocks xmlns:a="http://schemas.openxmlformats.org/drawingml/2006/main" noGrp="1"/>
          </p:cNvSpPr>
          <p:nvPr/>
        </p:nvSpPr>
        <p:spPr>
          <a:xfrm xmlns:a="http://schemas.openxmlformats.org/drawingml/2006/main">
            <a:off x="411480" y="1051560"/>
            <a:ext cx="4892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150" b="1">
                <a:solidFill>
                  <a:srgbClr val="1A1A1A"/>
                </a:solidFill>
                <a:latin typeface="Arial"/>
                <a:ea typeface="Arial"/>
                <a:cs typeface="Arial"/>
              </a:rPr>
              <a:t>The customer side.  Learners need a clear catalogue, trusted reviews, fast purchase and simple tutoring bookings.</a:t>
            </a:r>
            <a:endParaRPr sz="1150"/>
          </a:p>
        </p:txBody>
      </p:sp>
      <p:sp>
        <p:nvSpPr>
          <p:cNvPr id="11" name="Text 8">
            <a:extLst xmlns:a="http://schemas.openxmlformats.org/drawingml/2006/main">
              <a:ext uri="{FF2B5EF4-FFF2-40B4-BE49-F238E27FC236}">
                <a16:creationId xmlns:a16="http://schemas.microsoft.com/office/drawing/2014/main" id="{55E2A538-BD0F-44E1-AD0D-C81C100AEFE3}"/>
              </a:ext>
            </a:extLst>
          </p:cNvPr>
          <p:cNvSpPr>
            <a:spLocks xmlns:a="http://schemas.openxmlformats.org/drawingml/2006/main" noGrp="1"/>
          </p:cNvSpPr>
          <p:nvPr/>
        </p:nvSpPr>
        <p:spPr>
          <a:xfrm xmlns:a="http://schemas.openxmlformats.org/drawingml/2006/main">
            <a:off x="411480" y="2057400"/>
            <a:ext cx="489204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150" b="1">
                <a:solidFill>
                  <a:srgbClr val="1A1A1A"/>
                </a:solidFill>
                <a:latin typeface="Arial"/>
                <a:ea typeface="Arial"/>
                <a:cs typeface="Arial"/>
              </a:rPr>
              <a:t>The business side.  The company must track leads, purchases, invoices, analytics, corporate teams and support requests.</a:t>
            </a:r>
            <a:endParaRPr sz="1150"/>
          </a:p>
        </p:txBody>
      </p:sp>
      <p:sp>
        <p:nvSpPr>
          <p:cNvPr id="12" name="Text 9">
            <a:extLst xmlns:a="http://schemas.openxmlformats.org/drawingml/2006/main">
              <a:ext uri="{FF2B5EF4-FFF2-40B4-BE49-F238E27FC236}">
                <a16:creationId xmlns:a16="http://schemas.microsoft.com/office/drawing/2014/main" id="{F03321A4-094A-43C9-A4EA-4242BA9688C4}"/>
              </a:ext>
            </a:extLst>
          </p:cNvPr>
          <p:cNvSpPr>
            <a:spLocks xmlns:a="http://schemas.openxmlformats.org/drawingml/2006/main" noGrp="1"/>
          </p:cNvSpPr>
          <p:nvPr/>
        </p:nvSpPr>
        <p:spPr>
          <a:xfrm xmlns:a="http://schemas.openxmlformats.org/drawingml/2006/main">
            <a:off x="411480" y="3291840"/>
            <a:ext cx="489204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150" b="1">
                <a:solidFill>
                  <a:srgbClr val="1A1A1A"/>
                </a:solidFill>
                <a:latin typeface="Arial"/>
                <a:ea typeface="Arial"/>
                <a:cs typeface="Arial"/>
              </a:rPr>
              <a:t>The integration gap.  Separate shop and CRM systems drift out of sync and require slow, error-prone reconciliation.</a:t>
            </a:r>
            <a:endParaRPr sz="1150"/>
          </a:p>
        </p:txBody>
      </p:sp>
      <p:sp>
        <p:nvSpPr>
          <p:cNvPr id="13" name="Shape 10">
            <a:extLst xmlns:a="http://schemas.openxmlformats.org/drawingml/2006/main">
              <a:ext uri="{FF2B5EF4-FFF2-40B4-BE49-F238E27FC236}">
                <a16:creationId xmlns:a16="http://schemas.microsoft.com/office/drawing/2014/main" id="{18CDD8EB-20BA-456C-80AD-E06C845F545D}"/>
              </a:ext>
            </a:extLst>
          </p:cNvPr>
          <p:cNvSpPr>
            <a:spLocks xmlns:a="http://schemas.openxmlformats.org/drawingml/2006/main" noGrp="1"/>
          </p:cNvSpPr>
          <p:nvPr/>
        </p:nvSpPr>
        <p:spPr>
          <a:xfrm xmlns:a="http://schemas.openxmlformats.org/drawingml/2006/main">
            <a:off x="5532120" y="1051560"/>
            <a:ext cx="3200400" cy="329184"/>
          </a:xfrm>
          <a:prstGeom xmlns:a="http://schemas.openxmlformats.org/drawingml/2006/main" prst="rect">
            <a:avLst/>
          </a:prstGeom>
          <a:solidFill xmlns:a="http://schemas.openxmlformats.org/drawingml/2006/main">
            <a:srgbClr val="E4AB26"/>
          </a:solidFill>
        </p:spPr>
        <p:txBody>
          <a:bodyPr xmlns:a="http://schemas.openxmlformats.org/drawingml/2006/main"/>
          <a:lstStyle xmlns:a="http://schemas.openxmlformats.org/drawingml/2006/main"/>
          <a:p xmlns:a="http://schemas.openxmlformats.org/drawingml/2006/main">
            <a:endParaRPr/>
          </a:p>
        </p:txBody>
      </p:sp>
      <p:sp>
        <p:nvSpPr>
          <p:cNvPr id="14" name="Text 11">
            <a:extLst xmlns:a="http://schemas.openxmlformats.org/drawingml/2006/main">
              <a:ext uri="{FF2B5EF4-FFF2-40B4-BE49-F238E27FC236}">
                <a16:creationId xmlns:a16="http://schemas.microsoft.com/office/drawing/2014/main" id="{15ECC6E8-5B43-46AA-AF4D-DBDB0FD8F5E4}"/>
              </a:ext>
            </a:extLst>
          </p:cNvPr>
          <p:cNvSpPr>
            <a:spLocks xmlns:a="http://schemas.openxmlformats.org/drawingml/2006/main" noGrp="1"/>
          </p:cNvSpPr>
          <p:nvPr/>
        </p:nvSpPr>
        <p:spPr>
          <a:xfrm xmlns:a="http://schemas.openxmlformats.org/drawingml/2006/main">
            <a:off x="5650992" y="1051560"/>
            <a:ext cx="296265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Problem statement</a:t>
            </a:r>
            <a:endParaRPr sz="1300"/>
          </a:p>
        </p:txBody>
      </p:sp>
      <p:sp>
        <p:nvSpPr>
          <p:cNvPr id="15" name="Shape 12">
            <a:extLst xmlns:a="http://schemas.openxmlformats.org/drawingml/2006/main">
              <a:ext uri="{FF2B5EF4-FFF2-40B4-BE49-F238E27FC236}">
                <a16:creationId xmlns:a16="http://schemas.microsoft.com/office/drawing/2014/main" id="{FDF67AF4-9BED-4D3B-BA84-FEB092D8E372}"/>
              </a:ext>
            </a:extLst>
          </p:cNvPr>
          <p:cNvSpPr>
            <a:spLocks xmlns:a="http://schemas.openxmlformats.org/drawingml/2006/main" noGrp="1"/>
          </p:cNvSpPr>
          <p:nvPr/>
        </p:nvSpPr>
        <p:spPr>
          <a:xfrm xmlns:a="http://schemas.openxmlformats.org/drawingml/2006/main">
            <a:off x="5532120" y="1380744"/>
            <a:ext cx="3200400" cy="166420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6" name="Text 13">
            <a:extLst xmlns:a="http://schemas.openxmlformats.org/drawingml/2006/main">
              <a:ext uri="{FF2B5EF4-FFF2-40B4-BE49-F238E27FC236}">
                <a16:creationId xmlns:a16="http://schemas.microsoft.com/office/drawing/2014/main" id="{1DEAD398-B903-456A-8284-7A70FA69643E}"/>
              </a:ext>
            </a:extLst>
          </p:cNvPr>
          <p:cNvSpPr>
            <a:spLocks xmlns:a="http://schemas.openxmlformats.org/drawingml/2006/main" noGrp="1"/>
          </p:cNvSpPr>
          <p:nvPr/>
        </p:nvSpPr>
        <p:spPr>
          <a:xfrm xmlns:a="http://schemas.openxmlformats.org/drawingml/2006/main">
            <a:off x="5678424" y="1426464"/>
            <a:ext cx="2907792" cy="15727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2000"/>
              </a:lnSpc>
              <a:buNone/>
            </a:pPr>
            <a:r>
              <a:rPr sz="1100">
                <a:solidFill>
                  <a:srgbClr val="1A1A1A"/>
                </a:solidFill>
                <a:latin typeface="Arial"/>
                <a:ea typeface="Arial"/>
                <a:cs typeface="Arial"/>
              </a:rPr>
              <a:t>TrainingIT implements both experiences on one backend and one data model. Each customer action is stored once and automatically updates enrolment, billing, lead scoring, audit and support.</a:t>
            </a:r>
            <a:endParaRPr sz="1100"/>
          </a:p>
        </p:txBody>
      </p:sp>
      <p:sp>
        <p:nvSpPr>
          <p:cNvPr id="17" name="Shape 14">
            <a:extLst xmlns:a="http://schemas.openxmlformats.org/drawingml/2006/main">
              <a:ext uri="{FF2B5EF4-FFF2-40B4-BE49-F238E27FC236}">
                <a16:creationId xmlns:a16="http://schemas.microsoft.com/office/drawing/2014/main" id="{A3C0F487-41A6-4B55-9FB6-2555E1CDC71B}"/>
              </a:ext>
            </a:extLst>
          </p:cNvPr>
          <p:cNvSpPr>
            <a:spLocks xmlns:a="http://schemas.openxmlformats.org/drawingml/2006/main" noGrp="1"/>
          </p:cNvSpPr>
          <p:nvPr/>
        </p:nvSpPr>
        <p:spPr>
          <a:xfrm xmlns:a="http://schemas.openxmlformats.org/drawingml/2006/main">
            <a:off x="5532120" y="2999232"/>
            <a:ext cx="3200400" cy="914400"/>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079AB2DD-B660-4489-8684-E70A02F040C1}"/>
              </a:ext>
            </a:extLst>
          </p:cNvPr>
          <p:cNvSpPr>
            <a:spLocks xmlns:a="http://schemas.openxmlformats.org/drawingml/2006/main" noGrp="1"/>
          </p:cNvSpPr>
          <p:nvPr/>
        </p:nvSpPr>
        <p:spPr>
          <a:xfrm xmlns:a="http://schemas.openxmlformats.org/drawingml/2006/main">
            <a:off x="5678424" y="3035808"/>
            <a:ext cx="290779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2000"/>
              </a:lnSpc>
              <a:buNone/>
            </a:pPr>
            <a:r>
              <a:rPr sz="1050">
                <a:solidFill>
                  <a:srgbClr val="1A1A1A"/>
                </a:solidFill>
                <a:latin typeface="Arial"/>
                <a:ea typeface="Arial"/>
                <a:cs typeface="Arial"/>
              </a:rPr>
              <a:t>USER and ADMIN remain strictly separated; optional services never block the core workflows.</a:t>
            </a:r>
            <a:endParaRPr sz="1050"/>
          </a:p>
        </p:txBody>
      </p:sp>
    </p:spTree>
    <p:extLst>
      <p:ext uri="{BB962C8B-B14F-4D97-AF65-F5344CB8AC3E}">
        <p14:creationId xmlns:p14="http://schemas.microsoft.com/office/powerpoint/2010/main" val="14611740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c90b0cb1a1cb447d"/>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72461A55-BE41-4F64-806D-90D9E81596B5}"/>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Related Work</a:t>
            </a:r>
            <a:endParaRPr sz="2100"/>
          </a:p>
        </p:txBody>
      </p:sp>
      <p:sp>
        <p:nvSpPr>
          <p:cNvPr id="4" name="Text 1">
            <a:extLst xmlns:a="http://schemas.openxmlformats.org/drawingml/2006/main">
              <a:ext uri="{FF2B5EF4-FFF2-40B4-BE49-F238E27FC236}">
                <a16:creationId xmlns:a16="http://schemas.microsoft.com/office/drawing/2014/main" id="{0AD0E5BF-C45A-4FAC-A3F7-D5F565AC09BF}"/>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Existing tools cover one side of the workflow</a:t>
            </a:r>
            <a:endParaRPr sz="1250"/>
          </a:p>
        </p:txBody>
      </p:sp>
      <p:sp>
        <p:nvSpPr>
          <p:cNvPr id="5" name="Shape 2">
            <a:extLst xmlns:a="http://schemas.openxmlformats.org/drawingml/2006/main">
              <a:ext uri="{FF2B5EF4-FFF2-40B4-BE49-F238E27FC236}">
                <a16:creationId xmlns:a16="http://schemas.microsoft.com/office/drawing/2014/main" id="{66C60A00-151F-4A2D-A1FD-E094DC9936E9}"/>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F230A535-B210-4F29-811E-55D3C87DD5B4}"/>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515C083E-B22E-479A-BDD2-E2831E7F3801}"/>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C698ADE2-8358-4437-83C0-403340FECB94}"/>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F16DAA3E-831F-46EE-90A8-230C7B6CCDA2}"/>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2 / 7</a:t>
            </a:r>
            <a:endParaRPr sz="750"/>
          </a:p>
        </p:txBody>
      </p:sp>
      <p:sp>
        <p:nvSpPr>
          <p:cNvPr id="10" name="Text 7">
            <a:extLst xmlns:a="http://schemas.openxmlformats.org/drawingml/2006/main">
              <a:ext uri="{FF2B5EF4-FFF2-40B4-BE49-F238E27FC236}">
                <a16:creationId xmlns:a16="http://schemas.microsoft.com/office/drawing/2014/main" id="{7FF3E9DB-173F-4C13-A041-EC00B51EA7D1}"/>
              </a:ext>
            </a:extLst>
          </p:cNvPr>
          <p:cNvSpPr>
            <a:spLocks xmlns:a="http://schemas.openxmlformats.org/drawingml/2006/main" noGrp="1"/>
          </p:cNvSpPr>
          <p:nvPr/>
        </p:nvSpPr>
        <p:spPr>
          <a:xfrm xmlns:a="http://schemas.openxmlformats.org/drawingml/2006/main">
            <a:off x="411480" y="1005840"/>
            <a:ext cx="8321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A6472"/>
                </a:solidFill>
                <a:latin typeface="Arial"/>
                <a:ea typeface="Arial"/>
                <a:cs typeface="Arial"/>
              </a:rPr>
              <a:t>Each tool family is strong in one area; none owns the full storefront-to-CRM workflow.</a:t>
            </a:r>
            <a:endParaRPr sz="1100"/>
          </a:p>
        </p:txBody>
      </p:sp>
      <p:graphicFrame>
        <p:nvGraphicFramePr>
          <p:cNvPr id="25" name="Table 0"/>
          <p:cNvGraphicFramePr/>
          <p:nvPr/>
        </p:nvGraphicFramePr>
        <p:xfrm>
          <a:off xmlns:a="http://schemas.openxmlformats.org/drawingml/2006/main" x="411480" y="1335024"/>
          <a:ext xmlns:a="http://schemas.openxmlformats.org/drawingml/2006/main" cx="8321040" cy="2286000"/>
        </p:xfrm>
        <a:graphic xmlns:a="http://schemas.openxmlformats.org/drawingml/2006/main">
          <a:graphicData uri="http://schemas.openxmlformats.org/drawingml/2006/table">
            <a:tbl>
              <a:tblPr/>
              <a:tblGrid>
                <a:gridCol w="2212848"/>
                <a:gridCol w="2834640"/>
                <a:gridCol w="3273552"/>
              </a:tblGrid>
              <a:tr h="237744">
                <a:tc>
                  <a:txBody>
                    <a:bodyPr/>
                    <a:lstStyle/>
                    <a:p>
                      <a:pPr marL="0" indent="0">
                        <a:buNone/>
                      </a:pPr>
                      <a:r>
                        <a:rPr sz="980" b="1">
                          <a:solidFill>
                            <a:srgbClr val="FFFFFF"/>
                          </a:solidFill>
                          <a:latin typeface="Arial"/>
                          <a:ea typeface="Arial"/>
                          <a:cs typeface="Arial"/>
                        </a:rPr>
                        <a:t>Tool family</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022461"/>
                    </a:solidFill>
                  </a:tcPr>
                </a:tc>
                <a:tc>
                  <a:txBody>
                    <a:bodyPr/>
                    <a:lstStyle/>
                    <a:p>
                      <a:pPr marL="0" indent="0">
                        <a:buNone/>
                      </a:pPr>
                      <a:r>
                        <a:rPr sz="980" b="1">
                          <a:solidFill>
                            <a:srgbClr val="FFFFFF"/>
                          </a:solidFill>
                          <a:latin typeface="Arial"/>
                          <a:ea typeface="Arial"/>
                          <a:cs typeface="Arial"/>
                        </a:rPr>
                        <a:t>Strength</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022461"/>
                    </a:solidFill>
                  </a:tcPr>
                </a:tc>
                <a:tc>
                  <a:txBody>
                    <a:bodyPr/>
                    <a:lstStyle/>
                    <a:p>
                      <a:pPr marL="0" indent="0">
                        <a:buNone/>
                      </a:pPr>
                      <a:r>
                        <a:rPr sz="980" b="1">
                          <a:solidFill>
                            <a:srgbClr val="FFFFFF"/>
                          </a:solidFill>
                          <a:latin typeface="Arial"/>
                          <a:ea typeface="Arial"/>
                          <a:cs typeface="Arial"/>
                        </a:rPr>
                        <a:t>Limitation</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022461"/>
                    </a:solidFill>
                  </a:tcPr>
                </a:tc>
              </a:tr>
              <a:tr h="512064">
                <a:tc>
                  <a:txBody>
                    <a:bodyPr/>
                    <a:lstStyle/>
                    <a:p>
                      <a:pPr marL="0" indent="0">
                        <a:buNone/>
                      </a:pPr>
                      <a:r>
                        <a:rPr sz="980" b="1">
                          <a:solidFill>
                            <a:srgbClr val="022461"/>
                          </a:solidFill>
                          <a:latin typeface="Arial"/>
                          <a:ea typeface="Arial"/>
                          <a:cs typeface="Arial"/>
                        </a:rPr>
                        <a:t>Course marketplaces
</a:t>
                      </a:r>
                      <a:r>
                        <a:rPr sz="900">
                          <a:solidFill>
                            <a:srgbClr val="5A6472"/>
                          </a:solidFill>
                          <a:latin typeface="Arial"/>
                          <a:ea typeface="Arial"/>
                          <a:cs typeface="Arial"/>
                        </a:rPr>
                        <a:t>e.g. Udemy, Coursera</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Excellent storefront, catalogue, reviews and checkout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Aggregators: the provider owns no customer relationship and has no integrated CRM</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r h="512064">
                <a:tc>
                  <a:txBody>
                    <a:bodyPr/>
                    <a:lstStyle/>
                    <a:p>
                      <a:pPr marL="0" indent="0">
                        <a:buNone/>
                      </a:pPr>
                      <a:r>
                        <a:rPr sz="980" b="1">
                          <a:solidFill>
                            <a:srgbClr val="022461"/>
                          </a:solidFill>
                          <a:latin typeface="Arial"/>
                          <a:ea typeface="Arial"/>
                          <a:cs typeface="Arial"/>
                        </a:rPr>
                        <a:t>Learning management
</a:t>
                      </a:r>
                      <a:r>
                        <a:rPr sz="900">
                          <a:solidFill>
                            <a:srgbClr val="5A6472"/>
                          </a:solidFill>
                          <a:latin typeface="Arial"/>
                          <a:ea typeface="Arial"/>
                          <a:cs typeface="Arial"/>
                        </a:rPr>
                        <a:t>e.g. Moodle</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Strong at delivering and tracking course content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Built around content, not selling; commerce and CRM are plug-ins bolted on</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r h="512064">
                <a:tc>
                  <a:txBody>
                    <a:bodyPr/>
                    <a:lstStyle/>
                    <a:p>
                      <a:pPr marL="0" indent="0">
                        <a:buNone/>
                      </a:pPr>
                      <a:r>
                        <a:rPr sz="980" b="1">
                          <a:solidFill>
                            <a:srgbClr val="022461"/>
                          </a:solidFill>
                          <a:latin typeface="Arial"/>
                          <a:ea typeface="Arial"/>
                          <a:cs typeface="Arial"/>
                        </a:rPr>
                        <a:t>CRM platforms
</a:t>
                      </a:r>
                      <a:r>
                        <a:rPr sz="900">
                          <a:solidFill>
                            <a:srgbClr val="5A6472"/>
                          </a:solidFill>
                          <a:latin typeface="Arial"/>
                          <a:ea typeface="Arial"/>
                          <a:cs typeface="Arial"/>
                        </a:rPr>
                        <a:t>e.g. Salesforce, HubSpot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Powerful contacts, pipelines, lead scoring and reporting</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Generic: no course catalogue, trainer calendar or public storefront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r h="512064">
                <a:tc>
                  <a:txBody>
                    <a:bodyPr/>
                    <a:lstStyle/>
                    <a:p>
                      <a:pPr marL="0" indent="0">
                        <a:buNone/>
                      </a:pPr>
                      <a:r>
                        <a:rPr sz="980" b="1">
                          <a:solidFill>
                            <a:srgbClr val="022461"/>
                          </a:solidFill>
                          <a:latin typeface="Arial"/>
                          <a:ea typeface="Arial"/>
                          <a:cs typeface="Arial"/>
                        </a:rPr>
                        <a:t>E-commerce engines
</a:t>
                      </a:r>
                      <a:r>
                        <a:rPr sz="900">
                          <a:solidFill>
                            <a:srgbClr val="5A6472"/>
                          </a:solidFill>
                          <a:latin typeface="Arial"/>
                          <a:ea typeface="Arial"/>
                          <a:cs typeface="Arial"/>
                        </a:rPr>
                        <a:t>e.g. WooCommerce</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Self-hosted and able to sell anything, including courses</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A course is just a product: no lead stages, tutoring sessions or corporate training</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bl>
          </a:graphicData>
        </a:graphic>
      </p:graphicFrame>
      <p:sp>
        <p:nvSpPr>
          <p:cNvPr id="12" name="Shape 8">
            <a:extLst xmlns:a="http://schemas.openxmlformats.org/drawingml/2006/main">
              <a:ext uri="{FF2B5EF4-FFF2-40B4-BE49-F238E27FC236}">
                <a16:creationId xmlns:a16="http://schemas.microsoft.com/office/drawing/2014/main" id="{99825F96-240E-4E0E-9B4B-E711EFDF2E40}"/>
              </a:ext>
            </a:extLst>
          </p:cNvPr>
          <p:cNvSpPr>
            <a:spLocks xmlns:a="http://schemas.openxmlformats.org/drawingml/2006/main" noGrp="1"/>
          </p:cNvSpPr>
          <p:nvPr/>
        </p:nvSpPr>
        <p:spPr>
          <a:xfrm xmlns:a="http://schemas.openxmlformats.org/drawingml/2006/main">
            <a:off x="411480" y="3877056"/>
            <a:ext cx="8321040" cy="658368"/>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2F46FC60-AF3D-4528-9521-06936EC99EFC}"/>
              </a:ext>
            </a:extLst>
          </p:cNvPr>
          <p:cNvSpPr>
            <a:spLocks xmlns:a="http://schemas.openxmlformats.org/drawingml/2006/main" noGrp="1"/>
          </p:cNvSpPr>
          <p:nvPr/>
        </p:nvSpPr>
        <p:spPr>
          <a:xfrm xmlns:a="http://schemas.openxmlformats.org/drawingml/2006/main">
            <a:off x="557784" y="3913632"/>
            <a:ext cx="8028432"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2000"/>
              </a:lnSpc>
              <a:buNone/>
            </a:pPr>
            <a:r>
              <a:rPr sz="1050" b="1">
                <a:solidFill>
                  <a:srgbClr val="FFFFFF"/>
                </a:solidFill>
                <a:latin typeface="Arial"/>
                <a:ea typeface="Arial"/>
                <a:cs typeface="Arial"/>
              </a:rPr>
              <a:t>TrainingIT's distinction: one shared backend and data model, specialised for course sessions, trainer calendars, employee discounts and course analytics.</a:t>
            </a:r>
            <a:endParaRPr sz="1050"/>
          </a:p>
        </p:txBody>
      </p:sp>
    </p:spTree>
    <p:extLst>
      <p:ext uri="{BB962C8B-B14F-4D97-AF65-F5344CB8AC3E}">
        <p14:creationId xmlns:p14="http://schemas.microsoft.com/office/powerpoint/2010/main" val="4584491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30d8fe4bce8f4ae5"/>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A481CE2F-1DBA-49C0-9F7D-C1D3B62765E4}"/>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Contribution</a:t>
            </a:r>
            <a:endParaRPr sz="2100"/>
          </a:p>
        </p:txBody>
      </p:sp>
      <p:sp>
        <p:nvSpPr>
          <p:cNvPr id="4" name="Text 1">
            <a:extLst xmlns:a="http://schemas.openxmlformats.org/drawingml/2006/main">
              <a:ext uri="{FF2B5EF4-FFF2-40B4-BE49-F238E27FC236}">
                <a16:creationId xmlns:a16="http://schemas.microsoft.com/office/drawing/2014/main" id="{786581C4-900E-4CD6-A8DF-1D2073DD683E}"/>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An implemented product: storefront and CRM as one system</a:t>
            </a:r>
            <a:endParaRPr sz="1250"/>
          </a:p>
        </p:txBody>
      </p:sp>
      <p:sp>
        <p:nvSpPr>
          <p:cNvPr id="5" name="Shape 2">
            <a:extLst xmlns:a="http://schemas.openxmlformats.org/drawingml/2006/main">
              <a:ext uri="{FF2B5EF4-FFF2-40B4-BE49-F238E27FC236}">
                <a16:creationId xmlns:a16="http://schemas.microsoft.com/office/drawing/2014/main" id="{8DADEE9D-95A3-42EF-B450-6DD126635E4E}"/>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8307A2D5-11DE-4DAC-A2E0-6AC5D5295189}"/>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02BF9376-8F0F-47F8-B343-B4F378C6EC3A}"/>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95B06886-04EC-4EF2-BE9A-D566F911D7C7}"/>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F00CB78F-0207-4540-819B-C10013679221}"/>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3 / 7</a:t>
            </a:r>
            <a:endParaRPr sz="750"/>
          </a:p>
        </p:txBody>
      </p:sp>
      <p:sp>
        <p:nvSpPr>
          <p:cNvPr id="10" name="Shape 7">
            <a:extLst xmlns:a="http://schemas.openxmlformats.org/drawingml/2006/main">
              <a:ext uri="{FF2B5EF4-FFF2-40B4-BE49-F238E27FC236}">
                <a16:creationId xmlns:a16="http://schemas.microsoft.com/office/drawing/2014/main" id="{F945FB90-7A24-46C2-B380-FC19B622DFFE}"/>
              </a:ext>
            </a:extLst>
          </p:cNvPr>
          <p:cNvSpPr>
            <a:spLocks xmlns:a="http://schemas.openxmlformats.org/drawingml/2006/main" noGrp="1"/>
          </p:cNvSpPr>
          <p:nvPr/>
        </p:nvSpPr>
        <p:spPr>
          <a:xfrm xmlns:a="http://schemas.openxmlformats.org/drawingml/2006/main">
            <a:off x="411480" y="1024128"/>
            <a:ext cx="8321040" cy="329184"/>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76AC6352-B4AF-42C3-8BFD-15C77960A369}"/>
              </a:ext>
            </a:extLst>
          </p:cNvPr>
          <p:cNvSpPr>
            <a:spLocks xmlns:a="http://schemas.openxmlformats.org/drawingml/2006/main" noGrp="1"/>
          </p:cNvSpPr>
          <p:nvPr/>
        </p:nvSpPr>
        <p:spPr>
          <a:xfrm xmlns:a="http://schemas.openxmlformats.org/drawingml/2006/main">
            <a:off x="530352" y="1024128"/>
            <a:ext cx="808329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Applied contribution</a:t>
            </a:r>
            <a:endParaRPr sz="1300"/>
          </a:p>
        </p:txBody>
      </p:sp>
      <p:sp>
        <p:nvSpPr>
          <p:cNvPr id="12" name="Shape 9">
            <a:extLst xmlns:a="http://schemas.openxmlformats.org/drawingml/2006/main">
              <a:ext uri="{FF2B5EF4-FFF2-40B4-BE49-F238E27FC236}">
                <a16:creationId xmlns:a16="http://schemas.microsoft.com/office/drawing/2014/main" id="{F0B8A220-3775-4B6A-A817-B1EEADF79A91}"/>
              </a:ext>
            </a:extLst>
          </p:cNvPr>
          <p:cNvSpPr>
            <a:spLocks xmlns:a="http://schemas.openxmlformats.org/drawingml/2006/main" noGrp="1"/>
          </p:cNvSpPr>
          <p:nvPr/>
        </p:nvSpPr>
        <p:spPr>
          <a:xfrm xmlns:a="http://schemas.openxmlformats.org/drawingml/2006/main">
            <a:off x="411480" y="1353312"/>
            <a:ext cx="8321040" cy="65836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629F975A-6270-4BA2-8471-565A8DE06098}"/>
              </a:ext>
            </a:extLst>
          </p:cNvPr>
          <p:cNvSpPr>
            <a:spLocks xmlns:a="http://schemas.openxmlformats.org/drawingml/2006/main" noGrp="1"/>
          </p:cNvSpPr>
          <p:nvPr/>
        </p:nvSpPr>
        <p:spPr>
          <a:xfrm xmlns:a="http://schemas.openxmlformats.org/drawingml/2006/main">
            <a:off x="557784" y="1399032"/>
            <a:ext cx="802843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2000"/>
              </a:lnSpc>
              <a:buNone/>
            </a:pPr>
            <a:r>
              <a:rPr sz="1100">
                <a:solidFill>
                  <a:srgbClr val="1A1A1A"/>
                </a:solidFill>
                <a:latin typeface="Arial"/>
                <a:ea typeface="Arial"/>
                <a:cs typeface="Arial"/>
              </a:rPr>
              <a:t>TrainingIT is an implemented full-stack product - not a prototype - that unifies a course storefront and CRM on one backend and shared data model.</a:t>
            </a:r>
            <a:endParaRPr sz="1100"/>
          </a:p>
        </p:txBody>
      </p:sp>
      <p:sp>
        <p:nvSpPr>
          <p:cNvPr id="14" name="Shape 11">
            <a:extLst xmlns:a="http://schemas.openxmlformats.org/drawingml/2006/main">
              <a:ext uri="{FF2B5EF4-FFF2-40B4-BE49-F238E27FC236}">
                <a16:creationId xmlns:a16="http://schemas.microsoft.com/office/drawing/2014/main" id="{CDAF24F4-4315-4A01-8098-6C0B5116935E}"/>
              </a:ext>
            </a:extLst>
          </p:cNvPr>
          <p:cNvSpPr>
            <a:spLocks xmlns:a="http://schemas.openxmlformats.org/drawingml/2006/main" noGrp="1"/>
          </p:cNvSpPr>
          <p:nvPr/>
        </p:nvSpPr>
        <p:spPr>
          <a:xfrm xmlns:a="http://schemas.openxmlformats.org/drawingml/2006/main">
            <a:off x="411480" y="2084832"/>
            <a:ext cx="4069080" cy="329184"/>
          </a:xfrm>
          <a:prstGeom xmlns:a="http://schemas.openxmlformats.org/drawingml/2006/main" prst="rect">
            <a:avLst/>
          </a:prstGeom>
          <a:solidFill xmlns:a="http://schemas.openxmlformats.org/drawingml/2006/main">
            <a:srgbClr val="2588E6"/>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C00ACA18-3B7F-46C0-98EE-935DA49CBEBA}"/>
              </a:ext>
            </a:extLst>
          </p:cNvPr>
          <p:cNvSpPr>
            <a:spLocks xmlns:a="http://schemas.openxmlformats.org/drawingml/2006/main" noGrp="1"/>
          </p:cNvSpPr>
          <p:nvPr/>
        </p:nvSpPr>
        <p:spPr>
          <a:xfrm xmlns:a="http://schemas.openxmlformats.org/drawingml/2006/main">
            <a:off x="530352" y="2084832"/>
            <a:ext cx="3831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Objectives</a:t>
            </a:r>
            <a:endParaRPr sz="1300"/>
          </a:p>
        </p:txBody>
      </p:sp>
      <p:sp>
        <p:nvSpPr>
          <p:cNvPr id="16" name="Shape 13">
            <a:extLst xmlns:a="http://schemas.openxmlformats.org/drawingml/2006/main">
              <a:ext uri="{FF2B5EF4-FFF2-40B4-BE49-F238E27FC236}">
                <a16:creationId xmlns:a16="http://schemas.microsoft.com/office/drawing/2014/main" id="{F5D19A24-A032-4911-A972-FA97DEB11E8D}"/>
              </a:ext>
            </a:extLst>
          </p:cNvPr>
          <p:cNvSpPr>
            <a:spLocks xmlns:a="http://schemas.openxmlformats.org/drawingml/2006/main" noGrp="1"/>
          </p:cNvSpPr>
          <p:nvPr/>
        </p:nvSpPr>
        <p:spPr>
          <a:xfrm xmlns:a="http://schemas.openxmlformats.org/drawingml/2006/main">
            <a:off x="411480" y="2414016"/>
            <a:ext cx="4069080" cy="193852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7DEAB733-DA80-4C3E-9C8A-537A21949AC6}"/>
              </a:ext>
            </a:extLst>
          </p:cNvPr>
          <p:cNvSpPr>
            <a:spLocks xmlns:a="http://schemas.openxmlformats.org/drawingml/2006/main" noGrp="1"/>
          </p:cNvSpPr>
          <p:nvPr/>
        </p:nvSpPr>
        <p:spPr>
          <a:xfrm xmlns:a="http://schemas.openxmlformats.org/drawingml/2006/main">
            <a:off x="557784" y="2478024"/>
            <a:ext cx="3776472" cy="1810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Client portal: catalogue, purchase, reviews and 1:1 booking.</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Admin portal: seven CRM and operational sections.</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Event-driven Java domain layer with classic patterns.</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Optional AI with graceful degradation.</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Operational and CRM data persisted in MariaDB.</a:t>
            </a:r>
            <a:endParaRPr sz="1050"/>
          </a:p>
        </p:txBody>
      </p:sp>
      <p:sp>
        <p:nvSpPr>
          <p:cNvPr id="18" name="Shape 15">
            <a:extLst xmlns:a="http://schemas.openxmlformats.org/drawingml/2006/main">
              <a:ext uri="{FF2B5EF4-FFF2-40B4-BE49-F238E27FC236}">
                <a16:creationId xmlns:a16="http://schemas.microsoft.com/office/drawing/2014/main" id="{BCC90F4B-11D1-4DA1-BC0D-D1241F94C240}"/>
              </a:ext>
            </a:extLst>
          </p:cNvPr>
          <p:cNvSpPr>
            <a:spLocks xmlns:a="http://schemas.openxmlformats.org/drawingml/2006/main" noGrp="1"/>
          </p:cNvSpPr>
          <p:nvPr/>
        </p:nvSpPr>
        <p:spPr>
          <a:xfrm xmlns:a="http://schemas.openxmlformats.org/drawingml/2006/main">
            <a:off x="4663440" y="2084832"/>
            <a:ext cx="4069080" cy="329184"/>
          </a:xfrm>
          <a:prstGeom xmlns:a="http://schemas.openxmlformats.org/drawingml/2006/main" prst="rect">
            <a:avLst/>
          </a:prstGeom>
          <a:solidFill xmlns:a="http://schemas.openxmlformats.org/drawingml/2006/main">
            <a:srgbClr val="E4AB26"/>
          </a:solidFill>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8540CB15-DC80-47E8-9F90-BC1312922260}"/>
              </a:ext>
            </a:extLst>
          </p:cNvPr>
          <p:cNvSpPr>
            <a:spLocks xmlns:a="http://schemas.openxmlformats.org/drawingml/2006/main" noGrp="1"/>
          </p:cNvSpPr>
          <p:nvPr/>
        </p:nvSpPr>
        <p:spPr>
          <a:xfrm xmlns:a="http://schemas.openxmlformats.org/drawingml/2006/main">
            <a:off x="4782312" y="2084832"/>
            <a:ext cx="3831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Design boundary</a:t>
            </a:r>
            <a:endParaRPr sz="1300"/>
          </a:p>
        </p:txBody>
      </p:sp>
      <p:sp>
        <p:nvSpPr>
          <p:cNvPr id="20" name="Shape 17">
            <a:extLst xmlns:a="http://schemas.openxmlformats.org/drawingml/2006/main">
              <a:ext uri="{FF2B5EF4-FFF2-40B4-BE49-F238E27FC236}">
                <a16:creationId xmlns:a16="http://schemas.microsoft.com/office/drawing/2014/main" id="{28932B40-A4BC-422D-8A5C-2D580F0585C4}"/>
              </a:ext>
            </a:extLst>
          </p:cNvPr>
          <p:cNvSpPr>
            <a:spLocks xmlns:a="http://schemas.openxmlformats.org/drawingml/2006/main" noGrp="1"/>
          </p:cNvSpPr>
          <p:nvPr/>
        </p:nvSpPr>
        <p:spPr>
          <a:xfrm xmlns:a="http://schemas.openxmlformats.org/drawingml/2006/main">
            <a:off x="4663440" y="2414016"/>
            <a:ext cx="4069080" cy="193852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21" name="Text 18">
            <a:extLst xmlns:a="http://schemas.openxmlformats.org/drawingml/2006/main">
              <a:ext uri="{FF2B5EF4-FFF2-40B4-BE49-F238E27FC236}">
                <a16:creationId xmlns:a16="http://schemas.microsoft.com/office/drawing/2014/main" id="{2C310543-1C62-41EF-8E30-1C808B9FB198}"/>
              </a:ext>
            </a:extLst>
          </p:cNvPr>
          <p:cNvSpPr>
            <a:spLocks xmlns:a="http://schemas.openxmlformats.org/drawingml/2006/main" noGrp="1"/>
          </p:cNvSpPr>
          <p:nvPr/>
        </p:nvSpPr>
        <p:spPr>
          <a:xfrm xmlns:a="http://schemas.openxmlformats.org/drawingml/2006/main">
            <a:off x="4809744" y="2459736"/>
            <a:ext cx="3776472" cy="18470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2000"/>
              </a:lnSpc>
              <a:buNone/>
            </a:pPr>
            <a:r>
              <a:rPr sz="1050">
                <a:solidFill>
                  <a:srgbClr val="1A1A1A"/>
                </a:solidFill>
                <a:latin typeface="Arial"/>
                <a:ea typeface="Arial"/>
                <a:cs typeface="Arial"/>
              </a:rPr>
              <a:t>TrainingIT is specialised for one training company, not a general e-commerce platform or generic CRM.</a:t>
            </a:r>
            <a:endParaRPr sz="1050"/>
          </a:p>
          <a:p xmlns:a="http://schemas.openxmlformats.org/drawingml/2006/main">
            <a:pPr marL="0" indent="0">
              <a:lnSpc>
                <a:spcPct val="112000"/>
              </a:lnSpc>
              <a:buNone/>
            </a:pPr>
            <a:endParaRPr sz="1050"/>
          </a:p>
          <a:p xmlns:a="http://schemas.openxmlformats.org/drawingml/2006/main">
            <a:pPr marL="0" indent="0">
              <a:lnSpc>
                <a:spcPct val="112000"/>
              </a:lnSpc>
              <a:buNone/>
            </a:pPr>
            <a:r>
              <a:rPr sz="1050">
                <a:solidFill>
                  <a:srgbClr val="1A1A1A"/>
                </a:solidFill>
                <a:latin typeface="Arial"/>
                <a:ea typeface="Arial"/>
                <a:cs typeface="Arial"/>
              </a:rPr>
              <a:t>The AI layer adds capabilities, but core workflows never depend on it.</a:t>
            </a:r>
            <a:endParaRPr sz="1050"/>
          </a:p>
        </p:txBody>
      </p:sp>
    </p:spTree>
    <p:extLst>
      <p:ext uri="{BB962C8B-B14F-4D97-AF65-F5344CB8AC3E}">
        <p14:creationId xmlns:p14="http://schemas.microsoft.com/office/powerpoint/2010/main" val="17135163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Image 1"/>
          <p:cNvPicPr>
            <a:picLocks xmlns:a="http://schemas.openxmlformats.org/drawingml/2006/main" noChangeAspect="1"/>
          </p:cNvPicPr>
          <p:nvPr/>
        </p:nvPicPr>
        <p:blipFill>
          <a:blip xmlns:r="http://schemas.openxmlformats.org/officeDocument/2006/relationships" xmlns:a="http://schemas.openxmlformats.org/drawingml/2006/main" r:embed="R8e0e5c56cd3944fa"/>
          <a:stretch xmlns:a="http://schemas.openxmlformats.org/drawingml/2006/main"/>
        </p:blipFill>
        <p:spPr>
          <a:xfrm xmlns:a="http://schemas.openxmlformats.org/drawingml/2006/main">
            <a:off x="1390838" y="0"/>
            <a:ext cx="6362325" cy="5143500"/>
          </a:xfrm>
          <a:prstGeom xmlns:a="http://schemas.openxmlformats.org/drawingml/2006/main" prst="rect">
            <a:avLst/>
          </a:prstGeom>
        </p:spPr>
      </p:pic>
    </p:spTree>
    <p:extLst>
      <p:ext uri="{BB962C8B-B14F-4D97-AF65-F5344CB8AC3E}">
        <p14:creationId xmlns:p14="http://schemas.microsoft.com/office/powerpoint/2010/main" val="15693154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647e9802a4bc4bd7"/>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78196CD-F9B6-4889-A146-EA8697B822F3}"/>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The AI Layer</a:t>
            </a:r>
            <a:endParaRPr sz="2100"/>
          </a:p>
        </p:txBody>
      </p:sp>
      <p:sp>
        <p:nvSpPr>
          <p:cNvPr id="4" name="Text 1">
            <a:extLst xmlns:a="http://schemas.openxmlformats.org/drawingml/2006/main">
              <a:ext uri="{FF2B5EF4-FFF2-40B4-BE49-F238E27FC236}">
                <a16:creationId xmlns:a16="http://schemas.microsoft.com/office/drawing/2014/main" id="{750E30F1-87B2-465F-9C50-39C095963A6D}"/>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Four optional capabilities; zero dependency for core workflows</a:t>
            </a:r>
            <a:endParaRPr sz="1250"/>
          </a:p>
        </p:txBody>
      </p:sp>
      <p:sp>
        <p:nvSpPr>
          <p:cNvPr id="5" name="Shape 2">
            <a:extLst xmlns:a="http://schemas.openxmlformats.org/drawingml/2006/main">
              <a:ext uri="{FF2B5EF4-FFF2-40B4-BE49-F238E27FC236}">
                <a16:creationId xmlns:a16="http://schemas.microsoft.com/office/drawing/2014/main" id="{C8F8AE65-7ABF-41E4-A6AD-091D12A1321B}"/>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923D4940-91EB-4538-8A2F-8B7DADB89B39}"/>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AE640BD1-3165-474C-B697-B40B81EC91EA}"/>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5DA87A5A-235A-4F74-9E71-1155DC2EE0EC}"/>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4F242E2F-21E4-4416-9B49-C3B251C76A12}"/>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5 / 7</a:t>
            </a:r>
            <a:endParaRPr sz="750"/>
          </a:p>
        </p:txBody>
      </p:sp>
      <p:sp>
        <p:nvSpPr>
          <p:cNvPr id="10" name="Shape 7">
            <a:extLst xmlns:a="http://schemas.openxmlformats.org/drawingml/2006/main">
              <a:ext uri="{FF2B5EF4-FFF2-40B4-BE49-F238E27FC236}">
                <a16:creationId xmlns:a16="http://schemas.microsoft.com/office/drawing/2014/main" id="{16654185-CADB-433E-BBAD-4E46FB0CD309}"/>
              </a:ext>
            </a:extLst>
          </p:cNvPr>
          <p:cNvSpPr>
            <a:spLocks xmlns:a="http://schemas.openxmlformats.org/drawingml/2006/main" noGrp="1"/>
          </p:cNvSpPr>
          <p:nvPr/>
        </p:nvSpPr>
        <p:spPr>
          <a:xfrm xmlns:a="http://schemas.openxmlformats.org/drawingml/2006/main">
            <a:off x="411480" y="1078992"/>
            <a:ext cx="4572000" cy="7132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1CA523B9-137E-4A54-8F81-FF6410CF35BD}"/>
              </a:ext>
            </a:extLst>
          </p:cNvPr>
          <p:cNvSpPr>
            <a:spLocks xmlns:a="http://schemas.openxmlformats.org/drawingml/2006/main" noGrp="1"/>
          </p:cNvSpPr>
          <p:nvPr/>
        </p:nvSpPr>
        <p:spPr>
          <a:xfrm xmlns:a="http://schemas.openxmlformats.org/drawingml/2006/main">
            <a:off x="539496" y="1115568"/>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Conversational assistant   </a:t>
            </a:r>
            <a:r>
              <a:rPr sz="860">
                <a:solidFill>
                  <a:srgbClr val="2588E6"/>
                </a:solidFill>
                <a:latin typeface="Courier New"/>
                <a:ea typeface="Courier New"/>
                <a:cs typeface="Courier New"/>
              </a:rPr>
              <a:t>/api/ai/chat
</a:t>
            </a:r>
            <a:r>
              <a:rPr sz="980">
                <a:solidFill>
                  <a:srgbClr val="1A1A1A"/>
                </a:solidFill>
                <a:latin typeface="Arial"/>
                <a:ea typeface="Arial"/>
                <a:cs typeface="Arial"/>
              </a:rPr>
              <a:t>Answers questions about courses, enrolment and corporate training, using the live catalogue as context.</a:t>
            </a:r>
            <a:endParaRPr sz="1080"/>
          </a:p>
        </p:txBody>
      </p:sp>
      <p:sp>
        <p:nvSpPr>
          <p:cNvPr id="12" name="Shape 9">
            <a:extLst xmlns:a="http://schemas.openxmlformats.org/drawingml/2006/main">
              <a:ext uri="{FF2B5EF4-FFF2-40B4-BE49-F238E27FC236}">
                <a16:creationId xmlns:a16="http://schemas.microsoft.com/office/drawing/2014/main" id="{5A76CAD3-C1E4-4184-97B6-2F43327FD1F8}"/>
              </a:ext>
            </a:extLst>
          </p:cNvPr>
          <p:cNvSpPr>
            <a:spLocks xmlns:a="http://schemas.openxmlformats.org/drawingml/2006/main" noGrp="1"/>
          </p:cNvSpPr>
          <p:nvPr/>
        </p:nvSpPr>
        <p:spPr>
          <a:xfrm xmlns:a="http://schemas.openxmlformats.org/drawingml/2006/main">
            <a:off x="411480" y="1865376"/>
            <a:ext cx="4572000" cy="713232"/>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1C9DA276-F43A-4370-8DCD-99DD761C6517}"/>
              </a:ext>
            </a:extLst>
          </p:cNvPr>
          <p:cNvSpPr>
            <a:spLocks xmlns:a="http://schemas.openxmlformats.org/drawingml/2006/main" noGrp="1"/>
          </p:cNvSpPr>
          <p:nvPr/>
        </p:nvSpPr>
        <p:spPr>
          <a:xfrm xmlns:a="http://schemas.openxmlformats.org/drawingml/2006/main">
            <a:off x="539496" y="1901952"/>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Recommendation quiz   </a:t>
            </a:r>
            <a:r>
              <a:rPr sz="860">
                <a:solidFill>
                  <a:srgbClr val="2588E6"/>
                </a:solidFill>
                <a:latin typeface="Courier New"/>
                <a:ea typeface="Courier New"/>
                <a:cs typeface="Courier New"/>
              </a:rPr>
              <a:t>/api/ai/recommendations/visitor
</a:t>
            </a:r>
            <a:r>
              <a:rPr sz="980">
                <a:solidFill>
                  <a:srgbClr val="1A1A1A"/>
                </a:solidFill>
                <a:latin typeface="Arial"/>
                <a:ea typeface="Arial"/>
                <a:cs typeface="Arial"/>
              </a:rPr>
              <a:t>Matches a visitor's interests, level and goal to courses, each with a fit score and a reason.</a:t>
            </a:r>
            <a:endParaRPr sz="1080"/>
          </a:p>
        </p:txBody>
      </p:sp>
      <p:sp>
        <p:nvSpPr>
          <p:cNvPr id="14" name="Shape 11">
            <a:extLst xmlns:a="http://schemas.openxmlformats.org/drawingml/2006/main">
              <a:ext uri="{FF2B5EF4-FFF2-40B4-BE49-F238E27FC236}">
                <a16:creationId xmlns:a16="http://schemas.microsoft.com/office/drawing/2014/main" id="{ECC5074B-21D0-4D94-A1C3-E4C6CA461790}"/>
              </a:ext>
            </a:extLst>
          </p:cNvPr>
          <p:cNvSpPr>
            <a:spLocks xmlns:a="http://schemas.openxmlformats.org/drawingml/2006/main" noGrp="1"/>
          </p:cNvSpPr>
          <p:nvPr/>
        </p:nvSpPr>
        <p:spPr>
          <a:xfrm xmlns:a="http://schemas.openxmlformats.org/drawingml/2006/main">
            <a:off x="411480" y="2651760"/>
            <a:ext cx="4572000" cy="7132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156BCC17-B1C9-4219-8C72-F1B39D0D113F}"/>
              </a:ext>
            </a:extLst>
          </p:cNvPr>
          <p:cNvSpPr>
            <a:spLocks xmlns:a="http://schemas.openxmlformats.org/drawingml/2006/main" noGrp="1"/>
          </p:cNvSpPr>
          <p:nvPr/>
        </p:nvSpPr>
        <p:spPr>
          <a:xfrm xmlns:a="http://schemas.openxmlformats.org/drawingml/2006/main">
            <a:off x="539496" y="2688336"/>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Per-company recommendations   </a:t>
            </a:r>
            <a:r>
              <a:rPr sz="860">
                <a:solidFill>
                  <a:srgbClr val="2588E6"/>
                </a:solidFill>
                <a:latin typeface="Courier New"/>
                <a:ea typeface="Courier New"/>
                <a:cs typeface="Courier New"/>
              </a:rPr>
              <a:t>/api/ai/recommendations/company
</a:t>
            </a:r>
            <a:r>
              <a:rPr sz="980">
                <a:solidFill>
                  <a:srgbClr val="1A1A1A"/>
                </a:solidFill>
                <a:latin typeface="Arial"/>
                <a:ea typeface="Arial"/>
                <a:cs typeface="Arial"/>
              </a:rPr>
              <a:t>Analyses employee roles and interests to propose a training programme for a whole team.</a:t>
            </a:r>
            <a:endParaRPr sz="1080"/>
          </a:p>
        </p:txBody>
      </p:sp>
      <p:sp>
        <p:nvSpPr>
          <p:cNvPr id="16" name="Shape 13">
            <a:extLst xmlns:a="http://schemas.openxmlformats.org/drawingml/2006/main">
              <a:ext uri="{FF2B5EF4-FFF2-40B4-BE49-F238E27FC236}">
                <a16:creationId xmlns:a16="http://schemas.microsoft.com/office/drawing/2014/main" id="{8A43A68D-70B0-41AF-9537-88E0D9981139}"/>
              </a:ext>
            </a:extLst>
          </p:cNvPr>
          <p:cNvSpPr>
            <a:spLocks xmlns:a="http://schemas.openxmlformats.org/drawingml/2006/main" noGrp="1"/>
          </p:cNvSpPr>
          <p:nvPr/>
        </p:nvSpPr>
        <p:spPr>
          <a:xfrm xmlns:a="http://schemas.openxmlformats.org/drawingml/2006/main">
            <a:off x="411480" y="3438144"/>
            <a:ext cx="4572000" cy="713232"/>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E0DDE1CD-638F-470F-A8EA-4B6154BC2B46}"/>
              </a:ext>
            </a:extLst>
          </p:cNvPr>
          <p:cNvSpPr>
            <a:spLocks xmlns:a="http://schemas.openxmlformats.org/drawingml/2006/main" noGrp="1"/>
          </p:cNvSpPr>
          <p:nvPr/>
        </p:nvSpPr>
        <p:spPr>
          <a:xfrm xmlns:a="http://schemas.openxmlformats.org/drawingml/2006/main">
            <a:off x="539496" y="3474720"/>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Live page translation   </a:t>
            </a:r>
            <a:r>
              <a:rPr sz="860">
                <a:solidFill>
                  <a:srgbClr val="2588E6"/>
                </a:solidFill>
                <a:latin typeface="Courier New"/>
                <a:ea typeface="Courier New"/>
                <a:cs typeface="Courier New"/>
              </a:rPr>
              <a:t>/api/ai/translate
</a:t>
            </a:r>
            <a:r>
              <a:rPr sz="980">
                <a:solidFill>
                  <a:srgbClr val="1A1A1A"/>
                </a:solidFill>
                <a:latin typeface="Arial"/>
                <a:ea typeface="Arial"/>
                <a:cs typeface="Arial"/>
              </a:rPr>
              <a:t>Translates the interface into any language, preserving brand names, people, e-mails and numbers.</a:t>
            </a:r>
            <a:endParaRPr sz="1080"/>
          </a:p>
        </p:txBody>
      </p:sp>
      <p:sp>
        <p:nvSpPr>
          <p:cNvPr id="18" name="Shape 15">
            <a:extLst xmlns:a="http://schemas.openxmlformats.org/drawingml/2006/main">
              <a:ext uri="{FF2B5EF4-FFF2-40B4-BE49-F238E27FC236}">
                <a16:creationId xmlns:a16="http://schemas.microsoft.com/office/drawing/2014/main" id="{748D4760-C5BA-42EF-AA74-6F2515D94744}"/>
              </a:ext>
            </a:extLst>
          </p:cNvPr>
          <p:cNvSpPr>
            <a:spLocks xmlns:a="http://schemas.openxmlformats.org/drawingml/2006/main" noGrp="1"/>
          </p:cNvSpPr>
          <p:nvPr/>
        </p:nvSpPr>
        <p:spPr>
          <a:xfrm xmlns:a="http://schemas.openxmlformats.org/drawingml/2006/main">
            <a:off x="411480" y="4224528"/>
            <a:ext cx="4572000" cy="310896"/>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79C33818-EA61-477C-92EA-C3DE3A3ED62F}"/>
              </a:ext>
            </a:extLst>
          </p:cNvPr>
          <p:cNvSpPr>
            <a:spLocks xmlns:a="http://schemas.openxmlformats.org/drawingml/2006/main" noGrp="1"/>
          </p:cNvSpPr>
          <p:nvPr/>
        </p:nvSpPr>
        <p:spPr>
          <a:xfrm xmlns:a="http://schemas.openxmlformats.org/drawingml/2006/main">
            <a:off x="530352" y="4224528"/>
            <a:ext cx="433425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Arial"/>
                <a:ea typeface="Arial"/>
                <a:cs typeface="Arial"/>
              </a:rPr>
              <a:t>Strictly additive: with no API key the buttons disappear</a:t>
            </a:r>
            <a:endParaRPr sz="1050"/>
          </a:p>
        </p:txBody>
      </p:sp>
      <p:sp>
        <p:nvSpPr>
          <p:cNvPr id="20" name="Shape 17">
            <a:extLst xmlns:a="http://schemas.openxmlformats.org/drawingml/2006/main">
              <a:ext uri="{FF2B5EF4-FFF2-40B4-BE49-F238E27FC236}">
                <a16:creationId xmlns:a16="http://schemas.microsoft.com/office/drawing/2014/main" id="{D5E67F0C-3EB4-40AF-BA15-B299113BD394}"/>
              </a:ext>
            </a:extLst>
          </p:cNvPr>
          <p:cNvSpPr>
            <a:spLocks xmlns:a="http://schemas.openxmlformats.org/drawingml/2006/main" noGrp="1"/>
          </p:cNvSpPr>
          <p:nvPr/>
        </p:nvSpPr>
        <p:spPr>
          <a:xfrm xmlns:a="http://schemas.openxmlformats.org/drawingml/2006/main">
            <a:off x="411480" y="4535424"/>
            <a:ext cx="4572000" cy="0"/>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pic>
        <p:nvPicPr>
          <p:cNvPr id="45" name="Image 1"/>
          <p:cNvPicPr>
            <a:picLocks xmlns:a="http://schemas.openxmlformats.org/drawingml/2006/main" noChangeAspect="1"/>
          </p:cNvPicPr>
          <p:nvPr/>
        </p:nvPicPr>
        <p:blipFill>
          <a:blip xmlns:r="http://schemas.openxmlformats.org/officeDocument/2006/relationships" xmlns:a="http://schemas.openxmlformats.org/drawingml/2006/main" r:embed="Re081a32ae08047dd"/>
          <a:stretch xmlns:a="http://schemas.openxmlformats.org/drawingml/2006/main">
            <a:fillRect l="0" t="0" r="0" b="0"/>
          </a:stretch>
        </p:blipFill>
        <p:spPr>
          <a:xfrm xmlns:a="http://schemas.openxmlformats.org/drawingml/2006/main">
            <a:off x="5230368" y="1115568"/>
            <a:ext cx="3502152" cy="2185416"/>
          </a:xfrm>
          <a:prstGeom xmlns:a="http://schemas.openxmlformats.org/drawingml/2006/main" prst="rect">
            <a:avLst/>
          </a:prstGeom>
        </p:spPr>
      </p:pic>
      <p:sp>
        <p:nvSpPr>
          <p:cNvPr id="22" name="Shape 18">
            <a:extLst xmlns:a="http://schemas.openxmlformats.org/drawingml/2006/main">
              <a:ext uri="{FF2B5EF4-FFF2-40B4-BE49-F238E27FC236}">
                <a16:creationId xmlns:a16="http://schemas.microsoft.com/office/drawing/2014/main" id="{C7A9F1DC-3614-46AC-AA17-F5D315872B91}"/>
              </a:ext>
            </a:extLst>
          </p:cNvPr>
          <p:cNvSpPr>
            <a:spLocks xmlns:a="http://schemas.openxmlformats.org/drawingml/2006/main" noGrp="1"/>
          </p:cNvSpPr>
          <p:nvPr/>
        </p:nvSpPr>
        <p:spPr>
          <a:xfrm xmlns:a="http://schemas.openxmlformats.org/drawingml/2006/main">
            <a:off x="5230368" y="3419856"/>
            <a:ext cx="3502152" cy="111556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23" name="Text 19">
            <a:extLst xmlns:a="http://schemas.openxmlformats.org/drawingml/2006/main">
              <a:ext uri="{FF2B5EF4-FFF2-40B4-BE49-F238E27FC236}">
                <a16:creationId xmlns:a16="http://schemas.microsoft.com/office/drawing/2014/main" id="{824F8CF2-82FC-4D05-872D-D5DDD50E491F}"/>
              </a:ext>
            </a:extLst>
          </p:cNvPr>
          <p:cNvSpPr>
            <a:spLocks xmlns:a="http://schemas.openxmlformats.org/drawingml/2006/main" noGrp="1"/>
          </p:cNvSpPr>
          <p:nvPr/>
        </p:nvSpPr>
        <p:spPr>
          <a:xfrm xmlns:a="http://schemas.openxmlformats.org/drawingml/2006/main">
            <a:off x="5376672" y="3456432"/>
            <a:ext cx="3209544"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2000"/>
              </a:lnSpc>
              <a:buNone/>
            </a:pPr>
            <a:r>
              <a:rPr sz="1000">
                <a:solidFill>
                  <a:srgbClr val="1A1A1A"/>
                </a:solidFill>
                <a:latin typeface="Arial"/>
                <a:ea typeface="Arial"/>
                <a:cs typeface="Arial"/>
              </a:rPr>
              <a:t>One Claude client powers all four features. Prompts, REST endpoints and structured responses are isolated so the application remains fully operational without an API key.</a:t>
            </a:r>
            <a:endParaRPr sz="1000"/>
          </a:p>
        </p:txBody>
      </p:sp>
    </p:spTree>
    <p:extLst>
      <p:ext uri="{BB962C8B-B14F-4D97-AF65-F5344CB8AC3E}">
        <p14:creationId xmlns:p14="http://schemas.microsoft.com/office/powerpoint/2010/main" val="13307326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edd47f26d32c44b8"/>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E34A00B-2C45-C3A7-554E-CC4F3A0A7E09}"/>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Application Demo</a:t>
            </a:r>
            <a:endParaRPr sz="2100"/>
          </a:p>
        </p:txBody>
      </p:sp>
      <p:sp>
        <p:nvSpPr>
          <p:cNvPr id="4" name="Text 1">
            <a:extLst xmlns:a="http://schemas.openxmlformats.org/drawingml/2006/main">
              <a:ext uri="{FF2B5EF4-FFF2-40B4-BE49-F238E27FC236}">
                <a16:creationId xmlns:a16="http://schemas.microsoft.com/office/drawing/2014/main" id="{42814A06-A334-7F73-92D2-94CAA0AAE750}"/>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Live demonstration</a:t>
            </a:r>
            <a:endParaRPr sz="1250"/>
          </a:p>
        </p:txBody>
      </p:sp>
      <p:sp>
        <p:nvSpPr>
          <p:cNvPr id="5" name="Shape 2">
            <a:extLst xmlns:a="http://schemas.openxmlformats.org/drawingml/2006/main">
              <a:ext uri="{FF2B5EF4-FFF2-40B4-BE49-F238E27FC236}">
                <a16:creationId xmlns:a16="http://schemas.microsoft.com/office/drawing/2014/main" id="{D39D863B-5FD8-4EA5-D889-C2DAE3EA8FC4}"/>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4BAA0535-8956-6FC8-77B6-97D1EF35F62E}"/>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9CBBADE4-CD4E-65AA-B355-198AF6D3CA72}"/>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8C004D50-2FFC-150E-31B1-380D046274C4}"/>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93AE2192-0D52-37FB-B2E3-CCBF1C1A59C6}"/>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6 / 7</a:t>
            </a:r>
            <a:endParaRPr sz="750"/>
          </a:p>
        </p:txBody>
      </p:sp>
    </p:spTree>
    <p:extLst>
      <p:ext uri="{BB962C8B-B14F-4D97-AF65-F5344CB8AC3E}">
        <p14:creationId xmlns:p14="http://schemas.microsoft.com/office/powerpoint/2010/main" val="23826265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848e788de7274ac9"/>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AFFC353D-C8B7-4D78-B124-5AA1D799816B}"/>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Conclusion and Future Work</a:t>
            </a:r>
            <a:endParaRPr sz="2100"/>
          </a:p>
        </p:txBody>
      </p:sp>
      <p:sp>
        <p:nvSpPr>
          <p:cNvPr id="4" name="Text 1">
            <a:extLst xmlns:a="http://schemas.openxmlformats.org/drawingml/2006/main">
              <a:ext uri="{FF2B5EF4-FFF2-40B4-BE49-F238E27FC236}">
                <a16:creationId xmlns:a16="http://schemas.microsoft.com/office/drawing/2014/main" id="{86AD9AE2-8B90-413A-8857-0EE7D1024421}"/>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One product, one data model, no manual reconciliation</a:t>
            </a:r>
            <a:endParaRPr sz="1250"/>
          </a:p>
        </p:txBody>
      </p:sp>
      <p:sp>
        <p:nvSpPr>
          <p:cNvPr id="5" name="Shape 2">
            <a:extLst xmlns:a="http://schemas.openxmlformats.org/drawingml/2006/main">
              <a:ext uri="{FF2B5EF4-FFF2-40B4-BE49-F238E27FC236}">
                <a16:creationId xmlns:a16="http://schemas.microsoft.com/office/drawing/2014/main" id="{57F9A3C7-C86E-478E-AF1B-8F64448D784B}"/>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A367F814-5508-4624-A797-F10B73DECA89}"/>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96883464-D46E-4488-8E69-C551DAD97B39}"/>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6CD4385F-E51A-453A-AACA-9E1F72AF4F32}"/>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B6E59A36-E792-42E2-A6EA-7F03BEBAF82F}"/>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7 / 7</a:t>
            </a:r>
            <a:endParaRPr sz="750"/>
          </a:p>
        </p:txBody>
      </p:sp>
      <p:sp>
        <p:nvSpPr>
          <p:cNvPr id="10" name="Shape 7">
            <a:extLst xmlns:a="http://schemas.openxmlformats.org/drawingml/2006/main">
              <a:ext uri="{FF2B5EF4-FFF2-40B4-BE49-F238E27FC236}">
                <a16:creationId xmlns:a16="http://schemas.microsoft.com/office/drawing/2014/main" id="{ECB00EF2-593A-4E1D-A8FB-2FB1F70B43BB}"/>
              </a:ext>
            </a:extLst>
          </p:cNvPr>
          <p:cNvSpPr>
            <a:spLocks xmlns:a="http://schemas.openxmlformats.org/drawingml/2006/main" noGrp="1"/>
          </p:cNvSpPr>
          <p:nvPr/>
        </p:nvSpPr>
        <p:spPr>
          <a:xfrm xmlns:a="http://schemas.openxmlformats.org/drawingml/2006/main">
            <a:off x="384048" y="1042416"/>
            <a:ext cx="4160520" cy="310896"/>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40AAEDD3-B1B6-40D7-B17B-F8B440CF5EE7}"/>
              </a:ext>
            </a:extLst>
          </p:cNvPr>
          <p:cNvSpPr>
            <a:spLocks xmlns:a="http://schemas.openxmlformats.org/drawingml/2006/main" noGrp="1"/>
          </p:cNvSpPr>
          <p:nvPr/>
        </p:nvSpPr>
        <p:spPr>
          <a:xfrm xmlns:a="http://schemas.openxmlformats.org/drawingml/2006/main">
            <a:off x="502920" y="1042416"/>
            <a:ext cx="39227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Implemented</a:t>
            </a:r>
            <a:endParaRPr sz="1300"/>
          </a:p>
        </p:txBody>
      </p:sp>
      <p:sp>
        <p:nvSpPr>
          <p:cNvPr id="12" name="Shape 9">
            <a:extLst xmlns:a="http://schemas.openxmlformats.org/drawingml/2006/main">
              <a:ext uri="{FF2B5EF4-FFF2-40B4-BE49-F238E27FC236}">
                <a16:creationId xmlns:a16="http://schemas.microsoft.com/office/drawing/2014/main" id="{9C4BD042-DAA1-4FA3-99E2-E2100D732161}"/>
              </a:ext>
            </a:extLst>
          </p:cNvPr>
          <p:cNvSpPr>
            <a:spLocks xmlns:a="http://schemas.openxmlformats.org/drawingml/2006/main" noGrp="1"/>
          </p:cNvSpPr>
          <p:nvPr/>
        </p:nvSpPr>
        <p:spPr>
          <a:xfrm xmlns:a="http://schemas.openxmlformats.org/drawingml/2006/main">
            <a:off x="384048" y="1353312"/>
            <a:ext cx="4160520" cy="276148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6F294BA4-DE01-4089-8249-65D811CF809E}"/>
              </a:ext>
            </a:extLst>
          </p:cNvPr>
          <p:cNvSpPr>
            <a:spLocks xmlns:a="http://schemas.openxmlformats.org/drawingml/2006/main" noGrp="1"/>
          </p:cNvSpPr>
          <p:nvPr/>
        </p:nvSpPr>
        <p:spPr>
          <a:xfrm xmlns:a="http://schemas.openxmlformats.org/drawingml/2006/main">
            <a:off x="530352" y="1417320"/>
            <a:ext cx="3867912" cy="2633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Client portal for course discovery, purchase, reviews, tutoring and issues.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Seven-tab admin portal for CRM and operations.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Event-driven Java domain layer with automatic reactions.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Shared MariaDB data and live statistics via SSE.</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Optional Claude assistant, recommendations and translation.</a:t>
            </a:r>
            <a:endParaRPr sz="980"/>
          </a:p>
        </p:txBody>
      </p:sp>
      <p:sp>
        <p:nvSpPr>
          <p:cNvPr id="14" name="Shape 11">
            <a:extLst xmlns:a="http://schemas.openxmlformats.org/drawingml/2006/main">
              <a:ext uri="{FF2B5EF4-FFF2-40B4-BE49-F238E27FC236}">
                <a16:creationId xmlns:a16="http://schemas.microsoft.com/office/drawing/2014/main" id="{95E1DE21-2CF0-45F6-B735-9CFDFE4CA50A}"/>
              </a:ext>
            </a:extLst>
          </p:cNvPr>
          <p:cNvSpPr>
            <a:spLocks xmlns:a="http://schemas.openxmlformats.org/drawingml/2006/main" noGrp="1"/>
          </p:cNvSpPr>
          <p:nvPr/>
        </p:nvSpPr>
        <p:spPr>
          <a:xfrm xmlns:a="http://schemas.openxmlformats.org/drawingml/2006/main">
            <a:off x="4599432" y="1042416"/>
            <a:ext cx="4160520" cy="310896"/>
          </a:xfrm>
          <a:prstGeom xmlns:a="http://schemas.openxmlformats.org/drawingml/2006/main" prst="rect">
            <a:avLst/>
          </a:prstGeom>
          <a:solidFill xmlns:a="http://schemas.openxmlformats.org/drawingml/2006/main">
            <a:srgbClr val="E4AB26"/>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0BEDF0B3-89EF-4C17-B43B-B13FDFD708C1}"/>
              </a:ext>
            </a:extLst>
          </p:cNvPr>
          <p:cNvSpPr>
            <a:spLocks xmlns:a="http://schemas.openxmlformats.org/drawingml/2006/main" noGrp="1"/>
          </p:cNvSpPr>
          <p:nvPr/>
        </p:nvSpPr>
        <p:spPr>
          <a:xfrm xmlns:a="http://schemas.openxmlformats.org/drawingml/2006/main">
            <a:off x="4718304" y="1042416"/>
            <a:ext cx="39227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Limitations and next steps</a:t>
            </a:r>
            <a:endParaRPr sz="1300"/>
          </a:p>
        </p:txBody>
      </p:sp>
      <p:sp>
        <p:nvSpPr>
          <p:cNvPr id="16" name="Shape 13">
            <a:extLst xmlns:a="http://schemas.openxmlformats.org/drawingml/2006/main">
              <a:ext uri="{FF2B5EF4-FFF2-40B4-BE49-F238E27FC236}">
                <a16:creationId xmlns:a16="http://schemas.microsoft.com/office/drawing/2014/main" id="{4BA1A57D-10F2-4A94-B9CE-8429CA4F2517}"/>
              </a:ext>
            </a:extLst>
          </p:cNvPr>
          <p:cNvSpPr>
            <a:spLocks xmlns:a="http://schemas.openxmlformats.org/drawingml/2006/main" noGrp="1"/>
          </p:cNvSpPr>
          <p:nvPr/>
        </p:nvSpPr>
        <p:spPr>
          <a:xfrm xmlns:a="http://schemas.openxmlformats.org/drawingml/2006/main">
            <a:off x="4599432" y="1353312"/>
            <a:ext cx="4160520" cy="276148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88F1F075-2BB0-4311-9244-8EFD698BD48F}"/>
              </a:ext>
            </a:extLst>
          </p:cNvPr>
          <p:cNvSpPr>
            <a:spLocks xmlns:a="http://schemas.openxmlformats.org/drawingml/2006/main" noGrp="1"/>
          </p:cNvSpPr>
          <p:nvPr/>
        </p:nvSpPr>
        <p:spPr>
          <a:xfrm xmlns:a="http://schemas.openxmlformats.org/drawingml/2006/main">
            <a:off x="4745736" y="1417320"/>
            <a:ext cx="3867912" cy="2633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Automated unit and integration tests with CI.</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Hardened authentication and password handling.</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Historical and cohort analytics with exports.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AI memory and summaries of support issues.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Containerised deployment and cloud scaling.</a:t>
            </a:r>
            <a:endParaRPr sz="980"/>
          </a:p>
        </p:txBody>
      </p:sp>
      <p:sp>
        <p:nvSpPr>
          <p:cNvPr id="18" name="Shape 15">
            <a:extLst xmlns:a="http://schemas.openxmlformats.org/drawingml/2006/main">
              <a:ext uri="{FF2B5EF4-FFF2-40B4-BE49-F238E27FC236}">
                <a16:creationId xmlns:a16="http://schemas.microsoft.com/office/drawing/2014/main" id="{928C02C7-CF77-4CFA-9CD9-449DA2DA977C}"/>
              </a:ext>
            </a:extLst>
          </p:cNvPr>
          <p:cNvSpPr>
            <a:spLocks xmlns:a="http://schemas.openxmlformats.org/drawingml/2006/main" noGrp="1"/>
          </p:cNvSpPr>
          <p:nvPr/>
        </p:nvSpPr>
        <p:spPr>
          <a:xfrm xmlns:a="http://schemas.openxmlformats.org/drawingml/2006/main">
            <a:off x="384048" y="3913632"/>
            <a:ext cx="8375904" cy="548640"/>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17166216-001E-482A-9997-17FF87A852F6}"/>
              </a:ext>
            </a:extLst>
          </p:cNvPr>
          <p:cNvSpPr>
            <a:spLocks xmlns:a="http://schemas.openxmlformats.org/drawingml/2006/main" noGrp="1"/>
          </p:cNvSpPr>
          <p:nvPr/>
        </p:nvSpPr>
        <p:spPr>
          <a:xfrm xmlns:a="http://schemas.openxmlformats.org/drawingml/2006/main">
            <a:off x="530352" y="3950208"/>
            <a:ext cx="80832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2000"/>
              </a:lnSpc>
              <a:buNone/>
            </a:pPr>
            <a:r>
              <a:rPr sz="1080">
                <a:solidFill>
                  <a:srgbClr val="1A1A1A"/>
                </a:solidFill>
                <a:latin typeface="Arial"/>
                <a:ea typeface="Arial"/>
                <a:cs typeface="Arial"/>
              </a:rPr>
              <a:t>Result: one customer action is stored once and propagated automatically - no manual reconciliation.</a:t>
            </a:r>
            <a:endParaRPr sz="1080"/>
          </a:p>
        </p:txBody>
      </p:sp>
    </p:spTree>
    <p:extLst>
      <p:ext uri="{BB962C8B-B14F-4D97-AF65-F5344CB8AC3E}">
        <p14:creationId xmlns:p14="http://schemas.microsoft.com/office/powerpoint/2010/main" val="194884893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2026-08-31T22:19:07.0800000Z</dcterms:created>
  <dcterms:modified xsi:type="dcterms:W3CDTF">2026-08-31T22:19:07.0800000Z</dcterms:modified>
</coreProperties>
</file>